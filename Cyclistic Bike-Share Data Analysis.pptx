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59" r:id="rId4"/>
    <p:sldId id="260" r:id="rId5"/>
    <p:sldId id="261" r:id="rId6"/>
    <p:sldId id="273" r:id="rId7"/>
    <p:sldId id="271" r:id="rId8"/>
    <p:sldId id="269" r:id="rId9"/>
    <p:sldId id="272" r:id="rId10"/>
    <p:sldId id="275" r:id="rId11"/>
    <p:sldId id="274" r:id="rId12"/>
    <p:sldId id="276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E809F"/>
    <a:srgbClr val="16204A"/>
    <a:srgbClr val="0087E2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>
        <p:scale>
          <a:sx n="125" d="100"/>
          <a:sy n="125" d="100"/>
        </p:scale>
        <p:origin x="24" y="-900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9C1B96-7B3D-4DBE-BD74-DEA873A04814}" type="datetimeFigureOut">
              <a:rPr lang="en-CA" smtClean="0"/>
              <a:t>2026-09-09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FFD700-F5AB-4310-980F-54AE37AD2B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4348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C5186-3AFA-CD87-653F-6D636A761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67CDE4-5563-6C75-1A28-6080380A24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E8C157-8CD5-2FC0-4D18-22D0DA6BF1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87E05F-4E41-67C2-4F40-E637BA1748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4555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5FA63-1FC6-26DA-812B-25EC10FCB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538472-AE08-9872-D864-A8CEE042F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FB491A-0F6E-35D2-8E1A-949DD071EC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3754E4-FA33-053F-8054-280ACF6170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1244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A5E4A-0E48-9A81-CFF7-3497FC859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CB7BDE-3A96-8D13-44E4-5E5349FBF8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E46C64-EF2A-A7A2-239D-E1E97A1FEF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54809A-9704-848A-1053-F214C21233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4543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5A94D-B226-CA16-7459-E25AC3338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752B9D-B586-3A5C-D857-D3292AA4B0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AE04B2-A122-58CE-15B7-31D24DAB45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A78F41-022A-02A4-1431-51A98CA96E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6666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1ED7B-5AF7-EC55-6E5C-4C38C2D30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EC3EF8-8084-B808-4A2B-2967EEAC08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A1B183-000C-2135-655D-69C269E884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52F3C-9849-879E-283C-2C82F2907E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7891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55692-2860-DCB6-2C61-7F46F77D0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DEA7E7-ABC7-E3D1-53F7-53B4C558D0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CF73CB-3518-7036-7106-F554078FE9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8D6D60-0464-AE19-79C2-4571610F9A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6680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E2E97-9C60-E2CA-83AF-BB5BBB340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9B18BA-4675-915B-07F8-92F510D40F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4C3B28-8170-7447-8A6F-7A876C3A7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919271-6E40-52D3-0FF7-CC11205EE1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0557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328A-FCF2-590A-B4E0-4F138C5A91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E9A62F-C87B-D817-D58A-C7FD959EED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6E2F0-4F10-AB36-8487-FB28214EC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22C63-0862-4871-90FC-190B819844F6}" type="datetimeFigureOut">
              <a:rPr lang="en-CA" smtClean="0"/>
              <a:t>2026-09-09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7256F-5EEA-89ED-7C00-FD8D72262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F374D-3967-343B-B01F-F64065036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3E796-1871-4103-A976-96886EFE92C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3081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24B82-3A22-CC5A-A4A4-9C3DC7E94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49D1C-8975-33AA-C3ED-D01595499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25296-0844-4E1E-3C43-851D8B4C2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22C63-0862-4871-90FC-190B819844F6}" type="datetimeFigureOut">
              <a:rPr lang="en-CA" smtClean="0"/>
              <a:t>2026-09-09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A5E67-C869-93D9-439A-32FFCB939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D6887-C8AB-EAB4-D048-38DCB21E4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3E796-1871-4103-A976-96886EFE92C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9842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4FEEE-D858-5896-707B-FF7623CD2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DFEB2-BCAB-2A83-A32E-27AC5CEBC1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5F0D0-94D9-9253-4369-1BAF16DA6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22C63-0862-4871-90FC-190B819844F6}" type="datetimeFigureOut">
              <a:rPr lang="en-CA" smtClean="0"/>
              <a:t>2026-09-09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668D2-BE5D-A17A-495F-24667F8A7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D71D8-A54E-98AD-CD6C-9DD042575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3E796-1871-4103-A976-96886EFE92C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51419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2659A-ACE0-0744-7A37-0CE4E2286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DD27B-E78C-D2EF-8260-81EB05B4BB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DD1D35-71E2-B776-18ED-2086D6ADD8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E189AA-85E5-8B21-0083-C7A8CAD1E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22C63-0862-4871-90FC-190B819844F6}" type="datetimeFigureOut">
              <a:rPr lang="en-CA" smtClean="0"/>
              <a:t>2026-09-09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CFF2AC-0B46-8A30-6FEC-C0D04633F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BA5D69-AD07-345B-8567-BA993EA2D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3E796-1871-4103-A976-96886EFE92C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75853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E1B09-72F9-B7C4-3B88-48A7A9EFA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9C759-C905-5A3D-7F0C-C84EDEAD68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260B8F-79D7-056F-9A27-79722A7079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7772D2-3A2F-8A2D-3DB6-DC9FB6FE24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D5769F-10D6-7578-29D8-D89767517A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3691BD-DE8F-675D-1678-1ED32BCFA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22C63-0862-4871-90FC-190B819844F6}" type="datetimeFigureOut">
              <a:rPr lang="en-CA" smtClean="0"/>
              <a:t>2026-09-09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E8B0D2-CBBA-5234-D0EF-5BDE3DA74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250402-238E-96E4-694C-D0B0B3F50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3E796-1871-4103-A976-96886EFE92C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18276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B82A2-DCA8-279B-2AD3-636122296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3B9A-8907-A87F-0AB3-4B50D64BF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22C63-0862-4871-90FC-190B819844F6}" type="datetimeFigureOut">
              <a:rPr lang="en-CA" smtClean="0"/>
              <a:t>2026-09-09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A56D4A-DD14-88EB-9386-12EDB5DDC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563B77-012D-3BD9-A462-871D2C76B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3E796-1871-4103-A976-96886EFE92C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51918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C9E687-E3AA-3CDB-22EA-4FADE792D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22C63-0862-4871-90FC-190B819844F6}" type="datetimeFigureOut">
              <a:rPr lang="en-CA" smtClean="0"/>
              <a:t>2026-09-09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D055D6-5596-8606-815C-63672E7DF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F621BB-A28E-96DB-FA55-D4644415D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3E796-1871-4103-A976-96886EFE92C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30537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C6585-F8FA-8825-739A-7022B6F6A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2D824-8D74-416C-C349-E02EAD2F1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E372F6-F6B9-908A-27F2-2A7B4B1621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4BD493-AB7E-0EFC-7F71-517EEC079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22C63-0862-4871-90FC-190B819844F6}" type="datetimeFigureOut">
              <a:rPr lang="en-CA" smtClean="0"/>
              <a:t>2026-09-09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7CDB7D-B669-6344-16A8-4FFFEBD16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1B8406-A189-F5FB-29A6-3D3A85101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3E796-1871-4103-A976-96886EFE92C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93589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A92DC-BEDE-DF4F-F99E-F9F446DC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C76DAD-F577-E0E9-235B-07A2858626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BDFF0F-919F-4A24-76C9-9835AD1BDE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DE1009-55F3-CFB1-0728-8CCEDF9AD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22C63-0862-4871-90FC-190B819844F6}" type="datetimeFigureOut">
              <a:rPr lang="en-CA" smtClean="0"/>
              <a:t>2026-09-09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F4F7FA-3ED3-5DDE-5502-F6085BA10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BD316-3F09-86E1-8468-8D223DD97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3E796-1871-4103-A976-96886EFE92C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17362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547E3-D729-2E95-99D9-7782BEC1B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E6DE1E-ABD0-6E8E-8A99-99A750B691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13908-5B68-FBFD-024E-36D911B15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22C63-0862-4871-90FC-190B819844F6}" type="datetimeFigureOut">
              <a:rPr lang="en-CA" smtClean="0"/>
              <a:t>2026-09-09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40953D-8299-543E-DDC9-D7447F33B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85AAC-C4EF-742A-0F48-3F7DBB6C3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3E796-1871-4103-A976-96886EFE92C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29630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0F76B2-5E99-799B-FF7E-8E76F8C9EB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AEC14D-9803-D432-EAD1-734FE8CAEB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91FDD-49DD-030B-0D77-B728D8700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22C63-0862-4871-90FC-190B819844F6}" type="datetimeFigureOut">
              <a:rPr lang="en-CA" smtClean="0"/>
              <a:t>2026-09-09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B139D-76E0-79AF-87AB-3B1420F76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B9819-8F43-5175-1B5D-0EC65FA75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3E796-1871-4103-A976-96886EFE92C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655753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911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FAD001-6C33-1493-9CAB-D1C83DFAE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E86E3-4B93-B02C-2FD7-7E22B936C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2BBA6-4D11-140F-D61B-B1356A7088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222C63-0862-4871-90FC-190B819844F6}" type="datetimeFigureOut">
              <a:rPr lang="en-CA" smtClean="0"/>
              <a:t>2026-09-09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806A4-2B3C-EE5D-8A55-A2930DDA41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AB38F-12E3-71AD-465B-B359D90425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E3E796-1871-4103-A976-96886EFE92C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7187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jp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svg"/><Relationship Id="rId4" Type="http://schemas.openxmlformats.org/officeDocument/2006/relationships/image" Target="../media/image2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13" Type="http://schemas.openxmlformats.org/officeDocument/2006/relationships/image" Target="../media/image33.svg"/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12" Type="http://schemas.openxmlformats.org/officeDocument/2006/relationships/image" Target="../media/image3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svg"/><Relationship Id="rId11" Type="http://schemas.openxmlformats.org/officeDocument/2006/relationships/image" Target="../media/image31.svg"/><Relationship Id="rId5" Type="http://schemas.openxmlformats.org/officeDocument/2006/relationships/image" Target="../media/image25.svg"/><Relationship Id="rId15" Type="http://schemas.openxmlformats.org/officeDocument/2006/relationships/image" Target="../media/image13.sv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svg"/><Relationship Id="rId1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svg"/><Relationship Id="rId7" Type="http://schemas.openxmlformats.org/officeDocument/2006/relationships/image" Target="../media/image3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svg"/><Relationship Id="rId5" Type="http://schemas.openxmlformats.org/officeDocument/2006/relationships/image" Target="../media/image37.svg"/><Relationship Id="rId4" Type="http://schemas.openxmlformats.org/officeDocument/2006/relationships/image" Target="../media/image36.svg"/><Relationship Id="rId9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svg"/><Relationship Id="rId18" Type="http://schemas.openxmlformats.org/officeDocument/2006/relationships/image" Target="../media/image56.svg"/><Relationship Id="rId3" Type="http://schemas.openxmlformats.org/officeDocument/2006/relationships/image" Target="../media/image41.svg"/><Relationship Id="rId7" Type="http://schemas.openxmlformats.org/officeDocument/2006/relationships/image" Target="../media/image45.svg"/><Relationship Id="rId12" Type="http://schemas.openxmlformats.org/officeDocument/2006/relationships/image" Target="../media/image50.svg"/><Relationship Id="rId17" Type="http://schemas.openxmlformats.org/officeDocument/2006/relationships/image" Target="../media/image55.sv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54.svg"/><Relationship Id="rId20" Type="http://schemas.openxmlformats.org/officeDocument/2006/relationships/image" Target="../media/image58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svg"/><Relationship Id="rId11" Type="http://schemas.openxmlformats.org/officeDocument/2006/relationships/image" Target="../media/image49.png"/><Relationship Id="rId5" Type="http://schemas.openxmlformats.org/officeDocument/2006/relationships/image" Target="../media/image43.svg"/><Relationship Id="rId15" Type="http://schemas.openxmlformats.org/officeDocument/2006/relationships/image" Target="../media/image53.svg"/><Relationship Id="rId10" Type="http://schemas.openxmlformats.org/officeDocument/2006/relationships/image" Target="../media/image48.png"/><Relationship Id="rId19" Type="http://schemas.openxmlformats.org/officeDocument/2006/relationships/image" Target="../media/image57.png"/><Relationship Id="rId4" Type="http://schemas.openxmlformats.org/officeDocument/2006/relationships/image" Target="../media/image42.svg"/><Relationship Id="rId9" Type="http://schemas.openxmlformats.org/officeDocument/2006/relationships/image" Target="../media/image47.svg"/><Relationship Id="rId14" Type="http://schemas.openxmlformats.org/officeDocument/2006/relationships/image" Target="../media/image52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45.svg"/><Relationship Id="rId18" Type="http://schemas.openxmlformats.org/officeDocument/2006/relationships/image" Target="../media/image55.svg"/><Relationship Id="rId3" Type="http://schemas.openxmlformats.org/officeDocument/2006/relationships/image" Target="../media/image47.svg"/><Relationship Id="rId7" Type="http://schemas.openxmlformats.org/officeDocument/2006/relationships/image" Target="../media/image61.png"/><Relationship Id="rId12" Type="http://schemas.openxmlformats.org/officeDocument/2006/relationships/image" Target="../media/image44.svg"/><Relationship Id="rId17" Type="http://schemas.openxmlformats.org/officeDocument/2006/relationships/image" Target="../media/image54.sv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53.svg"/><Relationship Id="rId20" Type="http://schemas.openxmlformats.org/officeDocument/2006/relationships/image" Target="../media/image63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0.png"/><Relationship Id="rId11" Type="http://schemas.openxmlformats.org/officeDocument/2006/relationships/image" Target="../media/image43.svg"/><Relationship Id="rId5" Type="http://schemas.openxmlformats.org/officeDocument/2006/relationships/image" Target="../media/image59.png"/><Relationship Id="rId15" Type="http://schemas.openxmlformats.org/officeDocument/2006/relationships/image" Target="../media/image52.svg"/><Relationship Id="rId10" Type="http://schemas.openxmlformats.org/officeDocument/2006/relationships/image" Target="../media/image42.svg"/><Relationship Id="rId19" Type="http://schemas.openxmlformats.org/officeDocument/2006/relationships/image" Target="../media/image58.svg"/><Relationship Id="rId4" Type="http://schemas.openxmlformats.org/officeDocument/2006/relationships/image" Target="../media/image50.svg"/><Relationship Id="rId9" Type="http://schemas.openxmlformats.org/officeDocument/2006/relationships/image" Target="../media/image41.svg"/><Relationship Id="rId14" Type="http://schemas.openxmlformats.org/officeDocument/2006/relationships/image" Target="../media/image51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svg"/><Relationship Id="rId13" Type="http://schemas.openxmlformats.org/officeDocument/2006/relationships/image" Target="../media/image74.sv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7.png"/><Relationship Id="rId11" Type="http://schemas.openxmlformats.org/officeDocument/2006/relationships/image" Target="../media/image72.svg"/><Relationship Id="rId5" Type="http://schemas.openxmlformats.org/officeDocument/2006/relationships/image" Target="../media/image66.png"/><Relationship Id="rId15" Type="http://schemas.openxmlformats.org/officeDocument/2006/relationships/image" Target="../media/image76.png"/><Relationship Id="rId10" Type="http://schemas.openxmlformats.org/officeDocument/2006/relationships/image" Target="../media/image71.svg"/><Relationship Id="rId4" Type="http://schemas.openxmlformats.org/officeDocument/2006/relationships/image" Target="../media/image65.svg"/><Relationship Id="rId9" Type="http://schemas.openxmlformats.org/officeDocument/2006/relationships/image" Target="../media/image70.svg"/><Relationship Id="rId14" Type="http://schemas.openxmlformats.org/officeDocument/2006/relationships/image" Target="../media/image7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73.svg"/><Relationship Id="rId3" Type="http://schemas.openxmlformats.org/officeDocument/2006/relationships/image" Target="../media/image77.png"/><Relationship Id="rId7" Type="http://schemas.openxmlformats.org/officeDocument/2006/relationships/image" Target="../media/image80.png"/><Relationship Id="rId12" Type="http://schemas.openxmlformats.org/officeDocument/2006/relationships/image" Target="../media/image7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4.svg"/><Relationship Id="rId11" Type="http://schemas.openxmlformats.org/officeDocument/2006/relationships/image" Target="../media/image71.svg"/><Relationship Id="rId5" Type="http://schemas.openxmlformats.org/officeDocument/2006/relationships/image" Target="../media/image79.svg"/><Relationship Id="rId10" Type="http://schemas.openxmlformats.org/officeDocument/2006/relationships/image" Target="../media/image69.svg"/><Relationship Id="rId4" Type="http://schemas.openxmlformats.org/officeDocument/2006/relationships/image" Target="../media/image78.svg"/><Relationship Id="rId9" Type="http://schemas.openxmlformats.org/officeDocument/2006/relationships/image" Target="../media/image70.svg"/><Relationship Id="rId14" Type="http://schemas.openxmlformats.org/officeDocument/2006/relationships/image" Target="../media/image8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svg"/><Relationship Id="rId3" Type="http://schemas.openxmlformats.org/officeDocument/2006/relationships/image" Target="../media/image83.svg"/><Relationship Id="rId7" Type="http://schemas.openxmlformats.org/officeDocument/2006/relationships/image" Target="../media/image87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6.svg"/><Relationship Id="rId5" Type="http://schemas.openxmlformats.org/officeDocument/2006/relationships/image" Target="../media/image85.svg"/><Relationship Id="rId10" Type="http://schemas.openxmlformats.org/officeDocument/2006/relationships/image" Target="../media/image13.svg"/><Relationship Id="rId4" Type="http://schemas.openxmlformats.org/officeDocument/2006/relationships/image" Target="../media/image84.svg"/><Relationship Id="rId9" Type="http://schemas.openxmlformats.org/officeDocument/2006/relationships/image" Target="../media/image89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svg"/><Relationship Id="rId5" Type="http://schemas.openxmlformats.org/officeDocument/2006/relationships/image" Target="../media/image92.svg"/><Relationship Id="rId4" Type="http://schemas.openxmlformats.org/officeDocument/2006/relationships/image" Target="../media/image9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 descr="Woman biking at forest">
            <a:extLst>
              <a:ext uri="{FF2B5EF4-FFF2-40B4-BE49-F238E27FC236}">
                <a16:creationId xmlns:a16="http://schemas.microsoft.com/office/drawing/2014/main" id="{4CD273AA-43A5-8DE8-526D-6DBEB88E4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4373" y="0"/>
            <a:ext cx="10267627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D1B2A">
                  <a:alpha val="97000"/>
                </a:srgbClr>
              </a:gs>
              <a:gs pos="20000">
                <a:srgbClr val="083033"/>
              </a:gs>
              <a:gs pos="38000">
                <a:srgbClr val="0D1B2A">
                  <a:alpha val="88000"/>
                </a:srgbClr>
              </a:gs>
              <a:gs pos="68000">
                <a:srgbClr val="005041">
                  <a:alpha val="55000"/>
                </a:srgbClr>
              </a:gs>
              <a:gs pos="100000">
                <a:srgbClr val="00C6A7">
                  <a:alpha val="12000"/>
                </a:srgbClr>
              </a:gs>
            </a:gsLst>
            <a:lin ang="600000" scaled="0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gradFill rotWithShape="1">
            <a:gsLst>
              <a:gs pos="0">
                <a:srgbClr val="00C6A7">
                  <a:alpha val="18000"/>
                </a:srgbClr>
              </a:gs>
              <a:gs pos="60000">
                <a:srgbClr val="000000">
                  <a:alpha val="0"/>
                </a:srgbClr>
              </a:gs>
            </a:gsLst>
            <a:path path="circle">
              <a:fillToRect l="18000" t="82000" r="82000" b="18000"/>
            </a:path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D1B2A">
                  <a:alpha val="88000"/>
                </a:srgbClr>
              </a:gs>
              <a:gs pos="45000">
                <a:srgbClr val="000000">
                  <a:alpha val="0"/>
                </a:srgbClr>
              </a:gs>
            </a:gsLst>
            <a:lin ang="1620000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14401" y="1565275"/>
            <a:ext cx="6451092" cy="2144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363"/>
              </a:lnSpc>
              <a:spcAft>
                <a:spcPts val="453"/>
              </a:spcAft>
            </a:pPr>
            <a:r>
              <a:rPr lang="en-US" sz="5107" kern="0" spc="-4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Cyclistic </a:t>
            </a:r>
          </a:p>
          <a:p>
            <a:pPr>
              <a:lnSpc>
                <a:spcPts val="5363"/>
              </a:lnSpc>
              <a:spcAft>
                <a:spcPts val="453"/>
              </a:spcAft>
            </a:pPr>
            <a:r>
              <a:rPr lang="en-US" sz="5107" b="1" kern="0" spc="-40" dirty="0">
                <a:solidFill>
                  <a:srgbClr val="15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Bike-Share</a:t>
            </a:r>
            <a:r>
              <a:rPr lang="en-US" sz="5107" kern="0" spc="-4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</a:p>
          <a:p>
            <a:pPr>
              <a:lnSpc>
                <a:spcPts val="5363"/>
              </a:lnSpc>
              <a:spcAft>
                <a:spcPts val="453"/>
              </a:spcAft>
            </a:pPr>
            <a:r>
              <a:rPr lang="en-US" sz="5107" kern="0" spc="-4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Analysis</a:t>
            </a:r>
            <a:endParaRPr lang="en-US" sz="5107" dirty="0"/>
          </a:p>
        </p:txBody>
      </p:sp>
      <p:sp>
        <p:nvSpPr>
          <p:cNvPr id="15" name="Text 13"/>
          <p:cNvSpPr/>
          <p:nvPr/>
        </p:nvSpPr>
        <p:spPr>
          <a:xfrm>
            <a:off x="914400" y="4229100"/>
            <a:ext cx="5440680" cy="61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15"/>
              </a:lnSpc>
              <a:spcAft>
                <a:spcPts val="3600"/>
              </a:spcAft>
            </a:pPr>
            <a:r>
              <a:rPr lang="en-US" sz="1653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Turning </a:t>
            </a:r>
            <a:r>
              <a:rPr lang="en-US" sz="1653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Casual Riders</a:t>
            </a:r>
            <a:r>
              <a:rPr lang="en-US" sz="1653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into Annual Members</a:t>
            </a:r>
            <a:br>
              <a:rPr sz="2400"/>
            </a:br>
            <a:r>
              <a:rPr lang="en-US" sz="1653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— A Data-Driven Strategy</a:t>
            </a:r>
            <a:endParaRPr lang="en-US" sz="1653" dirty="0"/>
          </a:p>
        </p:txBody>
      </p:sp>
      <p:sp>
        <p:nvSpPr>
          <p:cNvPr id="16" name="Text 14"/>
          <p:cNvSpPr/>
          <p:nvPr/>
        </p:nvSpPr>
        <p:spPr>
          <a:xfrm>
            <a:off x="914400" y="5299671"/>
            <a:ext cx="381000" cy="381000"/>
          </a:xfrm>
          <a:prstGeom prst="ellipse">
            <a:avLst/>
          </a:prstGeom>
          <a:solidFill>
            <a:srgbClr val="1A2E42"/>
          </a:solidFill>
          <a:ln w="9525">
            <a:solidFill>
              <a:schemeClr val="accent1"/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409" y="5401679"/>
            <a:ext cx="176784" cy="17678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447801" y="5274073"/>
            <a:ext cx="2471380" cy="864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400"/>
              </a:lnSpc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Younggi Kim
</a:t>
            </a:r>
            <a:r>
              <a:rPr lang="en-US" sz="973" kern="0" spc="39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Data Analytics Capstone  ·  2026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248107" y="4454922"/>
            <a:ext cx="1258093" cy="521097"/>
          </a:xfrm>
          <a:prstGeom prst="roundRect">
            <a:avLst>
              <a:gd name="adj" fmla="val 14623"/>
            </a:avLst>
          </a:prstGeom>
          <a:solidFill>
            <a:srgbClr val="1A2E42">
              <a:alpha val="85000"/>
            </a:srgbClr>
          </a:solidFill>
          <a:ln w="9525">
            <a:solidFill>
              <a:srgbClr val="00C6A7">
                <a:alpha val="35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96549" y="4626979"/>
            <a:ext cx="176784" cy="17678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0651332" y="4562276"/>
            <a:ext cx="758745" cy="191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7"/>
              </a:lnSpc>
            </a:pPr>
            <a:r>
              <a:rPr lang="en-US" sz="1507" b="1" dirty="0">
                <a:solidFill>
                  <a:srgbClr val="15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5,824</a:t>
            </a:r>
            <a:endParaRPr lang="en-US" sz="1507" dirty="0">
              <a:solidFill>
                <a:srgbClr val="15A0FF"/>
              </a:solidFill>
            </a:endParaRPr>
          </a:p>
        </p:txBody>
      </p:sp>
      <p:sp>
        <p:nvSpPr>
          <p:cNvPr id="22" name="Text 18"/>
          <p:cNvSpPr/>
          <p:nvPr/>
        </p:nvSpPr>
        <p:spPr>
          <a:xfrm>
            <a:off x="10651332" y="4753571"/>
            <a:ext cx="758745" cy="115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907"/>
              </a:lnSpc>
            </a:pPr>
            <a:r>
              <a:rPr lang="en-US" sz="90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Bikes in Fleet</a:t>
            </a:r>
            <a:endParaRPr lang="en-US" sz="907" dirty="0"/>
          </a:p>
        </p:txBody>
      </p:sp>
      <p:sp>
        <p:nvSpPr>
          <p:cNvPr id="23" name="Text 19"/>
          <p:cNvSpPr/>
          <p:nvPr/>
        </p:nvSpPr>
        <p:spPr>
          <a:xfrm>
            <a:off x="9999067" y="5091113"/>
            <a:ext cx="1507133" cy="521097"/>
          </a:xfrm>
          <a:prstGeom prst="roundRect">
            <a:avLst>
              <a:gd name="adj" fmla="val 14623"/>
            </a:avLst>
          </a:prstGeom>
          <a:solidFill>
            <a:srgbClr val="1A2E42">
              <a:alpha val="85000"/>
            </a:srgbClr>
          </a:solidFill>
          <a:ln w="9525">
            <a:solidFill>
              <a:srgbClr val="00C6A7">
                <a:alpha val="35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47511" y="5263169"/>
            <a:ext cx="176784" cy="17678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0402292" y="5198467"/>
            <a:ext cx="1032688" cy="191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7"/>
              </a:lnSpc>
            </a:pPr>
            <a:r>
              <a:rPr lang="en-US" sz="1507" b="1" dirty="0">
                <a:solidFill>
                  <a:srgbClr val="15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692</a:t>
            </a:r>
            <a:endParaRPr lang="en-US" sz="1507" dirty="0">
              <a:solidFill>
                <a:srgbClr val="15A0FF"/>
              </a:solidFill>
            </a:endParaRPr>
          </a:p>
        </p:txBody>
      </p:sp>
      <p:sp>
        <p:nvSpPr>
          <p:cNvPr id="26" name="Text 21"/>
          <p:cNvSpPr/>
          <p:nvPr/>
        </p:nvSpPr>
        <p:spPr>
          <a:xfrm>
            <a:off x="10402292" y="5389762"/>
            <a:ext cx="1032688" cy="115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907"/>
              </a:lnSpc>
            </a:pPr>
            <a:r>
              <a:rPr lang="en-US" sz="90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 · Chicago</a:t>
            </a:r>
            <a:endParaRPr lang="en-US" sz="907" dirty="0"/>
          </a:p>
        </p:txBody>
      </p:sp>
      <p:sp>
        <p:nvSpPr>
          <p:cNvPr id="27" name="Text 22"/>
          <p:cNvSpPr/>
          <p:nvPr/>
        </p:nvSpPr>
        <p:spPr>
          <a:xfrm>
            <a:off x="9928621" y="5727304"/>
            <a:ext cx="1577579" cy="521097"/>
          </a:xfrm>
          <a:prstGeom prst="roundRect">
            <a:avLst>
              <a:gd name="adj" fmla="val 14623"/>
            </a:avLst>
          </a:prstGeom>
          <a:solidFill>
            <a:srgbClr val="1A2E42">
              <a:alpha val="85000"/>
            </a:srgbClr>
          </a:solidFill>
          <a:ln w="9525">
            <a:solidFill>
              <a:srgbClr val="00C6A7">
                <a:alpha val="35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77065" y="5899360"/>
            <a:ext cx="176784" cy="17678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0331847" y="5834658"/>
            <a:ext cx="1110179" cy="191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7"/>
              </a:lnSpc>
            </a:pPr>
            <a:r>
              <a:rPr lang="en-US" sz="1507" b="1" dirty="0">
                <a:solidFill>
                  <a:srgbClr val="15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2016 - 2025</a:t>
            </a:r>
            <a:endParaRPr lang="en-US" sz="1507" dirty="0">
              <a:solidFill>
                <a:srgbClr val="15A0FF"/>
              </a:solidFill>
            </a:endParaRPr>
          </a:p>
        </p:txBody>
      </p:sp>
      <p:sp>
        <p:nvSpPr>
          <p:cNvPr id="30" name="Text 24"/>
          <p:cNvSpPr/>
          <p:nvPr/>
        </p:nvSpPr>
        <p:spPr>
          <a:xfrm>
            <a:off x="10331847" y="6025952"/>
            <a:ext cx="1110179" cy="115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907"/>
              </a:lnSpc>
            </a:pPr>
            <a:r>
              <a:rPr lang="en-US" sz="90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Data Analyzed</a:t>
            </a:r>
            <a:endParaRPr lang="en-US" sz="907" dirty="0"/>
          </a:p>
        </p:txBody>
      </p:sp>
      <p:sp>
        <p:nvSpPr>
          <p:cNvPr id="36" name="Text 0">
            <a:extLst>
              <a:ext uri="{FF2B5EF4-FFF2-40B4-BE49-F238E27FC236}">
                <a16:creationId xmlns:a16="http://schemas.microsoft.com/office/drawing/2014/main" id="{55555005-39D7-1715-3B25-B622B131B88B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E4002B">
              <a:alpha val="90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6EC1E341-63DC-4D85-316B-2F49BE6B873C}"/>
              </a:ext>
            </a:extLst>
          </p:cNvPr>
          <p:cNvSpPr/>
          <p:nvPr/>
        </p:nvSpPr>
        <p:spPr>
          <a:xfrm>
            <a:off x="914400" y="1226927"/>
            <a:ext cx="8173323" cy="185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60"/>
              </a:lnSpc>
            </a:pPr>
            <a:r>
              <a:rPr lang="en-US" sz="973" b="1" kern="0" spc="267" dirty="0">
                <a:solidFill>
                  <a:srgbClr val="41B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BIKE-SHARE DATA ANALYSIS · CHICAGO, IL</a:t>
            </a:r>
            <a:endParaRPr lang="en-US" sz="973" dirty="0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F2CC39F5-00CE-007B-B827-71CC1D21E57D}"/>
              </a:ext>
            </a:extLst>
          </p:cNvPr>
          <p:cNvGrpSpPr/>
          <p:nvPr/>
        </p:nvGrpSpPr>
        <p:grpSpPr>
          <a:xfrm>
            <a:off x="1447800" y="5299671"/>
            <a:ext cx="1524000" cy="176784"/>
            <a:chOff x="4621426" y="4620005"/>
            <a:chExt cx="1143000" cy="132588"/>
          </a:xfrm>
        </p:grpSpPr>
        <p:sp>
          <p:nvSpPr>
            <p:cNvPr id="46" name="Text 21">
              <a:extLst>
                <a:ext uri="{FF2B5EF4-FFF2-40B4-BE49-F238E27FC236}">
                  <a16:creationId xmlns:a16="http://schemas.microsoft.com/office/drawing/2014/main" id="{0A451D3E-AA01-032D-3671-21815550AB15}"/>
                </a:ext>
              </a:extLst>
            </p:cNvPr>
            <p:cNvSpPr/>
            <p:nvPr/>
          </p:nvSpPr>
          <p:spPr>
            <a:xfrm>
              <a:off x="4621426" y="4622229"/>
              <a:ext cx="228600" cy="128141"/>
            </a:xfrm>
            <a:prstGeom prst="rect">
              <a:avLst/>
            </a:prstGeom>
            <a:solidFill>
              <a:srgbClr val="005B99"/>
            </a:solidFill>
            <a:ln/>
          </p:spPr>
          <p:txBody>
            <a:bodyPr wrap="none" rtlCol="0" anchor="t"/>
            <a:lstStyle/>
            <a:p>
              <a:endParaRPr lang="en-US" sz="2400" dirty="0"/>
            </a:p>
          </p:txBody>
        </p:sp>
        <p:sp>
          <p:nvSpPr>
            <p:cNvPr id="48" name="Text 22">
              <a:extLst>
                <a:ext uri="{FF2B5EF4-FFF2-40B4-BE49-F238E27FC236}">
                  <a16:creationId xmlns:a16="http://schemas.microsoft.com/office/drawing/2014/main" id="{A4D4642F-6E78-3897-CADC-8942B7DBECC8}"/>
                </a:ext>
              </a:extLst>
            </p:cNvPr>
            <p:cNvSpPr/>
            <p:nvPr/>
          </p:nvSpPr>
          <p:spPr>
            <a:xfrm>
              <a:off x="4850026" y="4622229"/>
              <a:ext cx="228600" cy="128141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 wrap="none" rtlCol="0" anchor="t"/>
            <a:lstStyle/>
            <a:p>
              <a:endParaRPr lang="en-US" sz="2400" dirty="0"/>
            </a:p>
          </p:txBody>
        </p:sp>
        <p:pic>
          <p:nvPicPr>
            <p:cNvPr id="50" name="Image 3" descr="preencoded.png">
              <a:extLst>
                <a:ext uri="{FF2B5EF4-FFF2-40B4-BE49-F238E27FC236}">
                  <a16:creationId xmlns:a16="http://schemas.microsoft.com/office/drawing/2014/main" id="{F547DF00-39A4-CC78-F3FE-1D45BB73A6A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897958" y="4620005"/>
              <a:ext cx="132588" cy="132588"/>
            </a:xfrm>
            <a:prstGeom prst="rect">
              <a:avLst/>
            </a:prstGeom>
          </p:spPr>
        </p:pic>
        <p:sp>
          <p:nvSpPr>
            <p:cNvPr id="52" name="Text 23">
              <a:extLst>
                <a:ext uri="{FF2B5EF4-FFF2-40B4-BE49-F238E27FC236}">
                  <a16:creationId xmlns:a16="http://schemas.microsoft.com/office/drawing/2014/main" id="{56F012AE-640A-B126-67D3-4136BAE43BD5}"/>
                </a:ext>
              </a:extLst>
            </p:cNvPr>
            <p:cNvSpPr/>
            <p:nvPr/>
          </p:nvSpPr>
          <p:spPr>
            <a:xfrm>
              <a:off x="5078626" y="4622229"/>
              <a:ext cx="228600" cy="128141"/>
            </a:xfrm>
            <a:prstGeom prst="rect">
              <a:avLst/>
            </a:prstGeom>
            <a:solidFill>
              <a:srgbClr val="005B99"/>
            </a:solidFill>
            <a:ln/>
          </p:spPr>
          <p:txBody>
            <a:bodyPr wrap="none" rtlCol="0" anchor="t"/>
            <a:lstStyle/>
            <a:p>
              <a:endParaRPr lang="en-US" sz="2400" dirty="0"/>
            </a:p>
          </p:txBody>
        </p:sp>
        <p:sp>
          <p:nvSpPr>
            <p:cNvPr id="54" name="Text 24">
              <a:extLst>
                <a:ext uri="{FF2B5EF4-FFF2-40B4-BE49-F238E27FC236}">
                  <a16:creationId xmlns:a16="http://schemas.microsoft.com/office/drawing/2014/main" id="{D3666127-6C87-8E61-ADD6-28BED255D145}"/>
                </a:ext>
              </a:extLst>
            </p:cNvPr>
            <p:cNvSpPr/>
            <p:nvPr/>
          </p:nvSpPr>
          <p:spPr>
            <a:xfrm>
              <a:off x="5307226" y="4622229"/>
              <a:ext cx="228600" cy="128141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 wrap="none" rtlCol="0" anchor="t"/>
            <a:lstStyle/>
            <a:p>
              <a:endParaRPr lang="en-US" sz="2400" dirty="0"/>
            </a:p>
          </p:txBody>
        </p:sp>
        <p:pic>
          <p:nvPicPr>
            <p:cNvPr id="56" name="Image 4" descr="preencoded.png">
              <a:extLst>
                <a:ext uri="{FF2B5EF4-FFF2-40B4-BE49-F238E27FC236}">
                  <a16:creationId xmlns:a16="http://schemas.microsoft.com/office/drawing/2014/main" id="{6F60B95D-F9E3-7261-FF36-F66E0652E96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355158" y="4620005"/>
              <a:ext cx="132588" cy="132588"/>
            </a:xfrm>
            <a:prstGeom prst="rect">
              <a:avLst/>
            </a:prstGeom>
          </p:spPr>
        </p:pic>
        <p:sp>
          <p:nvSpPr>
            <p:cNvPr id="58" name="Text 25">
              <a:extLst>
                <a:ext uri="{FF2B5EF4-FFF2-40B4-BE49-F238E27FC236}">
                  <a16:creationId xmlns:a16="http://schemas.microsoft.com/office/drawing/2014/main" id="{45341BB6-9872-DFE6-2868-2B5CA6C4ECA1}"/>
                </a:ext>
              </a:extLst>
            </p:cNvPr>
            <p:cNvSpPr/>
            <p:nvPr/>
          </p:nvSpPr>
          <p:spPr>
            <a:xfrm>
              <a:off x="5535826" y="4622229"/>
              <a:ext cx="228600" cy="128141"/>
            </a:xfrm>
            <a:prstGeom prst="rect">
              <a:avLst/>
            </a:prstGeom>
            <a:solidFill>
              <a:srgbClr val="005B99"/>
            </a:solidFill>
            <a:ln/>
          </p:spPr>
          <p:txBody>
            <a:bodyPr wrap="none" rtlCol="0" anchor="t"/>
            <a:lstStyle/>
            <a:p>
              <a:endParaRPr lang="en-US" sz="2400" dirty="0"/>
            </a:p>
          </p:txBody>
        </p:sp>
      </p:grpSp>
      <p:pic>
        <p:nvPicPr>
          <p:cNvPr id="64" name="Picture 63">
            <a:extLst>
              <a:ext uri="{FF2B5EF4-FFF2-40B4-BE49-F238E27FC236}">
                <a16:creationId xmlns:a16="http://schemas.microsoft.com/office/drawing/2014/main" id="{14552B86-751F-6618-EBAC-6ED9E9CAC434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72000"/>
          </a:blip>
          <a:stretch>
            <a:fillRect/>
          </a:stretch>
        </p:blipFill>
        <p:spPr>
          <a:xfrm>
            <a:off x="914400" y="718769"/>
            <a:ext cx="3423920" cy="5078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0">
            <a:extLst>
              <a:ext uri="{FF2B5EF4-FFF2-40B4-BE49-F238E27FC236}">
                <a16:creationId xmlns:a16="http://schemas.microsoft.com/office/drawing/2014/main" id="{23704F38-1F58-0DA2-A5C5-0239774619F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C122C">
                  <a:alpha val="96863"/>
                </a:srgbClr>
              </a:gs>
              <a:gs pos="50000">
                <a:srgbClr val="002060">
                  <a:alpha val="92000"/>
                </a:srgbClr>
              </a:gs>
              <a:gs pos="100000">
                <a:srgbClr val="15A0FF">
                  <a:alpha val="8000"/>
                </a:srgbClr>
              </a:gs>
            </a:gsLst>
            <a:lin ang="420000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" name="Text 0"/>
          <p:cNvSpPr/>
          <p:nvPr/>
        </p:nvSpPr>
        <p:spPr>
          <a:xfrm>
            <a:off x="8001000" y="0"/>
            <a:ext cx="4191000" cy="3810000"/>
          </a:xfrm>
          <a:prstGeom prst="ellipse">
            <a:avLst/>
          </a:prstGeom>
          <a:noFill/>
          <a:ln w="9525">
            <a:solidFill>
              <a:srgbClr val="00C6A7">
                <a:alpha val="6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999412" y="0"/>
            <a:ext cx="3620293" cy="3048000"/>
          </a:xfrm>
          <a:prstGeom prst="ellipse">
            <a:avLst/>
          </a:prstGeom>
          <a:noFill/>
          <a:ln w="9525">
            <a:solidFill>
              <a:srgbClr val="00C6A7">
                <a:alpha val="6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5525293"/>
            <a:ext cx="1332707" cy="1332707"/>
          </a:xfrm>
          <a:prstGeom prst="ellipse">
            <a:avLst/>
          </a:prstGeom>
          <a:noFill/>
          <a:ln w="9525">
            <a:solidFill>
              <a:srgbClr val="00C6A7">
                <a:alpha val="6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9601" y="496094"/>
            <a:ext cx="47228" cy="419893"/>
          </a:xfrm>
          <a:prstGeom prst="roundRect">
            <a:avLst>
              <a:gd name="adj" fmla="val 60953"/>
            </a:avLst>
          </a:prstGeom>
          <a:gradFill rotWithShape="1">
            <a:gsLst>
              <a:gs pos="0">
                <a:srgbClr val="15A0FF"/>
              </a:gs>
              <a:gs pos="100000">
                <a:srgbClr val="00C6A7">
                  <a:alpha val="3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09229" y="496491"/>
            <a:ext cx="3763516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3300"/>
              </a:lnSpc>
            </a:pPr>
            <a:r>
              <a:rPr lang="en-US" sz="3000" kern="0" spc="6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09229" y="992188"/>
            <a:ext cx="1185048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00"/>
              </a:lnSpc>
              <a:spcAft>
                <a:spcPts val="2707"/>
              </a:spcAft>
            </a:pPr>
            <a:r>
              <a:rPr lang="en-US" sz="1200" kern="0" spc="96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CYCLISTIC BIKE-SHARE · KEY FINDINGS AT A GLANCE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1" y="1564481"/>
            <a:ext cx="5400873" cy="2173288"/>
          </a:xfrm>
          <a:prstGeom prst="roundRect">
            <a:avLst>
              <a:gd name="adj" fmla="val 5298"/>
            </a:avLst>
          </a:prstGeom>
          <a:solidFill>
            <a:srgbClr val="1A2E42">
              <a:alpha val="65000"/>
            </a:srgbClr>
          </a:solidFill>
          <a:ln w="9525">
            <a:solidFill>
              <a:srgbClr val="00C6A7">
                <a:alpha val="18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89794" y="1824236"/>
            <a:ext cx="496093" cy="496093"/>
          </a:xfrm>
          <a:prstGeom prst="roundRect">
            <a:avLst>
              <a:gd name="adj" fmla="val 23211"/>
            </a:avLst>
          </a:prstGeom>
          <a:solidFill>
            <a:srgbClr val="00C6A7">
              <a:alpha val="12000"/>
            </a:srgbClr>
          </a:solidFill>
          <a:ln w="9525">
            <a:solidFill>
              <a:srgbClr val="15A0FF"/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5171" y="1979613"/>
            <a:ext cx="185340" cy="1853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77181" y="1805782"/>
            <a:ext cx="4568408" cy="1573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240"/>
              </a:lnSpc>
            </a:pPr>
            <a:r>
              <a:rPr lang="en-US" sz="827" b="1" dirty="0">
                <a:solidFill>
                  <a:srgbClr val="15A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FLEET &amp; NETWORK</a:t>
            </a:r>
            <a:endParaRPr lang="en-US" sz="827" dirty="0">
              <a:solidFill>
                <a:srgbClr val="15A0FF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1577181" y="2020689"/>
            <a:ext cx="4236160" cy="780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3"/>
              </a:lnSpc>
            </a:pPr>
            <a:r>
              <a:rPr lang="en-US" sz="1347" b="1" dirty="0">
                <a:solidFill>
                  <a:srgbClr val="15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5,824 bikes</a:t>
            </a:r>
            <a:r>
              <a:rPr lang="en-US" sz="1347" dirty="0">
                <a:solidFill>
                  <a:srgbClr val="15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47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</a:t>
            </a:r>
            <a:r>
              <a:rPr lang="en-US" sz="1347" b="1" dirty="0">
                <a:solidFill>
                  <a:srgbClr val="15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692 stations</a:t>
            </a:r>
            <a:r>
              <a:rPr lang="en-US" sz="1347" dirty="0">
                <a:solidFill>
                  <a:srgbClr val="15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47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Chicago — annual members drive significantly more revenue than casual riders.</a:t>
            </a:r>
            <a:endParaRPr lang="en-US" sz="1347" dirty="0"/>
          </a:p>
        </p:txBody>
      </p:sp>
      <p:sp>
        <p:nvSpPr>
          <p:cNvPr id="13" name="Text 10"/>
          <p:cNvSpPr/>
          <p:nvPr/>
        </p:nvSpPr>
        <p:spPr>
          <a:xfrm>
            <a:off x="5297885" y="3115469"/>
            <a:ext cx="53402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3600"/>
              </a:lnSpc>
            </a:pPr>
            <a:r>
              <a:rPr lang="en-US" sz="3600" dirty="0">
                <a:solidFill>
                  <a:srgbClr val="00C6A7">
                    <a:alpha val="6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6181328" y="1564481"/>
            <a:ext cx="5401072" cy="2173288"/>
          </a:xfrm>
          <a:prstGeom prst="roundRect">
            <a:avLst>
              <a:gd name="adj" fmla="val 5298"/>
            </a:avLst>
          </a:prstGeom>
          <a:solidFill>
            <a:srgbClr val="1A2E42">
              <a:alpha val="65000"/>
            </a:srgbClr>
          </a:solidFill>
          <a:ln w="9525">
            <a:solidFill>
              <a:srgbClr val="00C6A7">
                <a:alpha val="18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6461522" y="1824236"/>
            <a:ext cx="496093" cy="496093"/>
          </a:xfrm>
          <a:prstGeom prst="roundRect">
            <a:avLst>
              <a:gd name="adj" fmla="val 23211"/>
            </a:avLst>
          </a:prstGeom>
          <a:solidFill>
            <a:srgbClr val="00C6A7">
              <a:alpha val="12000"/>
            </a:srgbClr>
          </a:solidFill>
          <a:ln w="9525">
            <a:solidFill>
              <a:srgbClr val="15A0FF"/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6899" y="1979613"/>
            <a:ext cx="185340" cy="1853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148909" y="1805782"/>
            <a:ext cx="4568627" cy="1573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240"/>
              </a:lnSpc>
            </a:pPr>
            <a:r>
              <a:rPr lang="en-US" sz="827" b="1" dirty="0">
                <a:solidFill>
                  <a:srgbClr val="15A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SCOPE</a:t>
            </a:r>
            <a:endParaRPr lang="en-US" sz="827" dirty="0">
              <a:solidFill>
                <a:srgbClr val="15A0FF"/>
              </a:solidFill>
            </a:endParaRPr>
          </a:p>
        </p:txBody>
      </p:sp>
      <p:sp>
        <p:nvSpPr>
          <p:cNvPr id="18" name="Text 14"/>
          <p:cNvSpPr/>
          <p:nvPr/>
        </p:nvSpPr>
        <p:spPr>
          <a:xfrm>
            <a:off x="7148909" y="2020689"/>
            <a:ext cx="4236363" cy="780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3"/>
              </a:lnSpc>
            </a:pPr>
            <a:r>
              <a:rPr lang="en-US" sz="1347" b="1" dirty="0">
                <a:solidFill>
                  <a:srgbClr val="15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Years</a:t>
            </a:r>
            <a:r>
              <a:rPr lang="en-US" sz="1347" dirty="0">
                <a:solidFill>
                  <a:srgbClr val="15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47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ride data(</a:t>
            </a:r>
            <a:r>
              <a:rPr lang="en-US" sz="1347" b="1" dirty="0">
                <a:solidFill>
                  <a:srgbClr val="15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2016-2025</a:t>
            </a:r>
            <a:r>
              <a:rPr lang="en-US" sz="1347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were analyzed to understand how annual </a:t>
            </a:r>
            <a:r>
              <a:rPr lang="en-US" sz="1347" b="1" dirty="0">
                <a:solidFill>
                  <a:srgbClr val="15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r>
              <a:rPr lang="en-US" sz="1347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347" b="1" dirty="0">
                <a:solidFill>
                  <a:srgbClr val="15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</a:t>
            </a:r>
            <a:r>
              <a:rPr lang="en-US" sz="1347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rider  behaviors differ and evolve.</a:t>
            </a:r>
          </a:p>
        </p:txBody>
      </p:sp>
      <p:sp>
        <p:nvSpPr>
          <p:cNvPr id="19" name="Text 15"/>
          <p:cNvSpPr/>
          <p:nvPr/>
        </p:nvSpPr>
        <p:spPr>
          <a:xfrm>
            <a:off x="10869812" y="3115469"/>
            <a:ext cx="53402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3600"/>
              </a:lnSpc>
            </a:pPr>
            <a:r>
              <a:rPr lang="en-US" sz="3600" dirty="0">
                <a:solidFill>
                  <a:srgbClr val="00C6A7">
                    <a:alpha val="6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3600" dirty="0"/>
          </a:p>
        </p:txBody>
      </p:sp>
      <p:sp>
        <p:nvSpPr>
          <p:cNvPr id="20" name="Text 16"/>
          <p:cNvSpPr/>
          <p:nvPr/>
        </p:nvSpPr>
        <p:spPr>
          <a:xfrm>
            <a:off x="609601" y="3908624"/>
            <a:ext cx="5400873" cy="2173288"/>
          </a:xfrm>
          <a:prstGeom prst="roundRect">
            <a:avLst>
              <a:gd name="adj" fmla="val 5298"/>
            </a:avLst>
          </a:prstGeom>
          <a:solidFill>
            <a:srgbClr val="1A2E42">
              <a:alpha val="65000"/>
            </a:srgbClr>
          </a:solidFill>
          <a:ln w="9525">
            <a:solidFill>
              <a:srgbClr val="00C6A7">
                <a:alpha val="18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1" name="Text 17"/>
          <p:cNvSpPr/>
          <p:nvPr/>
        </p:nvSpPr>
        <p:spPr>
          <a:xfrm>
            <a:off x="889794" y="4168379"/>
            <a:ext cx="496093" cy="496093"/>
          </a:xfrm>
          <a:prstGeom prst="roundRect">
            <a:avLst>
              <a:gd name="adj" fmla="val 23211"/>
            </a:avLst>
          </a:prstGeom>
          <a:solidFill>
            <a:srgbClr val="00C6A7">
              <a:alpha val="12000"/>
            </a:srgbClr>
          </a:solidFill>
          <a:ln w="9525">
            <a:solidFill>
              <a:srgbClr val="15A0FF"/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5171" y="4323755"/>
            <a:ext cx="185340" cy="1853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577181" y="4149925"/>
            <a:ext cx="4568408" cy="1573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240"/>
              </a:lnSpc>
            </a:pPr>
            <a:r>
              <a:rPr lang="en-US" sz="827" b="1" dirty="0">
                <a:solidFill>
                  <a:srgbClr val="15A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INSIGHT</a:t>
            </a:r>
            <a:endParaRPr lang="en-US" sz="827" dirty="0">
              <a:solidFill>
                <a:srgbClr val="15A0FF"/>
              </a:solidFill>
            </a:endParaRPr>
          </a:p>
        </p:txBody>
      </p:sp>
      <p:sp>
        <p:nvSpPr>
          <p:cNvPr id="24" name="Text 19"/>
          <p:cNvSpPr/>
          <p:nvPr/>
        </p:nvSpPr>
        <p:spPr>
          <a:xfrm>
            <a:off x="1577181" y="4364831"/>
            <a:ext cx="4236160" cy="780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3"/>
              </a:lnSpc>
            </a:pPr>
            <a:r>
              <a:rPr lang="en-US" sz="1347" b="1" dirty="0">
                <a:solidFill>
                  <a:srgbClr val="15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riders increasingly behave like members</a:t>
            </a:r>
            <a:r>
              <a:rPr lang="en-US" sz="1347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showing more weekday, commute-time, and short-duration trips.</a:t>
            </a:r>
            <a:endParaRPr lang="en-US" sz="1347" dirty="0"/>
          </a:p>
        </p:txBody>
      </p:sp>
      <p:sp>
        <p:nvSpPr>
          <p:cNvPr id="25" name="Text 20"/>
          <p:cNvSpPr/>
          <p:nvPr/>
        </p:nvSpPr>
        <p:spPr>
          <a:xfrm>
            <a:off x="5297885" y="5459611"/>
            <a:ext cx="53402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3600"/>
              </a:lnSpc>
            </a:pPr>
            <a:r>
              <a:rPr lang="en-US" sz="3600" dirty="0">
                <a:solidFill>
                  <a:srgbClr val="00C6A7">
                    <a:alpha val="6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3600" dirty="0"/>
          </a:p>
        </p:txBody>
      </p:sp>
      <p:sp>
        <p:nvSpPr>
          <p:cNvPr id="26" name="Text 21"/>
          <p:cNvSpPr/>
          <p:nvPr/>
        </p:nvSpPr>
        <p:spPr>
          <a:xfrm>
            <a:off x="6181328" y="3908624"/>
            <a:ext cx="5401072" cy="2173288"/>
          </a:xfrm>
          <a:prstGeom prst="roundRect">
            <a:avLst>
              <a:gd name="adj" fmla="val 5298"/>
            </a:avLst>
          </a:prstGeom>
          <a:solidFill>
            <a:srgbClr val="1A2E42">
              <a:alpha val="65000"/>
            </a:srgbClr>
          </a:solidFill>
          <a:ln w="9525">
            <a:solidFill>
              <a:srgbClr val="00C6A7">
                <a:alpha val="18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7" name="Text 22"/>
          <p:cNvSpPr/>
          <p:nvPr/>
        </p:nvSpPr>
        <p:spPr>
          <a:xfrm>
            <a:off x="6461522" y="4168379"/>
            <a:ext cx="496093" cy="496093"/>
          </a:xfrm>
          <a:prstGeom prst="roundRect">
            <a:avLst>
              <a:gd name="adj" fmla="val 23211"/>
            </a:avLst>
          </a:prstGeom>
          <a:solidFill>
            <a:srgbClr val="00C6A7">
              <a:alpha val="12000"/>
            </a:srgbClr>
          </a:solidFill>
          <a:ln w="9525">
            <a:solidFill>
              <a:srgbClr val="15A0FF"/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6899" y="4323755"/>
            <a:ext cx="185340" cy="18534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148909" y="4149925"/>
            <a:ext cx="4568627" cy="1573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240"/>
              </a:lnSpc>
            </a:pPr>
            <a:r>
              <a:rPr lang="en-US" sz="827" b="1" dirty="0">
                <a:solidFill>
                  <a:srgbClr val="15A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RECOMMENDATIONS</a:t>
            </a:r>
            <a:endParaRPr lang="en-US" sz="827" dirty="0">
              <a:solidFill>
                <a:srgbClr val="15A0FF"/>
              </a:solidFill>
            </a:endParaRPr>
          </a:p>
        </p:txBody>
      </p:sp>
      <p:sp>
        <p:nvSpPr>
          <p:cNvPr id="30" name="Text 24"/>
          <p:cNvSpPr/>
          <p:nvPr/>
        </p:nvSpPr>
        <p:spPr>
          <a:xfrm>
            <a:off x="7148909" y="4364832"/>
            <a:ext cx="4236363" cy="52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3"/>
              </a:lnSpc>
            </a:pPr>
            <a:r>
              <a:rPr lang="en-US" sz="1347" b="1" dirty="0">
                <a:solidFill>
                  <a:srgbClr val="15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data-backed strategies</a:t>
            </a:r>
            <a:r>
              <a:rPr lang="en-US" sz="1347" dirty="0">
                <a:solidFill>
                  <a:srgbClr val="15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47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to convert casual riders into paying </a:t>
            </a:r>
            <a:r>
              <a:rPr lang="en-US" sz="1347" b="1" dirty="0">
                <a:solidFill>
                  <a:srgbClr val="15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members</a:t>
            </a:r>
            <a:r>
              <a:rPr lang="en-US" sz="1347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47" dirty="0"/>
          </a:p>
        </p:txBody>
      </p:sp>
      <p:sp>
        <p:nvSpPr>
          <p:cNvPr id="31" name="Text 25"/>
          <p:cNvSpPr/>
          <p:nvPr/>
        </p:nvSpPr>
        <p:spPr>
          <a:xfrm>
            <a:off x="10869812" y="5459611"/>
            <a:ext cx="53402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3600"/>
              </a:lnSpc>
            </a:pPr>
            <a:r>
              <a:rPr lang="en-US" sz="3600" dirty="0">
                <a:solidFill>
                  <a:srgbClr val="00C6A7">
                    <a:alpha val="6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3600" dirty="0"/>
          </a:p>
        </p:txBody>
      </p:sp>
      <p:sp>
        <p:nvSpPr>
          <p:cNvPr id="44" name="Text 38"/>
          <p:cNvSpPr/>
          <p:nvPr/>
        </p:nvSpPr>
        <p:spPr>
          <a:xfrm>
            <a:off x="622301" y="1577182"/>
            <a:ext cx="5375479" cy="28773"/>
          </a:xfrm>
          <a:custGeom>
            <a:avLst/>
            <a:gdLst/>
            <a:ahLst/>
            <a:cxnLst/>
            <a:rect l="l" t="t" r="r" b="b"/>
            <a:pathLst>
              <a:path w="4031609" h="21580">
                <a:moveTo>
                  <a:pt x="86360" y="0"/>
                </a:moveTo>
                <a:lnTo>
                  <a:pt x="3945249" y="0"/>
                </a:lnTo>
                <a:lnTo>
                  <a:pt x="3966664" y="2698"/>
                </a:lnTo>
                <a:lnTo>
                  <a:pt x="3975294" y="5395"/>
                </a:lnTo>
                <a:lnTo>
                  <a:pt x="3981749" y="8093"/>
                </a:lnTo>
                <a:lnTo>
                  <a:pt x="3987048" y="10790"/>
                </a:lnTo>
                <a:lnTo>
                  <a:pt x="3991591" y="13488"/>
                </a:lnTo>
                <a:lnTo>
                  <a:pt x="3995583" y="16185"/>
                </a:lnTo>
                <a:lnTo>
                  <a:pt x="3999145" y="18883"/>
                </a:lnTo>
                <a:lnTo>
                  <a:pt x="4002359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15A0FF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45" name="Text 39"/>
          <p:cNvSpPr/>
          <p:nvPr/>
        </p:nvSpPr>
        <p:spPr>
          <a:xfrm>
            <a:off x="6194028" y="1577182"/>
            <a:ext cx="5375669" cy="28773"/>
          </a:xfrm>
          <a:custGeom>
            <a:avLst/>
            <a:gdLst/>
            <a:ahLst/>
            <a:cxnLst/>
            <a:rect l="l" t="t" r="r" b="b"/>
            <a:pathLst>
              <a:path w="4031752" h="21580">
                <a:moveTo>
                  <a:pt x="86360" y="0"/>
                </a:moveTo>
                <a:lnTo>
                  <a:pt x="3945391" y="0"/>
                </a:lnTo>
                <a:lnTo>
                  <a:pt x="3966807" y="2698"/>
                </a:lnTo>
                <a:lnTo>
                  <a:pt x="3975437" y="5395"/>
                </a:lnTo>
                <a:lnTo>
                  <a:pt x="3981891" y="8093"/>
                </a:lnTo>
                <a:lnTo>
                  <a:pt x="3987191" y="10790"/>
                </a:lnTo>
                <a:lnTo>
                  <a:pt x="3991734" y="13488"/>
                </a:lnTo>
                <a:lnTo>
                  <a:pt x="3995726" y="16185"/>
                </a:lnTo>
                <a:lnTo>
                  <a:pt x="3999288" y="18883"/>
                </a:lnTo>
                <a:lnTo>
                  <a:pt x="4002502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15A0FF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46" name="Text 40"/>
          <p:cNvSpPr/>
          <p:nvPr/>
        </p:nvSpPr>
        <p:spPr>
          <a:xfrm>
            <a:off x="622301" y="3921324"/>
            <a:ext cx="5375479" cy="28773"/>
          </a:xfrm>
          <a:custGeom>
            <a:avLst/>
            <a:gdLst/>
            <a:ahLst/>
            <a:cxnLst/>
            <a:rect l="l" t="t" r="r" b="b"/>
            <a:pathLst>
              <a:path w="4031609" h="21580">
                <a:moveTo>
                  <a:pt x="86360" y="0"/>
                </a:moveTo>
                <a:lnTo>
                  <a:pt x="3945249" y="0"/>
                </a:lnTo>
                <a:lnTo>
                  <a:pt x="3966664" y="2698"/>
                </a:lnTo>
                <a:lnTo>
                  <a:pt x="3975294" y="5395"/>
                </a:lnTo>
                <a:lnTo>
                  <a:pt x="3981749" y="8093"/>
                </a:lnTo>
                <a:lnTo>
                  <a:pt x="3987048" y="10790"/>
                </a:lnTo>
                <a:lnTo>
                  <a:pt x="3991591" y="13488"/>
                </a:lnTo>
                <a:lnTo>
                  <a:pt x="3995583" y="16185"/>
                </a:lnTo>
                <a:lnTo>
                  <a:pt x="3999145" y="18883"/>
                </a:lnTo>
                <a:lnTo>
                  <a:pt x="4002359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15A0FF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47" name="Text 41"/>
          <p:cNvSpPr/>
          <p:nvPr/>
        </p:nvSpPr>
        <p:spPr>
          <a:xfrm>
            <a:off x="6194028" y="3921324"/>
            <a:ext cx="5375669" cy="28773"/>
          </a:xfrm>
          <a:custGeom>
            <a:avLst/>
            <a:gdLst/>
            <a:ahLst/>
            <a:cxnLst/>
            <a:rect l="l" t="t" r="r" b="b"/>
            <a:pathLst>
              <a:path w="4031752" h="21580">
                <a:moveTo>
                  <a:pt x="86360" y="0"/>
                </a:moveTo>
                <a:lnTo>
                  <a:pt x="3945391" y="0"/>
                </a:lnTo>
                <a:lnTo>
                  <a:pt x="3966807" y="2698"/>
                </a:lnTo>
                <a:lnTo>
                  <a:pt x="3975437" y="5395"/>
                </a:lnTo>
                <a:lnTo>
                  <a:pt x="3981891" y="8093"/>
                </a:lnTo>
                <a:lnTo>
                  <a:pt x="3987191" y="10790"/>
                </a:lnTo>
                <a:lnTo>
                  <a:pt x="3991734" y="13488"/>
                </a:lnTo>
                <a:lnTo>
                  <a:pt x="3995726" y="16185"/>
                </a:lnTo>
                <a:lnTo>
                  <a:pt x="3999288" y="18883"/>
                </a:lnTo>
                <a:lnTo>
                  <a:pt x="4002502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15A0FF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49" name="Text 29">
            <a:extLst>
              <a:ext uri="{FF2B5EF4-FFF2-40B4-BE49-F238E27FC236}">
                <a16:creationId xmlns:a16="http://schemas.microsoft.com/office/drawing/2014/main" id="{C5590644-9B3B-184B-7FEC-8A8ACD0E1BCF}"/>
              </a:ext>
            </a:extLst>
          </p:cNvPr>
          <p:cNvSpPr/>
          <p:nvPr/>
        </p:nvSpPr>
        <p:spPr>
          <a:xfrm>
            <a:off x="0" y="6343819"/>
            <a:ext cx="12192000" cy="514747"/>
          </a:xfrm>
          <a:prstGeom prst="rect">
            <a:avLst/>
          </a:prstGeom>
          <a:gradFill rotWithShape="1">
            <a:gsLst>
              <a:gs pos="0">
                <a:srgbClr val="16204A">
                  <a:alpha val="60000"/>
                </a:srgbClr>
              </a:gs>
              <a:gs pos="100000">
                <a:srgbClr val="0D1B2A">
                  <a:alpha val="6000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52" name="Text 30">
            <a:extLst>
              <a:ext uri="{FF2B5EF4-FFF2-40B4-BE49-F238E27FC236}">
                <a16:creationId xmlns:a16="http://schemas.microsoft.com/office/drawing/2014/main" id="{A4274DC9-E090-1C2B-F61A-F20F7CADAEAF}"/>
              </a:ext>
            </a:extLst>
          </p:cNvPr>
          <p:cNvSpPr/>
          <p:nvPr/>
        </p:nvSpPr>
        <p:spPr>
          <a:xfrm>
            <a:off x="0" y="6343820"/>
            <a:ext cx="12192000" cy="12700"/>
          </a:xfrm>
          <a:prstGeom prst="rect">
            <a:avLst/>
          </a:prstGeom>
          <a:solidFill>
            <a:srgbClr val="00C6A7">
              <a:alpha val="2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55" name="Text 32">
            <a:extLst>
              <a:ext uri="{FF2B5EF4-FFF2-40B4-BE49-F238E27FC236}">
                <a16:creationId xmlns:a16="http://schemas.microsoft.com/office/drawing/2014/main" id="{FD8C9580-A4C1-9A35-3E3E-EEC2F537C703}"/>
              </a:ext>
            </a:extLst>
          </p:cNvPr>
          <p:cNvSpPr/>
          <p:nvPr/>
        </p:nvSpPr>
        <p:spPr>
          <a:xfrm>
            <a:off x="5693172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7B16F2A8-4FDC-59F0-A70B-31D10B5051BD}"/>
              </a:ext>
            </a:extLst>
          </p:cNvPr>
          <p:cNvSpPr/>
          <p:nvPr/>
        </p:nvSpPr>
        <p:spPr>
          <a:xfrm>
            <a:off x="5808265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9" name="Text 34">
            <a:extLst>
              <a:ext uri="{FF2B5EF4-FFF2-40B4-BE49-F238E27FC236}">
                <a16:creationId xmlns:a16="http://schemas.microsoft.com/office/drawing/2014/main" id="{E898A31A-A31B-11CE-D04D-C992AE46DA19}"/>
              </a:ext>
            </a:extLst>
          </p:cNvPr>
          <p:cNvSpPr/>
          <p:nvPr/>
        </p:nvSpPr>
        <p:spPr>
          <a:xfrm>
            <a:off x="5923360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1" name="Text 35">
            <a:extLst>
              <a:ext uri="{FF2B5EF4-FFF2-40B4-BE49-F238E27FC236}">
                <a16:creationId xmlns:a16="http://schemas.microsoft.com/office/drawing/2014/main" id="{B8686A55-55E9-793E-1B8D-BF734DF20CF0}"/>
              </a:ext>
            </a:extLst>
          </p:cNvPr>
          <p:cNvSpPr/>
          <p:nvPr/>
        </p:nvSpPr>
        <p:spPr>
          <a:xfrm>
            <a:off x="6038453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3" name="Text 36">
            <a:extLst>
              <a:ext uri="{FF2B5EF4-FFF2-40B4-BE49-F238E27FC236}">
                <a16:creationId xmlns:a16="http://schemas.microsoft.com/office/drawing/2014/main" id="{4CECD7C3-9792-75BC-66DD-2B948ACC97F6}"/>
              </a:ext>
            </a:extLst>
          </p:cNvPr>
          <p:cNvSpPr/>
          <p:nvPr/>
        </p:nvSpPr>
        <p:spPr>
          <a:xfrm>
            <a:off x="6153547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5" name="Text 37">
            <a:extLst>
              <a:ext uri="{FF2B5EF4-FFF2-40B4-BE49-F238E27FC236}">
                <a16:creationId xmlns:a16="http://schemas.microsoft.com/office/drawing/2014/main" id="{80BFAEEC-FECF-1059-CA40-2D93672A5D21}"/>
              </a:ext>
            </a:extLst>
          </p:cNvPr>
          <p:cNvSpPr/>
          <p:nvPr/>
        </p:nvSpPr>
        <p:spPr>
          <a:xfrm>
            <a:off x="6268640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7" name="Text 38">
            <a:extLst>
              <a:ext uri="{FF2B5EF4-FFF2-40B4-BE49-F238E27FC236}">
                <a16:creationId xmlns:a16="http://schemas.microsoft.com/office/drawing/2014/main" id="{9807B41A-7EF2-4E1F-55C9-F89030E9D0AF}"/>
              </a:ext>
            </a:extLst>
          </p:cNvPr>
          <p:cNvSpPr/>
          <p:nvPr/>
        </p:nvSpPr>
        <p:spPr>
          <a:xfrm>
            <a:off x="6383735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9" name="Text 39">
            <a:extLst>
              <a:ext uri="{FF2B5EF4-FFF2-40B4-BE49-F238E27FC236}">
                <a16:creationId xmlns:a16="http://schemas.microsoft.com/office/drawing/2014/main" id="{0D657EE0-6846-D2F0-0593-E808B8128A27}"/>
              </a:ext>
            </a:extLst>
          </p:cNvPr>
          <p:cNvSpPr/>
          <p:nvPr/>
        </p:nvSpPr>
        <p:spPr>
          <a:xfrm>
            <a:off x="6498828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1" name="Text 40">
            <a:extLst>
              <a:ext uri="{FF2B5EF4-FFF2-40B4-BE49-F238E27FC236}">
                <a16:creationId xmlns:a16="http://schemas.microsoft.com/office/drawing/2014/main" id="{F1F73677-C08A-201A-8429-AB3EE44E838A}"/>
              </a:ext>
            </a:extLst>
          </p:cNvPr>
          <p:cNvSpPr/>
          <p:nvPr/>
        </p:nvSpPr>
        <p:spPr>
          <a:xfrm>
            <a:off x="6613921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3" name="Text 41">
            <a:extLst>
              <a:ext uri="{FF2B5EF4-FFF2-40B4-BE49-F238E27FC236}">
                <a16:creationId xmlns:a16="http://schemas.microsoft.com/office/drawing/2014/main" id="{6BCA1D79-85A8-3701-AA33-2D4B6A856E53}"/>
              </a:ext>
            </a:extLst>
          </p:cNvPr>
          <p:cNvSpPr/>
          <p:nvPr/>
        </p:nvSpPr>
        <p:spPr>
          <a:xfrm>
            <a:off x="6729016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5" name="Text 42">
            <a:extLst>
              <a:ext uri="{FF2B5EF4-FFF2-40B4-BE49-F238E27FC236}">
                <a16:creationId xmlns:a16="http://schemas.microsoft.com/office/drawing/2014/main" id="{6955769A-55DF-2AC7-DA15-FDFFE0A2C622}"/>
              </a:ext>
            </a:extLst>
          </p:cNvPr>
          <p:cNvSpPr/>
          <p:nvPr/>
        </p:nvSpPr>
        <p:spPr>
          <a:xfrm>
            <a:off x="6844109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7" name="Text 43">
            <a:extLst>
              <a:ext uri="{FF2B5EF4-FFF2-40B4-BE49-F238E27FC236}">
                <a16:creationId xmlns:a16="http://schemas.microsoft.com/office/drawing/2014/main" id="{C61FC1A5-E299-B514-1877-E6A3A0104DCD}"/>
              </a:ext>
            </a:extLst>
          </p:cNvPr>
          <p:cNvSpPr/>
          <p:nvPr/>
        </p:nvSpPr>
        <p:spPr>
          <a:xfrm>
            <a:off x="9235167" y="6504980"/>
            <a:ext cx="2451952" cy="13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ts val="1460"/>
              </a:lnSpc>
            </a:pPr>
            <a:r>
              <a:rPr lang="en-US" sz="973" kern="0" spc="49" dirty="0">
                <a:solidFill>
                  <a:schemeClr val="bg1">
                    <a:lumMod val="50000"/>
                  </a:scheme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Prepared by Younggi Kim </a:t>
            </a:r>
            <a:endParaRPr lang="en-US" sz="973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79" name="Image 3" descr="preencoded.png">
            <a:extLst>
              <a:ext uri="{FF2B5EF4-FFF2-40B4-BE49-F238E27FC236}">
                <a16:creationId xmlns:a16="http://schemas.microsoft.com/office/drawing/2014/main" id="{AE2FB7D6-C32E-6E9E-B33C-EB7D928DD5C4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5088" y="6519150"/>
            <a:ext cx="176784" cy="176784"/>
          </a:xfrm>
          <a:prstGeom prst="rect">
            <a:avLst/>
          </a:prstGeom>
        </p:spPr>
      </p:pic>
      <p:sp>
        <p:nvSpPr>
          <p:cNvPr id="81" name="Text 16">
            <a:extLst>
              <a:ext uri="{FF2B5EF4-FFF2-40B4-BE49-F238E27FC236}">
                <a16:creationId xmlns:a16="http://schemas.microsoft.com/office/drawing/2014/main" id="{C667BB8F-62EA-42B6-DEA4-6F66C677D14E}"/>
              </a:ext>
            </a:extLst>
          </p:cNvPr>
          <p:cNvSpPr/>
          <p:nvPr/>
        </p:nvSpPr>
        <p:spPr>
          <a:xfrm>
            <a:off x="892831" y="6519150"/>
            <a:ext cx="4319349" cy="172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360"/>
              </a:lnSpc>
            </a:pPr>
            <a:r>
              <a:rPr lang="en-US" sz="907" dirty="0">
                <a:solidFill>
                  <a:srgbClr val="6E8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CYCLISTIC BIKE-SHARE · GOOGLE DATA ANALYTICS CAPSTONE</a:t>
            </a:r>
            <a:endParaRPr lang="en-US" sz="907" dirty="0">
              <a:solidFill>
                <a:srgbClr val="6E809F"/>
              </a:solidFill>
            </a:endParaRPr>
          </a:p>
        </p:txBody>
      </p:sp>
      <p:sp>
        <p:nvSpPr>
          <p:cNvPr id="51" name="Text 0">
            <a:extLst>
              <a:ext uri="{FF2B5EF4-FFF2-40B4-BE49-F238E27FC236}">
                <a16:creationId xmlns:a16="http://schemas.microsoft.com/office/drawing/2014/main" id="{188D4E95-74DC-AA25-6BA1-6F9A8213BE2B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E4002B">
              <a:alpha val="87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858293" cy="6858000"/>
          </a:xfrm>
          <a:prstGeom prst="rect">
            <a:avLst/>
          </a:prstGeom>
          <a:gradFill rotWithShape="1">
            <a:gsLst>
              <a:gs pos="0">
                <a:srgbClr val="005B99"/>
              </a:gs>
              <a:gs pos="60000">
                <a:srgbClr val="00233A"/>
              </a:gs>
              <a:gs pos="100000">
                <a:srgbClr val="091422"/>
              </a:gs>
            </a:gsLst>
            <a:lin ang="420000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9894" y="457201"/>
            <a:ext cx="2304177" cy="157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40"/>
              </a:lnSpc>
            </a:pPr>
            <a:r>
              <a:rPr lang="en-US" sz="827" b="1" kern="0" spc="227" dirty="0">
                <a:solidFill>
                  <a:srgbClr val="15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</a:t>
            </a:r>
            <a:endParaRPr lang="en-US" sz="827" dirty="0">
              <a:solidFill>
                <a:srgbClr val="15A0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19894" y="748308"/>
            <a:ext cx="419893" cy="28773"/>
          </a:xfrm>
          <a:prstGeom prst="roundRect">
            <a:avLst>
              <a:gd name="adj" fmla="val 64736"/>
            </a:avLst>
          </a:prstGeom>
          <a:solidFill>
            <a:srgbClr val="00C6A7"/>
          </a:solidFill>
          <a:ln>
            <a:solidFill>
              <a:srgbClr val="15A0FF"/>
            </a:solidFill>
          </a:ln>
        </p:spPr>
        <p:txBody>
          <a:bodyPr wrap="none" rtlCol="0" anchor="t"/>
          <a:lstStyle/>
          <a:p>
            <a:endParaRPr lang="en-US" sz="2400" dirty="0">
              <a:solidFill>
                <a:srgbClr val="15A0FF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19894" y="987028"/>
            <a:ext cx="2199441" cy="4911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3868"/>
              </a:lnSpc>
            </a:pPr>
            <a:r>
              <a:rPr lang="en-US" sz="3453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Back</a:t>
            </a:r>
            <a:r>
              <a:rPr lang="en-US" sz="3453" b="1" dirty="0">
                <a:solidFill>
                  <a:srgbClr val="15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</a:t>
            </a:r>
            <a:endParaRPr lang="en-US" sz="3453" dirty="0">
              <a:solidFill>
                <a:srgbClr val="15A0F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19893" y="1572817"/>
            <a:ext cx="2136600" cy="447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</a:pPr>
            <a:r>
              <a:rPr lang="en-US" sz="11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Cyclistic — Chicago's city-wide bike-share network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2858293" y="0"/>
            <a:ext cx="9333707" cy="68580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315494" y="419894"/>
            <a:ext cx="9218453" cy="157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40"/>
              </a:lnSpc>
            </a:pPr>
            <a:r>
              <a:rPr lang="en-US" sz="827" b="1" kern="0" spc="187" dirty="0">
                <a:solidFill>
                  <a:srgbClr val="15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 AT A GLANCE</a:t>
            </a:r>
            <a:endParaRPr lang="en-US" sz="827" dirty="0">
              <a:solidFill>
                <a:srgbClr val="15A0FF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3315494" y="616148"/>
            <a:ext cx="9218453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80"/>
              </a:lnSpc>
            </a:pPr>
            <a:r>
              <a:rPr lang="en-US" sz="1653" kern="0" spc="13" dirty="0">
                <a:solidFill>
                  <a:srgbClr val="1A2E4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Four pillars that define the Cyclistic business model</a:t>
            </a:r>
            <a:endParaRPr lang="en-US" sz="1653" dirty="0"/>
          </a:p>
        </p:txBody>
      </p:sp>
      <p:sp>
        <p:nvSpPr>
          <p:cNvPr id="10" name="Text 8"/>
          <p:cNvSpPr/>
          <p:nvPr/>
        </p:nvSpPr>
        <p:spPr>
          <a:xfrm>
            <a:off x="3315493" y="1198563"/>
            <a:ext cx="4104680" cy="2118717"/>
          </a:xfrm>
          <a:prstGeom prst="roundRect">
            <a:avLst>
              <a:gd name="adj" fmla="val 6314"/>
            </a:avLst>
          </a:prstGeom>
          <a:solidFill>
            <a:srgbClr val="FFFFFF">
              <a:alpha val="49000"/>
            </a:srgbClr>
          </a:solidFill>
          <a:ln w="9525">
            <a:solidFill>
              <a:srgbClr val="C8ECE6"/>
            </a:solidFill>
          </a:ln>
          <a:effectLst>
            <a:outerShdw blurRad="86360" dist="13970" dir="5400000" algn="bl" rotWithShape="0">
              <a:srgbClr val="00C6A7">
                <a:alpha val="6000"/>
              </a:srgbClr>
            </a:outerShdw>
          </a:effectLst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538140" y="1439664"/>
            <a:ext cx="496093" cy="496093"/>
          </a:xfrm>
          <a:prstGeom prst="roundRect">
            <a:avLst>
              <a:gd name="adj" fmla="val 23211"/>
            </a:avLst>
          </a:prstGeom>
          <a:solidFill>
            <a:srgbClr val="CCECFF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93518" y="1595041"/>
            <a:ext cx="185340" cy="1853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205089" y="1421210"/>
            <a:ext cx="2060139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00"/>
              </a:lnSpc>
            </a:pPr>
            <a:r>
              <a:rPr lang="en-US" sz="867" b="1" kern="0" spc="133" dirty="0">
                <a:solidFill>
                  <a:srgbClr val="6B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SIZE</a:t>
            </a:r>
            <a:endParaRPr lang="en-US" sz="867" dirty="0"/>
          </a:p>
        </p:txBody>
      </p:sp>
      <p:sp>
        <p:nvSpPr>
          <p:cNvPr id="14" name="Text 11"/>
          <p:cNvSpPr/>
          <p:nvPr/>
        </p:nvSpPr>
        <p:spPr>
          <a:xfrm>
            <a:off x="4205089" y="1633538"/>
            <a:ext cx="2060139" cy="229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08"/>
              </a:lnSpc>
            </a:pPr>
            <a:r>
              <a:rPr lang="en-US" sz="1507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5,824 Bikes</a:t>
            </a:r>
            <a:endParaRPr lang="en-US" sz="1507" dirty="0">
              <a:solidFill>
                <a:srgbClr val="0070C0"/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4205089" y="1910161"/>
            <a:ext cx="2805311" cy="185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60"/>
              </a:lnSpc>
            </a:pPr>
            <a:r>
              <a:rPr lang="en-US" sz="973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Traditional, reclining, hand tricycle, and cargo options</a:t>
            </a:r>
          </a:p>
          <a:p>
            <a:pPr>
              <a:lnSpc>
                <a:spcPts val="1460"/>
              </a:lnSpc>
            </a:pPr>
            <a:r>
              <a:rPr lang="en-US" sz="973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Leisure &amp; Daily Commuting</a:t>
            </a:r>
            <a:endParaRPr lang="en-US" sz="973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7591029" y="1198563"/>
            <a:ext cx="4104879" cy="2118717"/>
          </a:xfrm>
          <a:prstGeom prst="roundRect">
            <a:avLst>
              <a:gd name="adj" fmla="val 6314"/>
            </a:avLst>
          </a:prstGeom>
          <a:solidFill>
            <a:srgbClr val="FFFFFF">
              <a:alpha val="49000"/>
            </a:srgbClr>
          </a:solidFill>
          <a:ln w="9525">
            <a:solidFill>
              <a:srgbClr val="C8ECE6"/>
            </a:solidFill>
          </a:ln>
          <a:effectLst>
            <a:outerShdw blurRad="86360" dist="13970" dir="5400000" algn="bl" rotWithShape="0">
              <a:srgbClr val="00C6A7">
                <a:alpha val="6000"/>
              </a:srgbClr>
            </a:outerShdw>
          </a:effectLst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7813675" y="1439664"/>
            <a:ext cx="496093" cy="496093"/>
          </a:xfrm>
          <a:prstGeom prst="roundRect">
            <a:avLst>
              <a:gd name="adj" fmla="val 23211"/>
            </a:avLst>
          </a:prstGeom>
          <a:solidFill>
            <a:srgbClr val="CCECFF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69053" y="1595041"/>
            <a:ext cx="185340" cy="1853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480625" y="1421210"/>
            <a:ext cx="1450479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00"/>
              </a:lnSpc>
            </a:pPr>
            <a:r>
              <a:rPr lang="en-US" sz="867" b="1" kern="0" spc="133" dirty="0">
                <a:solidFill>
                  <a:srgbClr val="6B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NETWORK</a:t>
            </a:r>
            <a:endParaRPr lang="en-US" sz="867" dirty="0"/>
          </a:p>
        </p:txBody>
      </p:sp>
      <p:sp>
        <p:nvSpPr>
          <p:cNvPr id="20" name="Text 16"/>
          <p:cNvSpPr/>
          <p:nvPr/>
        </p:nvSpPr>
        <p:spPr>
          <a:xfrm>
            <a:off x="8480625" y="1633538"/>
            <a:ext cx="1450479" cy="194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36"/>
              </a:lnSpc>
            </a:pPr>
            <a:r>
              <a:rPr lang="en-US" sz="128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692 Docking Stations</a:t>
            </a:r>
            <a:endParaRPr lang="en-US" sz="1280" dirty="0">
              <a:solidFill>
                <a:srgbClr val="0070C0"/>
              </a:solidFill>
            </a:endParaRPr>
          </a:p>
        </p:txBody>
      </p:sp>
      <p:sp>
        <p:nvSpPr>
          <p:cNvPr id="21" name="Text 17"/>
          <p:cNvSpPr/>
          <p:nvPr/>
        </p:nvSpPr>
        <p:spPr>
          <a:xfrm>
            <a:off x="8480625" y="1875632"/>
            <a:ext cx="2105759" cy="14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60"/>
              </a:lnSpc>
            </a:pPr>
            <a:r>
              <a:rPr lang="en-US" sz="973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across Chicago</a:t>
            </a:r>
          </a:p>
          <a:p>
            <a:pPr>
              <a:lnSpc>
                <a:spcPts val="1460"/>
              </a:lnSpc>
            </a:pPr>
            <a:r>
              <a:rPr lang="en-US" sz="973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from one station &amp; return to any other station</a:t>
            </a:r>
            <a:endParaRPr lang="en-US" sz="973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2" name="Text 18"/>
          <p:cNvSpPr/>
          <p:nvPr/>
        </p:nvSpPr>
        <p:spPr>
          <a:xfrm>
            <a:off x="3315493" y="3488135"/>
            <a:ext cx="4104680" cy="2118916"/>
          </a:xfrm>
          <a:prstGeom prst="roundRect">
            <a:avLst>
              <a:gd name="adj" fmla="val 6313"/>
            </a:avLst>
          </a:prstGeom>
          <a:solidFill>
            <a:srgbClr val="FFFFFF">
              <a:alpha val="49000"/>
            </a:srgbClr>
          </a:solidFill>
          <a:ln w="9525">
            <a:solidFill>
              <a:srgbClr val="C8ECE6"/>
            </a:solidFill>
          </a:ln>
          <a:effectLst>
            <a:outerShdw blurRad="86360" dist="13970" dir="5400000" algn="bl" rotWithShape="0">
              <a:srgbClr val="00C6A7">
                <a:alpha val="6000"/>
              </a:srgbClr>
            </a:outerShdw>
          </a:effectLst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3" name="Text 19"/>
          <p:cNvSpPr/>
          <p:nvPr/>
        </p:nvSpPr>
        <p:spPr>
          <a:xfrm>
            <a:off x="3538140" y="3729236"/>
            <a:ext cx="496093" cy="496093"/>
          </a:xfrm>
          <a:prstGeom prst="roundRect">
            <a:avLst>
              <a:gd name="adj" fmla="val 23211"/>
            </a:avLst>
          </a:prstGeom>
          <a:solidFill>
            <a:srgbClr val="CCECFF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93518" y="3884613"/>
            <a:ext cx="185340" cy="1853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205090" y="3710782"/>
            <a:ext cx="1637545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00"/>
              </a:lnSpc>
            </a:pPr>
            <a:r>
              <a:rPr lang="en-US" sz="867" b="1" kern="0" spc="133" dirty="0">
                <a:solidFill>
                  <a:srgbClr val="6B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STRATEGY</a:t>
            </a:r>
            <a:endParaRPr lang="en-US" sz="867" dirty="0"/>
          </a:p>
        </p:txBody>
      </p:sp>
      <p:sp>
        <p:nvSpPr>
          <p:cNvPr id="26" name="Text 21"/>
          <p:cNvSpPr/>
          <p:nvPr/>
        </p:nvSpPr>
        <p:spPr>
          <a:xfrm>
            <a:off x="4205090" y="3923110"/>
            <a:ext cx="2499061" cy="194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36"/>
              </a:lnSpc>
            </a:pPr>
            <a:r>
              <a:rPr lang="en-US" sz="128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Casual &amp; Annual Members</a:t>
            </a:r>
            <a:endParaRPr lang="en-US" sz="1280" dirty="0">
              <a:solidFill>
                <a:srgbClr val="0070C0"/>
              </a:solidFill>
            </a:endParaRPr>
          </a:p>
        </p:txBody>
      </p:sp>
      <p:sp>
        <p:nvSpPr>
          <p:cNvPr id="27" name="Text 22"/>
          <p:cNvSpPr/>
          <p:nvPr/>
        </p:nvSpPr>
        <p:spPr>
          <a:xfrm>
            <a:off x="4205090" y="4165203"/>
            <a:ext cx="1637545" cy="185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60"/>
              </a:lnSpc>
            </a:pPr>
            <a:r>
              <a:rPr lang="en-US" sz="973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general awareness</a:t>
            </a:r>
          </a:p>
          <a:p>
            <a:pPr>
              <a:lnSpc>
                <a:spcPts val="1460"/>
              </a:lnSpc>
            </a:pPr>
            <a:r>
              <a:rPr lang="en-US" sz="973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consumer segment &amp; Flexible pricing plans</a:t>
            </a:r>
            <a:endParaRPr lang="en-US" sz="973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8" name="Text 23"/>
          <p:cNvSpPr/>
          <p:nvPr/>
        </p:nvSpPr>
        <p:spPr>
          <a:xfrm>
            <a:off x="7591029" y="3488135"/>
            <a:ext cx="4104879" cy="2118916"/>
          </a:xfrm>
          <a:prstGeom prst="roundRect">
            <a:avLst>
              <a:gd name="adj" fmla="val 6313"/>
            </a:avLst>
          </a:prstGeom>
          <a:solidFill>
            <a:srgbClr val="FFFFFF">
              <a:alpha val="49000"/>
            </a:srgbClr>
          </a:solidFill>
          <a:ln w="9525">
            <a:solidFill>
              <a:srgbClr val="C8ECE6"/>
            </a:solidFill>
          </a:ln>
          <a:effectLst>
            <a:outerShdw blurRad="86360" dist="13970" dir="5400000" algn="bl" rotWithShape="0">
              <a:srgbClr val="00C6A7">
                <a:alpha val="6000"/>
              </a:srgbClr>
            </a:outerShdw>
          </a:effectLst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9" name="Text 24"/>
          <p:cNvSpPr/>
          <p:nvPr/>
        </p:nvSpPr>
        <p:spPr>
          <a:xfrm>
            <a:off x="7813675" y="3729236"/>
            <a:ext cx="496093" cy="496093"/>
          </a:xfrm>
          <a:prstGeom prst="roundRect">
            <a:avLst>
              <a:gd name="adj" fmla="val 23211"/>
            </a:avLst>
          </a:prstGeom>
          <a:solidFill>
            <a:srgbClr val="CCECFF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69053" y="3884613"/>
            <a:ext cx="185340" cy="18534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8480625" y="3710782"/>
            <a:ext cx="2105759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00"/>
              </a:lnSpc>
            </a:pPr>
            <a:r>
              <a:rPr lang="en-US" sz="867" b="1" kern="0" spc="133" dirty="0">
                <a:solidFill>
                  <a:srgbClr val="6B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REVENUE STRATEGY</a:t>
            </a:r>
            <a:endParaRPr lang="en-US" sz="867" dirty="0"/>
          </a:p>
        </p:txBody>
      </p:sp>
      <p:sp>
        <p:nvSpPr>
          <p:cNvPr id="32" name="Text 26"/>
          <p:cNvSpPr/>
          <p:nvPr/>
        </p:nvSpPr>
        <p:spPr>
          <a:xfrm>
            <a:off x="8480625" y="3923110"/>
            <a:ext cx="2105759" cy="194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36"/>
              </a:lnSpc>
            </a:pPr>
            <a:r>
              <a:rPr lang="en-US" sz="128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Members</a:t>
            </a:r>
            <a:endParaRPr lang="en-US" sz="1280" dirty="0">
              <a:solidFill>
                <a:srgbClr val="0070C0"/>
              </a:solidFill>
            </a:endParaRPr>
          </a:p>
        </p:txBody>
      </p:sp>
      <p:sp>
        <p:nvSpPr>
          <p:cNvPr id="33" name="Text 27"/>
          <p:cNvSpPr/>
          <p:nvPr/>
        </p:nvSpPr>
        <p:spPr>
          <a:xfrm>
            <a:off x="8480625" y="4165203"/>
            <a:ext cx="2105759" cy="185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60"/>
              </a:lnSpc>
            </a:pPr>
            <a:r>
              <a:rPr lang="en-US" sz="973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higher long-term profitability</a:t>
            </a:r>
          </a:p>
          <a:p>
            <a:pPr>
              <a:lnSpc>
                <a:spcPts val="1460"/>
              </a:lnSpc>
            </a:pPr>
            <a:endParaRPr lang="en-US" sz="973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4" name="Text 28"/>
          <p:cNvSpPr/>
          <p:nvPr/>
        </p:nvSpPr>
        <p:spPr>
          <a:xfrm>
            <a:off x="3315494" y="5816997"/>
            <a:ext cx="8380412" cy="660003"/>
          </a:xfrm>
          <a:prstGeom prst="roundRect">
            <a:avLst>
              <a:gd name="adj" fmla="val 14368"/>
            </a:avLst>
          </a:prstGeom>
          <a:solidFill>
            <a:srgbClr val="CCECFF"/>
          </a:solidFill>
          <a:ln w="9525">
            <a:solidFill>
              <a:srgbClr val="C8ECE6"/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09776" y="6058507"/>
            <a:ext cx="176784" cy="17678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3851275" y="5953126"/>
            <a:ext cx="7741635" cy="407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27"/>
              </a:lnSpc>
            </a:pPr>
            <a:r>
              <a:rPr lang="en-US" sz="1200" i="1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pricing options — </a:t>
            </a:r>
            <a:r>
              <a:rPr lang="en-US" sz="1200" b="1" i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single-ride, full-day, and annual memberships</a:t>
            </a:r>
            <a:r>
              <a:rPr lang="en-US" sz="1200" i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serves diverse rider needs, but sustainable growth depends on converting casuals to members.</a:t>
            </a:r>
            <a:endParaRPr lang="en-US" sz="1200" i="1" dirty="0"/>
          </a:p>
        </p:txBody>
      </p:sp>
      <p:sp>
        <p:nvSpPr>
          <p:cNvPr id="37" name="Text 30"/>
          <p:cNvSpPr/>
          <p:nvPr/>
        </p:nvSpPr>
        <p:spPr>
          <a:xfrm>
            <a:off x="3334" y="5221"/>
            <a:ext cx="1904940" cy="1904940"/>
          </a:xfrm>
          <a:prstGeom prst="ellipse">
            <a:avLst/>
          </a:prstGeom>
          <a:gradFill rotWithShape="1">
            <a:gsLst>
              <a:gs pos="0">
                <a:srgbClr val="15A0FF">
                  <a:alpha val="14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38" name="Text 31"/>
          <p:cNvSpPr/>
          <p:nvPr/>
        </p:nvSpPr>
        <p:spPr>
          <a:xfrm>
            <a:off x="1334288" y="5334000"/>
            <a:ext cx="1905000" cy="1524000"/>
          </a:xfrm>
          <a:prstGeom prst="ellipse">
            <a:avLst/>
          </a:prstGeom>
          <a:gradFill rotWithShape="1">
            <a:gsLst>
              <a:gs pos="0">
                <a:srgbClr val="00C6A7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39" name="Text 32"/>
          <p:cNvSpPr/>
          <p:nvPr/>
        </p:nvSpPr>
        <p:spPr>
          <a:xfrm>
            <a:off x="3318767" y="1211263"/>
            <a:ext cx="38893" cy="2093316"/>
          </a:xfrm>
          <a:custGeom>
            <a:avLst/>
            <a:gdLst/>
            <a:ahLst/>
            <a:cxnLst/>
            <a:rect l="l" t="t" r="r" b="b"/>
            <a:pathLst>
              <a:path w="29170" h="1569987">
                <a:moveTo>
                  <a:pt x="0" y="100330"/>
                </a:moveTo>
                <a:lnTo>
                  <a:pt x="3646" y="73527"/>
                </a:lnTo>
                <a:lnTo>
                  <a:pt x="7293" y="62778"/>
                </a:lnTo>
                <a:lnTo>
                  <a:pt x="10939" y="54774"/>
                </a:lnTo>
                <a:lnTo>
                  <a:pt x="14585" y="48234"/>
                </a:lnTo>
                <a:lnTo>
                  <a:pt x="18231" y="42659"/>
                </a:lnTo>
                <a:lnTo>
                  <a:pt x="21878" y="37789"/>
                </a:lnTo>
                <a:lnTo>
                  <a:pt x="25524" y="33470"/>
                </a:lnTo>
                <a:lnTo>
                  <a:pt x="29170" y="29602"/>
                </a:lnTo>
                <a:lnTo>
                  <a:pt x="29170" y="1540385"/>
                </a:lnTo>
                <a:lnTo>
                  <a:pt x="25524" y="1536516"/>
                </a:lnTo>
                <a:lnTo>
                  <a:pt x="21878" y="1532198"/>
                </a:lnTo>
                <a:lnTo>
                  <a:pt x="18231" y="1527328"/>
                </a:lnTo>
                <a:lnTo>
                  <a:pt x="14585" y="1521752"/>
                </a:lnTo>
                <a:lnTo>
                  <a:pt x="10939" y="1515213"/>
                </a:lnTo>
                <a:lnTo>
                  <a:pt x="7293" y="1507209"/>
                </a:lnTo>
                <a:lnTo>
                  <a:pt x="3646" y="1496459"/>
                </a:lnTo>
                <a:lnTo>
                  <a:pt x="0" y="1469657"/>
                </a:lnTo>
                <a:close/>
              </a:path>
            </a:pathLst>
          </a:custGeom>
          <a:solidFill>
            <a:srgbClr val="00B0F0"/>
          </a:solidFill>
          <a:ln>
            <a:solidFill>
              <a:srgbClr val="15A0FF"/>
            </a:solidFill>
          </a:ln>
        </p:spPr>
        <p:txBody>
          <a:bodyPr wrap="square" rtlCol="0" anchor="t"/>
          <a:lstStyle/>
          <a:p>
            <a:endParaRPr lang="en-US" sz="2400" dirty="0">
              <a:solidFill>
                <a:srgbClr val="15A0FF"/>
              </a:solidFill>
            </a:endParaRPr>
          </a:p>
        </p:txBody>
      </p:sp>
      <p:sp>
        <p:nvSpPr>
          <p:cNvPr id="40" name="Text 33"/>
          <p:cNvSpPr/>
          <p:nvPr/>
        </p:nvSpPr>
        <p:spPr>
          <a:xfrm>
            <a:off x="7584874" y="1211263"/>
            <a:ext cx="38893" cy="2093316"/>
          </a:xfrm>
          <a:custGeom>
            <a:avLst/>
            <a:gdLst/>
            <a:ahLst/>
            <a:cxnLst/>
            <a:rect l="l" t="t" r="r" b="b"/>
            <a:pathLst>
              <a:path w="29170" h="1569987">
                <a:moveTo>
                  <a:pt x="0" y="100330"/>
                </a:moveTo>
                <a:lnTo>
                  <a:pt x="3646" y="73527"/>
                </a:lnTo>
                <a:lnTo>
                  <a:pt x="7293" y="62778"/>
                </a:lnTo>
                <a:lnTo>
                  <a:pt x="10939" y="54774"/>
                </a:lnTo>
                <a:lnTo>
                  <a:pt x="14585" y="48234"/>
                </a:lnTo>
                <a:lnTo>
                  <a:pt x="18231" y="42659"/>
                </a:lnTo>
                <a:lnTo>
                  <a:pt x="21878" y="37789"/>
                </a:lnTo>
                <a:lnTo>
                  <a:pt x="25524" y="33470"/>
                </a:lnTo>
                <a:lnTo>
                  <a:pt x="29170" y="29602"/>
                </a:lnTo>
                <a:lnTo>
                  <a:pt x="29170" y="1540385"/>
                </a:lnTo>
                <a:lnTo>
                  <a:pt x="25524" y="1536516"/>
                </a:lnTo>
                <a:lnTo>
                  <a:pt x="21878" y="1532198"/>
                </a:lnTo>
                <a:lnTo>
                  <a:pt x="18231" y="1527328"/>
                </a:lnTo>
                <a:lnTo>
                  <a:pt x="14585" y="1521752"/>
                </a:lnTo>
                <a:lnTo>
                  <a:pt x="10939" y="1515213"/>
                </a:lnTo>
                <a:lnTo>
                  <a:pt x="7293" y="1507209"/>
                </a:lnTo>
                <a:lnTo>
                  <a:pt x="3646" y="1496459"/>
                </a:lnTo>
                <a:lnTo>
                  <a:pt x="0" y="1469657"/>
                </a:lnTo>
                <a:close/>
              </a:path>
            </a:pathLst>
          </a:custGeom>
          <a:solidFill>
            <a:srgbClr val="00B0F0"/>
          </a:solidFill>
          <a:ln>
            <a:solidFill>
              <a:srgbClr val="15A0FF"/>
            </a:solidFill>
          </a:ln>
        </p:spPr>
        <p:txBody>
          <a:bodyPr wrap="square" rtlCol="0" anchor="t"/>
          <a:lstStyle/>
          <a:p>
            <a:endParaRPr lang="en-US" sz="2400" dirty="0">
              <a:solidFill>
                <a:srgbClr val="15A0FF"/>
              </a:solidFill>
            </a:endParaRPr>
          </a:p>
        </p:txBody>
      </p:sp>
      <p:sp>
        <p:nvSpPr>
          <p:cNvPr id="41" name="Text 34"/>
          <p:cNvSpPr/>
          <p:nvPr/>
        </p:nvSpPr>
        <p:spPr>
          <a:xfrm>
            <a:off x="3318767" y="3500835"/>
            <a:ext cx="38893" cy="2093519"/>
          </a:xfrm>
          <a:custGeom>
            <a:avLst/>
            <a:gdLst/>
            <a:ahLst/>
            <a:cxnLst/>
            <a:rect l="l" t="t" r="r" b="b"/>
            <a:pathLst>
              <a:path w="29170" h="1570139">
                <a:moveTo>
                  <a:pt x="0" y="100330"/>
                </a:moveTo>
                <a:lnTo>
                  <a:pt x="3646" y="73527"/>
                </a:lnTo>
                <a:lnTo>
                  <a:pt x="7293" y="62778"/>
                </a:lnTo>
                <a:lnTo>
                  <a:pt x="10939" y="54774"/>
                </a:lnTo>
                <a:lnTo>
                  <a:pt x="14585" y="48234"/>
                </a:lnTo>
                <a:lnTo>
                  <a:pt x="18231" y="42659"/>
                </a:lnTo>
                <a:lnTo>
                  <a:pt x="21878" y="37789"/>
                </a:lnTo>
                <a:lnTo>
                  <a:pt x="25524" y="33470"/>
                </a:lnTo>
                <a:lnTo>
                  <a:pt x="29170" y="29602"/>
                </a:lnTo>
                <a:lnTo>
                  <a:pt x="29170" y="1540537"/>
                </a:lnTo>
                <a:lnTo>
                  <a:pt x="25524" y="1536669"/>
                </a:lnTo>
                <a:lnTo>
                  <a:pt x="21878" y="1532350"/>
                </a:lnTo>
                <a:lnTo>
                  <a:pt x="18231" y="1527480"/>
                </a:lnTo>
                <a:lnTo>
                  <a:pt x="14585" y="1521905"/>
                </a:lnTo>
                <a:lnTo>
                  <a:pt x="10939" y="1515365"/>
                </a:lnTo>
                <a:lnTo>
                  <a:pt x="7293" y="1507361"/>
                </a:lnTo>
                <a:lnTo>
                  <a:pt x="3646" y="1496612"/>
                </a:lnTo>
                <a:lnTo>
                  <a:pt x="0" y="1469809"/>
                </a:lnTo>
                <a:close/>
              </a:path>
            </a:pathLst>
          </a:custGeom>
          <a:solidFill>
            <a:srgbClr val="00B0F0"/>
          </a:solidFill>
          <a:ln>
            <a:solidFill>
              <a:srgbClr val="15A0FF"/>
            </a:solidFill>
          </a:ln>
        </p:spPr>
        <p:txBody>
          <a:bodyPr wrap="square" rtlCol="0" anchor="t"/>
          <a:lstStyle/>
          <a:p>
            <a:endParaRPr lang="en-US" sz="2400" dirty="0">
              <a:solidFill>
                <a:srgbClr val="15A0FF"/>
              </a:solidFill>
            </a:endParaRPr>
          </a:p>
        </p:txBody>
      </p:sp>
      <p:sp>
        <p:nvSpPr>
          <p:cNvPr id="42" name="Text 35"/>
          <p:cNvSpPr/>
          <p:nvPr/>
        </p:nvSpPr>
        <p:spPr>
          <a:xfrm>
            <a:off x="7584874" y="3500835"/>
            <a:ext cx="38893" cy="2093519"/>
          </a:xfrm>
          <a:custGeom>
            <a:avLst/>
            <a:gdLst/>
            <a:ahLst/>
            <a:cxnLst/>
            <a:rect l="l" t="t" r="r" b="b"/>
            <a:pathLst>
              <a:path w="29170" h="1570139">
                <a:moveTo>
                  <a:pt x="0" y="100330"/>
                </a:moveTo>
                <a:lnTo>
                  <a:pt x="3646" y="73527"/>
                </a:lnTo>
                <a:lnTo>
                  <a:pt x="7293" y="62778"/>
                </a:lnTo>
                <a:lnTo>
                  <a:pt x="10939" y="54774"/>
                </a:lnTo>
                <a:lnTo>
                  <a:pt x="14585" y="48234"/>
                </a:lnTo>
                <a:lnTo>
                  <a:pt x="18231" y="42659"/>
                </a:lnTo>
                <a:lnTo>
                  <a:pt x="21878" y="37789"/>
                </a:lnTo>
                <a:lnTo>
                  <a:pt x="25524" y="33470"/>
                </a:lnTo>
                <a:lnTo>
                  <a:pt x="29170" y="29602"/>
                </a:lnTo>
                <a:lnTo>
                  <a:pt x="29170" y="1540537"/>
                </a:lnTo>
                <a:lnTo>
                  <a:pt x="25524" y="1536669"/>
                </a:lnTo>
                <a:lnTo>
                  <a:pt x="21878" y="1532350"/>
                </a:lnTo>
                <a:lnTo>
                  <a:pt x="18231" y="1527480"/>
                </a:lnTo>
                <a:lnTo>
                  <a:pt x="14585" y="1521905"/>
                </a:lnTo>
                <a:lnTo>
                  <a:pt x="10939" y="1515365"/>
                </a:lnTo>
                <a:lnTo>
                  <a:pt x="7293" y="1507361"/>
                </a:lnTo>
                <a:lnTo>
                  <a:pt x="3646" y="1496612"/>
                </a:lnTo>
                <a:lnTo>
                  <a:pt x="0" y="1469809"/>
                </a:lnTo>
                <a:close/>
              </a:path>
            </a:pathLst>
          </a:custGeom>
          <a:solidFill>
            <a:srgbClr val="00B0F0"/>
          </a:solidFill>
          <a:ln>
            <a:solidFill>
              <a:srgbClr val="15A0FF"/>
            </a:solidFill>
          </a:ln>
        </p:spPr>
        <p:txBody>
          <a:bodyPr wrap="square" rtlCol="0" anchor="t"/>
          <a:lstStyle/>
          <a:p>
            <a:endParaRPr lang="en-US" sz="2400" dirty="0">
              <a:solidFill>
                <a:srgbClr val="15A0FF"/>
              </a:solidFill>
            </a:endParaRPr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0047" y="3249017"/>
            <a:ext cx="914400" cy="91440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419893" y="5336779"/>
            <a:ext cx="2094707" cy="1134368"/>
          </a:xfrm>
          <a:prstGeom prst="rect">
            <a:avLst/>
          </a:prstGeom>
          <a:noFill/>
          <a:ln/>
        </p:spPr>
        <p:txBody>
          <a:bodyPr wrap="square" lIns="0" tIns="171027" rIns="0" bIns="0" rtlCol="0" anchor="t"/>
          <a:lstStyle/>
          <a:p>
            <a:pPr>
              <a:lnSpc>
                <a:spcPts val="1447"/>
              </a:lnSpc>
            </a:pPr>
            <a:r>
              <a:rPr lang="en-US" sz="9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Cyclistic launched in </a:t>
            </a:r>
            <a:r>
              <a:rPr lang="en-US" sz="933" b="1" dirty="0">
                <a:solidFill>
                  <a:srgbClr val="15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r>
              <a:rPr lang="en-US" sz="9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has grown to become one of Chicago's most recognizable mobility brands, offering accessible transport across the city.</a:t>
            </a:r>
            <a:endParaRPr lang="en-US" sz="933" dirty="0"/>
          </a:p>
        </p:txBody>
      </p:sp>
      <p:sp>
        <p:nvSpPr>
          <p:cNvPr id="45" name="Text 37"/>
          <p:cNvSpPr/>
          <p:nvPr/>
        </p:nvSpPr>
        <p:spPr>
          <a:xfrm>
            <a:off x="419893" y="5336779"/>
            <a:ext cx="2094707" cy="12700"/>
          </a:xfrm>
          <a:prstGeom prst="rect">
            <a:avLst/>
          </a:prstGeom>
          <a:solidFill>
            <a:srgbClr val="00C6A7">
              <a:alpha val="18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49" name="Text 0">
            <a:extLst>
              <a:ext uri="{FF2B5EF4-FFF2-40B4-BE49-F238E27FC236}">
                <a16:creationId xmlns:a16="http://schemas.microsoft.com/office/drawing/2014/main" id="{6330EE77-5828-9C16-4F62-9E53063F474E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E4002B">
              <a:alpha val="87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C122C">
                  <a:alpha val="96863"/>
                </a:srgbClr>
              </a:gs>
              <a:gs pos="49000">
                <a:srgbClr val="002060">
                  <a:alpha val="92000"/>
                </a:srgb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420000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761854" y="1618854"/>
            <a:ext cx="6668293" cy="3620293"/>
          </a:xfrm>
          <a:prstGeom prst="rect">
            <a:avLst/>
          </a:prstGeom>
          <a:gradFill rotWithShape="1">
            <a:gsLst>
              <a:gs pos="0">
                <a:srgbClr val="00C6A7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1"/>
            <a:ext cx="12192000" cy="47228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15A0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09601" y="762000"/>
            <a:ext cx="18455" cy="53340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15A0FF">
                  <a:alpha val="50000"/>
                </a:srgbClr>
              </a:gs>
              <a:gs pos="70000">
                <a:srgbClr val="15A0FF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563946" y="762000"/>
            <a:ext cx="18455" cy="53340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00C6A7">
                  <a:alpha val="15000"/>
                </a:srgbClr>
              </a:gs>
              <a:gs pos="70000">
                <a:srgbClr val="00C6A7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443809" y="1111846"/>
            <a:ext cx="762000" cy="18455"/>
          </a:xfrm>
          <a:prstGeom prst="roundRect">
            <a:avLst>
              <a:gd name="adj" fmla="val 100932"/>
            </a:avLst>
          </a:prstGeom>
          <a:solidFill>
            <a:srgbClr val="00C6A7"/>
          </a:solidFill>
          <a:ln>
            <a:solidFill>
              <a:srgbClr val="15A0FF"/>
            </a:solidFill>
          </a:ln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622766" y="1019175"/>
            <a:ext cx="1623140" cy="1853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460"/>
              </a:lnSpc>
            </a:pPr>
            <a:r>
              <a:rPr lang="en-US" sz="973" b="1" dirty="0">
                <a:solidFill>
                  <a:srgbClr val="15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GOAL</a:t>
            </a:r>
            <a:endParaRPr lang="en-US" sz="973" dirty="0">
              <a:solidFill>
                <a:srgbClr val="15A0FF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986191" y="1111846"/>
            <a:ext cx="762000" cy="18455"/>
          </a:xfrm>
          <a:prstGeom prst="roundRect">
            <a:avLst>
              <a:gd name="adj" fmla="val 100932"/>
            </a:avLst>
          </a:prstGeom>
          <a:solidFill>
            <a:srgbClr val="00C6A7"/>
          </a:solidFill>
          <a:ln>
            <a:solidFill>
              <a:srgbClr val="15A0FF"/>
            </a:solidFill>
          </a:ln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999655" y="1755657"/>
            <a:ext cx="310693" cy="1248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040"/>
              </a:lnSpc>
            </a:pPr>
            <a:r>
              <a:rPr lang="en-US" sz="7200" dirty="0">
                <a:solidFill>
                  <a:srgbClr val="0D3D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“</a:t>
            </a:r>
            <a:endParaRPr lang="en-US" sz="7200" dirty="0">
              <a:solidFill>
                <a:srgbClr val="0D3D66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2266274" y="1950443"/>
            <a:ext cx="7659255" cy="950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3567"/>
              </a:lnSpc>
            </a:pPr>
            <a:r>
              <a:rPr lang="en-US" sz="2853" b="1" kern="0" spc="-28" dirty="0">
                <a:solidFill>
                  <a:srgbClr val="15A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Design marketing strategies aimed at converting casual riders into annual members.</a:t>
            </a:r>
            <a:endParaRPr lang="en-US" sz="2853" dirty="0">
              <a:solidFill>
                <a:srgbClr val="15A0FF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9887744" y="2959577"/>
            <a:ext cx="310693" cy="1248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040"/>
              </a:lnSpc>
            </a:pPr>
            <a:r>
              <a:rPr lang="en-US" sz="7200" dirty="0">
                <a:solidFill>
                  <a:srgbClr val="0D3D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”</a:t>
            </a:r>
          </a:p>
        </p:txBody>
      </p:sp>
      <p:sp>
        <p:nvSpPr>
          <p:cNvPr id="14" name="Text 12"/>
          <p:cNvSpPr/>
          <p:nvPr/>
        </p:nvSpPr>
        <p:spPr>
          <a:xfrm>
            <a:off x="6090840" y="3553818"/>
            <a:ext cx="10120" cy="343693"/>
          </a:xfrm>
          <a:prstGeom prst="rect">
            <a:avLst/>
          </a:prstGeom>
          <a:gradFill rotWithShape="1">
            <a:gsLst>
              <a:gs pos="0">
                <a:srgbClr val="00C6A7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598420" y="4126111"/>
            <a:ext cx="6995160" cy="1149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155"/>
              </a:lnSpc>
            </a:pPr>
            <a:r>
              <a:rPr lang="en-US" sz="1347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of Marketing Lily Moreno has identified this conversion as the primary lever for future growth.  Increasing the proportion of annual members will maximize long-term profitability and deepen customer loyalty.</a:t>
            </a:r>
            <a:endParaRPr lang="en-US" sz="1347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4350346" y="5488186"/>
            <a:ext cx="3491111" cy="375225"/>
          </a:xfrm>
          <a:prstGeom prst="roundRect">
            <a:avLst>
              <a:gd name="adj" fmla="val 2535767"/>
            </a:avLst>
          </a:prstGeom>
          <a:solidFill>
            <a:schemeClr val="accent1">
              <a:lumMod val="50000"/>
              <a:alpha val="23000"/>
            </a:schemeClr>
          </a:solidFill>
          <a:ln w="9525">
            <a:solidFill>
              <a:srgbClr val="00C6A7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/>
            <a:r>
              <a:rPr lang="en-US" sz="1053" dirty="0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Lily Moreno — Director of Marketing, Cyclistic</a:t>
            </a:r>
            <a:endParaRPr lang="en-US" sz="1053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95613" y="5570351"/>
            <a:ext cx="176784" cy="176784"/>
          </a:xfrm>
          <a:prstGeom prst="rect">
            <a:avLst/>
          </a:prstGeom>
        </p:spPr>
      </p:pic>
      <p:sp>
        <p:nvSpPr>
          <p:cNvPr id="26" name="Text 4">
            <a:extLst>
              <a:ext uri="{FF2B5EF4-FFF2-40B4-BE49-F238E27FC236}">
                <a16:creationId xmlns:a16="http://schemas.microsoft.com/office/drawing/2014/main" id="{FD12EBB4-8E50-2AE6-463C-5475ED846B78}"/>
              </a:ext>
            </a:extLst>
          </p:cNvPr>
          <p:cNvSpPr/>
          <p:nvPr/>
        </p:nvSpPr>
        <p:spPr>
          <a:xfrm>
            <a:off x="11575282" y="718324"/>
            <a:ext cx="18455" cy="53340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15A0FF">
                  <a:alpha val="50000"/>
                </a:srgbClr>
              </a:gs>
              <a:gs pos="70000">
                <a:srgbClr val="15A0FF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3" name="Text 29">
            <a:extLst>
              <a:ext uri="{FF2B5EF4-FFF2-40B4-BE49-F238E27FC236}">
                <a16:creationId xmlns:a16="http://schemas.microsoft.com/office/drawing/2014/main" id="{E467F9AA-E74A-1B09-3218-A42F383098DD}"/>
              </a:ext>
            </a:extLst>
          </p:cNvPr>
          <p:cNvSpPr/>
          <p:nvPr/>
        </p:nvSpPr>
        <p:spPr>
          <a:xfrm>
            <a:off x="0" y="6343819"/>
            <a:ext cx="12192000" cy="514747"/>
          </a:xfrm>
          <a:prstGeom prst="rect">
            <a:avLst/>
          </a:prstGeom>
          <a:gradFill rotWithShape="1">
            <a:gsLst>
              <a:gs pos="0">
                <a:srgbClr val="16204A">
                  <a:alpha val="60000"/>
                </a:srgbClr>
              </a:gs>
              <a:gs pos="100000">
                <a:srgbClr val="0D1B2A">
                  <a:alpha val="6000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7" name="Text 30">
            <a:extLst>
              <a:ext uri="{FF2B5EF4-FFF2-40B4-BE49-F238E27FC236}">
                <a16:creationId xmlns:a16="http://schemas.microsoft.com/office/drawing/2014/main" id="{AD6AC4C9-00EA-A94E-F634-32652457A3E3}"/>
              </a:ext>
            </a:extLst>
          </p:cNvPr>
          <p:cNvSpPr/>
          <p:nvPr/>
        </p:nvSpPr>
        <p:spPr>
          <a:xfrm>
            <a:off x="0" y="6343820"/>
            <a:ext cx="12192000" cy="12700"/>
          </a:xfrm>
          <a:prstGeom prst="rect">
            <a:avLst/>
          </a:prstGeom>
          <a:solidFill>
            <a:srgbClr val="00C6A7">
              <a:alpha val="2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29" name="Text 32">
            <a:extLst>
              <a:ext uri="{FF2B5EF4-FFF2-40B4-BE49-F238E27FC236}">
                <a16:creationId xmlns:a16="http://schemas.microsoft.com/office/drawing/2014/main" id="{06AA87C0-A0CA-66DC-644D-6E157A190C2D}"/>
              </a:ext>
            </a:extLst>
          </p:cNvPr>
          <p:cNvSpPr/>
          <p:nvPr/>
        </p:nvSpPr>
        <p:spPr>
          <a:xfrm>
            <a:off x="5693172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1" name="Text 33">
            <a:extLst>
              <a:ext uri="{FF2B5EF4-FFF2-40B4-BE49-F238E27FC236}">
                <a16:creationId xmlns:a16="http://schemas.microsoft.com/office/drawing/2014/main" id="{AAB4BA76-B39C-AA2D-9131-1724E8EC7F0E}"/>
              </a:ext>
            </a:extLst>
          </p:cNvPr>
          <p:cNvSpPr/>
          <p:nvPr/>
        </p:nvSpPr>
        <p:spPr>
          <a:xfrm>
            <a:off x="5808265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3" name="Text 34">
            <a:extLst>
              <a:ext uri="{FF2B5EF4-FFF2-40B4-BE49-F238E27FC236}">
                <a16:creationId xmlns:a16="http://schemas.microsoft.com/office/drawing/2014/main" id="{BF64F4E9-D808-9751-E742-C06A03934CCE}"/>
              </a:ext>
            </a:extLst>
          </p:cNvPr>
          <p:cNvSpPr/>
          <p:nvPr/>
        </p:nvSpPr>
        <p:spPr>
          <a:xfrm>
            <a:off x="5923360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5" name="Text 35">
            <a:extLst>
              <a:ext uri="{FF2B5EF4-FFF2-40B4-BE49-F238E27FC236}">
                <a16:creationId xmlns:a16="http://schemas.microsoft.com/office/drawing/2014/main" id="{D60291EC-DF53-47CB-6DB7-EA546C399E4D}"/>
              </a:ext>
            </a:extLst>
          </p:cNvPr>
          <p:cNvSpPr/>
          <p:nvPr/>
        </p:nvSpPr>
        <p:spPr>
          <a:xfrm>
            <a:off x="6038453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7" name="Text 36">
            <a:extLst>
              <a:ext uri="{FF2B5EF4-FFF2-40B4-BE49-F238E27FC236}">
                <a16:creationId xmlns:a16="http://schemas.microsoft.com/office/drawing/2014/main" id="{174F0C7B-FD53-BC50-0DF3-2B6103EAD686}"/>
              </a:ext>
            </a:extLst>
          </p:cNvPr>
          <p:cNvSpPr/>
          <p:nvPr/>
        </p:nvSpPr>
        <p:spPr>
          <a:xfrm>
            <a:off x="6153547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FAD89B74-FF01-F507-F0AE-AEA4A9553FBE}"/>
              </a:ext>
            </a:extLst>
          </p:cNvPr>
          <p:cNvSpPr/>
          <p:nvPr/>
        </p:nvSpPr>
        <p:spPr>
          <a:xfrm>
            <a:off x="6268640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EBF7BDB6-154C-C030-35C3-A8201A776F21}"/>
              </a:ext>
            </a:extLst>
          </p:cNvPr>
          <p:cNvSpPr/>
          <p:nvPr/>
        </p:nvSpPr>
        <p:spPr>
          <a:xfrm>
            <a:off x="6383735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3" name="Text 39">
            <a:extLst>
              <a:ext uri="{FF2B5EF4-FFF2-40B4-BE49-F238E27FC236}">
                <a16:creationId xmlns:a16="http://schemas.microsoft.com/office/drawing/2014/main" id="{F7CBEF86-C836-F14D-8A90-A41F68F9A388}"/>
              </a:ext>
            </a:extLst>
          </p:cNvPr>
          <p:cNvSpPr/>
          <p:nvPr/>
        </p:nvSpPr>
        <p:spPr>
          <a:xfrm>
            <a:off x="6498828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5" name="Text 40">
            <a:extLst>
              <a:ext uri="{FF2B5EF4-FFF2-40B4-BE49-F238E27FC236}">
                <a16:creationId xmlns:a16="http://schemas.microsoft.com/office/drawing/2014/main" id="{DC8AC3F1-73B7-F8E2-195A-8EC97B7F5BF1}"/>
              </a:ext>
            </a:extLst>
          </p:cNvPr>
          <p:cNvSpPr/>
          <p:nvPr/>
        </p:nvSpPr>
        <p:spPr>
          <a:xfrm>
            <a:off x="6613921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7" name="Text 41">
            <a:extLst>
              <a:ext uri="{FF2B5EF4-FFF2-40B4-BE49-F238E27FC236}">
                <a16:creationId xmlns:a16="http://schemas.microsoft.com/office/drawing/2014/main" id="{1ABDC1C8-9437-C71E-471E-CD4C95BC39ED}"/>
              </a:ext>
            </a:extLst>
          </p:cNvPr>
          <p:cNvSpPr/>
          <p:nvPr/>
        </p:nvSpPr>
        <p:spPr>
          <a:xfrm>
            <a:off x="6729016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9" name="Text 42">
            <a:extLst>
              <a:ext uri="{FF2B5EF4-FFF2-40B4-BE49-F238E27FC236}">
                <a16:creationId xmlns:a16="http://schemas.microsoft.com/office/drawing/2014/main" id="{BFC4871A-9F27-AAC3-1D07-F308BB171A8A}"/>
              </a:ext>
            </a:extLst>
          </p:cNvPr>
          <p:cNvSpPr/>
          <p:nvPr/>
        </p:nvSpPr>
        <p:spPr>
          <a:xfrm>
            <a:off x="6844109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1" name="Text 43">
            <a:extLst>
              <a:ext uri="{FF2B5EF4-FFF2-40B4-BE49-F238E27FC236}">
                <a16:creationId xmlns:a16="http://schemas.microsoft.com/office/drawing/2014/main" id="{9C921B21-917C-C769-7121-F5B2E4925ECE}"/>
              </a:ext>
            </a:extLst>
          </p:cNvPr>
          <p:cNvSpPr/>
          <p:nvPr/>
        </p:nvSpPr>
        <p:spPr>
          <a:xfrm>
            <a:off x="9235167" y="6504980"/>
            <a:ext cx="2451952" cy="13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ts val="1460"/>
              </a:lnSpc>
            </a:pPr>
            <a:r>
              <a:rPr lang="en-US" sz="973" kern="0" spc="49" dirty="0">
                <a:solidFill>
                  <a:schemeClr val="bg1">
                    <a:lumMod val="50000"/>
                  </a:scheme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Prepared by Younggi Kim </a:t>
            </a:r>
            <a:endParaRPr lang="en-US" sz="973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B5058E5C-A1F2-4B37-FCF3-8B083A9BD1BF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088" y="6519150"/>
            <a:ext cx="176784" cy="176784"/>
          </a:xfrm>
          <a:prstGeom prst="rect">
            <a:avLst/>
          </a:prstGeom>
        </p:spPr>
      </p:pic>
      <p:sp>
        <p:nvSpPr>
          <p:cNvPr id="55" name="Text 16">
            <a:extLst>
              <a:ext uri="{FF2B5EF4-FFF2-40B4-BE49-F238E27FC236}">
                <a16:creationId xmlns:a16="http://schemas.microsoft.com/office/drawing/2014/main" id="{ED5D77D3-B24B-271B-4217-DAAB97279C4B}"/>
              </a:ext>
            </a:extLst>
          </p:cNvPr>
          <p:cNvSpPr/>
          <p:nvPr/>
        </p:nvSpPr>
        <p:spPr>
          <a:xfrm>
            <a:off x="892831" y="6519150"/>
            <a:ext cx="4319349" cy="172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360"/>
              </a:lnSpc>
            </a:pPr>
            <a:r>
              <a:rPr lang="en-US" sz="907" dirty="0">
                <a:solidFill>
                  <a:srgbClr val="6E8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CYCLISTIC BIKE-SHARE · GOOGLE DATA ANALYTICS CAPSTONE</a:t>
            </a:r>
            <a:endParaRPr lang="en-US" sz="907" dirty="0">
              <a:solidFill>
                <a:srgbClr val="6E809F"/>
              </a:solidFill>
            </a:endParaRPr>
          </a:p>
        </p:txBody>
      </p:sp>
      <p:sp>
        <p:nvSpPr>
          <p:cNvPr id="24" name="Text 0">
            <a:extLst>
              <a:ext uri="{FF2B5EF4-FFF2-40B4-BE49-F238E27FC236}">
                <a16:creationId xmlns:a16="http://schemas.microsoft.com/office/drawing/2014/main" id="{C564677D-F890-F4BC-4BBB-E14B43B5D484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E4002B">
              <a:alpha val="87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0">
            <a:extLst>
              <a:ext uri="{FF2B5EF4-FFF2-40B4-BE49-F238E27FC236}">
                <a16:creationId xmlns:a16="http://schemas.microsoft.com/office/drawing/2014/main" id="{9F398919-7BCA-8EA5-547F-57FE93C3FCA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C122C">
                  <a:alpha val="96863"/>
                </a:srgbClr>
              </a:gs>
              <a:gs pos="50000">
                <a:srgbClr val="002060">
                  <a:alpha val="92000"/>
                </a:srgbClr>
              </a:gs>
              <a:gs pos="100000">
                <a:srgbClr val="15A0FF">
                  <a:alpha val="8000"/>
                </a:srgbClr>
              </a:gs>
            </a:gsLst>
            <a:lin ang="420000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209947" y="2667000"/>
            <a:ext cx="28773" cy="152400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15A0FF">
                  <a:alpha val="4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11953280" y="2667000"/>
            <a:ext cx="28773" cy="152400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15A0FF">
                  <a:alpha val="4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5172075" y="873126"/>
            <a:ext cx="1884604" cy="292497"/>
          </a:xfrm>
          <a:prstGeom prst="roundRect">
            <a:avLst>
              <a:gd name="adj" fmla="val 65418"/>
            </a:avLst>
          </a:prstGeom>
          <a:solidFill>
            <a:srgbClr val="00C6A7">
              <a:alpha val="12000"/>
            </a:srgbClr>
          </a:solidFill>
          <a:ln w="9525">
            <a:solidFill>
              <a:srgbClr val="15A0FF">
                <a:alpha val="30000"/>
              </a:srgbClr>
            </a:solidFill>
          </a:ln>
        </p:spPr>
        <p:txBody>
          <a:bodyPr wrap="none" lIns="284017" tIns="47413" rIns="152400" bIns="47413" rtlCol="0" anchor="ctr"/>
          <a:lstStyle/>
          <a:p>
            <a:r>
              <a:rPr lang="en-US" sz="907" b="1" kern="0" spc="127" dirty="0">
                <a:solidFill>
                  <a:srgbClr val="15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QUESTION</a:t>
            </a:r>
            <a:endParaRPr lang="en-US" sz="907" dirty="0">
              <a:solidFill>
                <a:srgbClr val="15A0FF"/>
              </a:solidFill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57812" y="930883"/>
            <a:ext cx="176784" cy="17678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429000" y="1433117"/>
            <a:ext cx="5334000" cy="18455"/>
          </a:xfrm>
          <a:prstGeom prst="roundRect">
            <a:avLst>
              <a:gd name="adj" fmla="val 55054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15A0FF"/>
              </a:gs>
              <a:gs pos="70000">
                <a:srgbClr val="15A0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10" name="Text 5"/>
          <p:cNvSpPr/>
          <p:nvPr/>
        </p:nvSpPr>
        <p:spPr>
          <a:xfrm>
            <a:off x="1335000" y="1795265"/>
            <a:ext cx="9522000" cy="1086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4075"/>
              </a:lnSpc>
            </a:pPr>
            <a:r>
              <a:rPr lang="en-US" sz="3453" kern="0" spc="-35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do </a:t>
            </a:r>
            <a:r>
              <a:rPr lang="en-US" sz="3453" b="1" kern="0" spc="-35" dirty="0">
                <a:solidFill>
                  <a:srgbClr val="15A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annual members</a:t>
            </a:r>
            <a:r>
              <a:rPr lang="en-US" sz="3453" kern="0" spc="-35" dirty="0">
                <a:solidFill>
                  <a:srgbClr val="15A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3453" kern="0" spc="-35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and </a:t>
            </a:r>
            <a:r>
              <a:rPr lang="en-US" sz="3453" b="1" kern="0" spc="-35" dirty="0">
                <a:solidFill>
                  <a:srgbClr val="15A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casual riders</a:t>
            </a:r>
            <a:r>
              <a:rPr lang="en-US" sz="3453" kern="0" spc="-35" dirty="0">
                <a:solidFill>
                  <a:srgbClr val="15A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3453" kern="0" spc="-35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 Cyclistic bikes differently?</a:t>
            </a:r>
            <a:endParaRPr lang="en-US" sz="3453" dirty="0"/>
          </a:p>
        </p:txBody>
      </p:sp>
      <p:sp>
        <p:nvSpPr>
          <p:cNvPr id="11" name="Text 6"/>
          <p:cNvSpPr/>
          <p:nvPr/>
        </p:nvSpPr>
        <p:spPr>
          <a:xfrm>
            <a:off x="3429000" y="3173611"/>
            <a:ext cx="5334000" cy="18455"/>
          </a:xfrm>
          <a:prstGeom prst="roundRect">
            <a:avLst>
              <a:gd name="adj" fmla="val 55054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15A0FF"/>
              </a:gs>
              <a:gs pos="70000">
                <a:srgbClr val="15A0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12" name="Text 7"/>
          <p:cNvSpPr/>
          <p:nvPr/>
        </p:nvSpPr>
        <p:spPr>
          <a:xfrm>
            <a:off x="1999854" y="4069162"/>
            <a:ext cx="8192293" cy="2011293"/>
          </a:xfrm>
          <a:prstGeom prst="roundRect">
            <a:avLst>
              <a:gd name="adj" fmla="val 6422"/>
            </a:avLst>
          </a:prstGeom>
          <a:solidFill>
            <a:srgbClr val="1A2E42">
              <a:alpha val="65000"/>
            </a:srgbClr>
          </a:solidFill>
          <a:ln w="9525">
            <a:solidFill>
              <a:srgbClr val="00C6A7">
                <a:alpha val="18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3" name="Text 8"/>
          <p:cNvSpPr/>
          <p:nvPr/>
        </p:nvSpPr>
        <p:spPr>
          <a:xfrm>
            <a:off x="2393553" y="4444008"/>
            <a:ext cx="76200" cy="76200"/>
          </a:xfrm>
          <a:prstGeom prst="ellipse">
            <a:avLst/>
          </a:prstGeom>
          <a:noFill/>
          <a:ln>
            <a:solidFill>
              <a:srgbClr val="15A0FF"/>
            </a:solidFill>
          </a:ln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14" name="Text 9"/>
          <p:cNvSpPr/>
          <p:nvPr/>
        </p:nvSpPr>
        <p:spPr>
          <a:xfrm>
            <a:off x="2603500" y="4349354"/>
            <a:ext cx="6874987" cy="277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85"/>
              </a:lnSpc>
            </a:pPr>
            <a:r>
              <a:rPr lang="en-US" sz="1507" kern="0" spc="15" dirty="0">
                <a:solidFill>
                  <a:srgbClr val="DEE4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</a:t>
            </a:r>
            <a:r>
              <a:rPr lang="en-US" sz="1507" kern="0" spc="15" dirty="0" err="1">
                <a:solidFill>
                  <a:srgbClr val="DEE4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Cyclistic’s</a:t>
            </a:r>
            <a:r>
              <a:rPr lang="en-US" sz="1507" kern="0" spc="15" dirty="0">
                <a:solidFill>
                  <a:srgbClr val="DEE4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historic trip data to </a:t>
            </a:r>
            <a:r>
              <a:rPr lang="en-US" sz="1507" b="1" kern="0" spc="15" dirty="0">
                <a:solidFill>
                  <a:srgbClr val="15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behavioral trends</a:t>
            </a:r>
            <a:r>
              <a:rPr lang="en-US" sz="1507" kern="0" spc="15" dirty="0">
                <a:solidFill>
                  <a:srgbClr val="DEE4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rider types</a:t>
            </a:r>
          </a:p>
        </p:txBody>
      </p:sp>
      <p:sp>
        <p:nvSpPr>
          <p:cNvPr id="15" name="Text 10"/>
          <p:cNvSpPr/>
          <p:nvPr/>
        </p:nvSpPr>
        <p:spPr>
          <a:xfrm>
            <a:off x="2432447" y="4797425"/>
            <a:ext cx="7327107" cy="10120"/>
          </a:xfrm>
          <a:prstGeom prst="rect">
            <a:avLst/>
          </a:prstGeom>
          <a:solidFill>
            <a:srgbClr val="00C6A7">
              <a:alpha val="12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2393553" y="5073055"/>
            <a:ext cx="76200" cy="76200"/>
          </a:xfrm>
          <a:prstGeom prst="ellipse">
            <a:avLst/>
          </a:prstGeom>
          <a:noFill/>
          <a:ln>
            <a:solidFill>
              <a:srgbClr val="15A0FF"/>
            </a:solidFill>
          </a:ln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2603500" y="4978401"/>
            <a:ext cx="4790837" cy="277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85"/>
              </a:lnSpc>
            </a:pPr>
            <a:r>
              <a:rPr lang="en-US" sz="1507" kern="0" spc="15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Illustrate </a:t>
            </a:r>
            <a:r>
              <a:rPr lang="en-US" sz="1507" b="1" kern="0" spc="15" dirty="0">
                <a:solidFill>
                  <a:srgbClr val="15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of key findings</a:t>
            </a:r>
            <a:r>
              <a:rPr lang="en-US" sz="1507" b="1" kern="0" spc="15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7" kern="0" spc="15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serve as the evidence base for executive approval</a:t>
            </a:r>
            <a:endParaRPr lang="en-US" sz="1507" dirty="0"/>
          </a:p>
          <a:p>
            <a:pPr>
              <a:lnSpc>
                <a:spcPts val="2185"/>
              </a:lnSpc>
            </a:pPr>
            <a:r>
              <a:rPr lang="en-US" sz="1507" kern="0" spc="15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7" dirty="0"/>
          </a:p>
        </p:txBody>
      </p:sp>
      <p:sp>
        <p:nvSpPr>
          <p:cNvPr id="18" name="Text 13"/>
          <p:cNvSpPr/>
          <p:nvPr/>
        </p:nvSpPr>
        <p:spPr>
          <a:xfrm>
            <a:off x="2432447" y="5426472"/>
            <a:ext cx="7327107" cy="10120"/>
          </a:xfrm>
          <a:prstGeom prst="rect">
            <a:avLst/>
          </a:prstGeom>
          <a:solidFill>
            <a:srgbClr val="00C6A7">
              <a:alpha val="12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19" name="Text 14"/>
          <p:cNvSpPr/>
          <p:nvPr/>
        </p:nvSpPr>
        <p:spPr>
          <a:xfrm>
            <a:off x="2393553" y="5702101"/>
            <a:ext cx="76200" cy="76200"/>
          </a:xfrm>
          <a:prstGeom prst="ellipse">
            <a:avLst/>
          </a:prstGeom>
          <a:noFill/>
          <a:ln>
            <a:solidFill>
              <a:srgbClr val="15A0FF"/>
            </a:solidFill>
          </a:ln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20" name="Text 15"/>
          <p:cNvSpPr/>
          <p:nvPr/>
        </p:nvSpPr>
        <p:spPr>
          <a:xfrm>
            <a:off x="2603500" y="5607448"/>
            <a:ext cx="7338845" cy="358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85"/>
              </a:lnSpc>
            </a:pPr>
            <a:r>
              <a:rPr lang="en-US" sz="1507" kern="0" spc="15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</a:t>
            </a:r>
            <a:r>
              <a:rPr lang="en-US" sz="1507" b="1" kern="0" spc="15" dirty="0">
                <a:solidFill>
                  <a:srgbClr val="15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tree recommendations </a:t>
            </a:r>
            <a:r>
              <a:rPr lang="en-US" sz="1507" kern="0" spc="15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</a:t>
            </a:r>
            <a:r>
              <a:rPr lang="en-US" sz="1507" kern="0" spc="15" dirty="0" err="1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Cyclistic’s</a:t>
            </a:r>
            <a:r>
              <a:rPr lang="en-US" sz="1507" kern="0" spc="15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membership growth strategy</a:t>
            </a:r>
          </a:p>
        </p:txBody>
      </p:sp>
      <p:sp>
        <p:nvSpPr>
          <p:cNvPr id="23" name="Text 17"/>
          <p:cNvSpPr/>
          <p:nvPr/>
        </p:nvSpPr>
        <p:spPr>
          <a:xfrm>
            <a:off x="11173222" y="496094"/>
            <a:ext cx="47228" cy="47228"/>
          </a:xfrm>
          <a:prstGeom prst="ellipse">
            <a:avLst/>
          </a:prstGeom>
          <a:solidFill>
            <a:srgbClr val="15A0FF">
              <a:alpha val="45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24" name="Text 18"/>
          <p:cNvSpPr/>
          <p:nvPr/>
        </p:nvSpPr>
        <p:spPr>
          <a:xfrm>
            <a:off x="11277998" y="496094"/>
            <a:ext cx="47228" cy="47228"/>
          </a:xfrm>
          <a:prstGeom prst="ellipse">
            <a:avLst/>
          </a:prstGeom>
          <a:solidFill>
            <a:srgbClr val="15A0FF">
              <a:alpha val="45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25" name="Text 19"/>
          <p:cNvSpPr/>
          <p:nvPr/>
        </p:nvSpPr>
        <p:spPr>
          <a:xfrm>
            <a:off x="11382773" y="496094"/>
            <a:ext cx="47228" cy="47228"/>
          </a:xfrm>
          <a:prstGeom prst="ellipse">
            <a:avLst/>
          </a:prstGeom>
          <a:solidFill>
            <a:srgbClr val="15A0FF">
              <a:alpha val="45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42" name="Text 3">
            <a:extLst>
              <a:ext uri="{FF2B5EF4-FFF2-40B4-BE49-F238E27FC236}">
                <a16:creationId xmlns:a16="http://schemas.microsoft.com/office/drawing/2014/main" id="{6DB9BEE0-E3B8-8637-26AD-A8169458B572}"/>
              </a:ext>
            </a:extLst>
          </p:cNvPr>
          <p:cNvSpPr/>
          <p:nvPr/>
        </p:nvSpPr>
        <p:spPr>
          <a:xfrm>
            <a:off x="5172075" y="3550228"/>
            <a:ext cx="1884604" cy="292497"/>
          </a:xfrm>
          <a:prstGeom prst="roundRect">
            <a:avLst>
              <a:gd name="adj" fmla="val 65418"/>
            </a:avLst>
          </a:prstGeom>
          <a:solidFill>
            <a:srgbClr val="00C6A7">
              <a:alpha val="12000"/>
            </a:srgbClr>
          </a:solidFill>
          <a:ln w="9525">
            <a:solidFill>
              <a:srgbClr val="15A0FF">
                <a:alpha val="30000"/>
              </a:srgbClr>
            </a:solidFill>
          </a:ln>
        </p:spPr>
        <p:txBody>
          <a:bodyPr wrap="none" lIns="284017" tIns="47413" rIns="152400" bIns="47413" rtlCol="0" anchor="ctr"/>
          <a:lstStyle/>
          <a:p>
            <a:r>
              <a:rPr lang="en-US" sz="907" b="1" kern="0" spc="127" dirty="0">
                <a:solidFill>
                  <a:srgbClr val="15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KEY TASKS</a:t>
            </a:r>
            <a:endParaRPr lang="en-US" sz="907" dirty="0">
              <a:solidFill>
                <a:srgbClr val="15A0FF"/>
              </a:solidFill>
            </a:endParaRPr>
          </a:p>
        </p:txBody>
      </p:sp>
      <p:pic>
        <p:nvPicPr>
          <p:cNvPr id="46" name="Graphic 45" descr="Postit Notes with solid fill">
            <a:extLst>
              <a:ext uri="{FF2B5EF4-FFF2-40B4-BE49-F238E27FC236}">
                <a16:creationId xmlns:a16="http://schemas.microsoft.com/office/drawing/2014/main" id="{85667E87-920E-6B03-0E03-5288B62087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72289" y="3558859"/>
            <a:ext cx="234948" cy="234948"/>
          </a:xfrm>
          <a:prstGeom prst="rect">
            <a:avLst/>
          </a:prstGeom>
        </p:spPr>
      </p:pic>
      <p:sp>
        <p:nvSpPr>
          <p:cNvPr id="3" name="Text 29">
            <a:extLst>
              <a:ext uri="{FF2B5EF4-FFF2-40B4-BE49-F238E27FC236}">
                <a16:creationId xmlns:a16="http://schemas.microsoft.com/office/drawing/2014/main" id="{66AD785B-9FF6-11A0-C129-0849135967D8}"/>
              </a:ext>
            </a:extLst>
          </p:cNvPr>
          <p:cNvSpPr/>
          <p:nvPr/>
        </p:nvSpPr>
        <p:spPr>
          <a:xfrm>
            <a:off x="0" y="6343819"/>
            <a:ext cx="12192000" cy="514747"/>
          </a:xfrm>
          <a:prstGeom prst="rect">
            <a:avLst/>
          </a:prstGeom>
          <a:gradFill rotWithShape="1">
            <a:gsLst>
              <a:gs pos="0">
                <a:srgbClr val="16204A">
                  <a:alpha val="60000"/>
                </a:srgbClr>
              </a:gs>
              <a:gs pos="100000">
                <a:srgbClr val="0D1B2A">
                  <a:alpha val="6000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602329B1-5AD9-7D9B-3F07-047B69AB4351}"/>
              </a:ext>
            </a:extLst>
          </p:cNvPr>
          <p:cNvSpPr/>
          <p:nvPr/>
        </p:nvSpPr>
        <p:spPr>
          <a:xfrm>
            <a:off x="0" y="6343820"/>
            <a:ext cx="12192000" cy="12700"/>
          </a:xfrm>
          <a:prstGeom prst="rect">
            <a:avLst/>
          </a:prstGeom>
          <a:solidFill>
            <a:srgbClr val="00C6A7">
              <a:alpha val="2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63D2C144-3DC0-DB39-F258-214353E6F7ED}"/>
              </a:ext>
            </a:extLst>
          </p:cNvPr>
          <p:cNvSpPr/>
          <p:nvPr/>
        </p:nvSpPr>
        <p:spPr>
          <a:xfrm>
            <a:off x="5693172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1" name="Text 33">
            <a:extLst>
              <a:ext uri="{FF2B5EF4-FFF2-40B4-BE49-F238E27FC236}">
                <a16:creationId xmlns:a16="http://schemas.microsoft.com/office/drawing/2014/main" id="{FD929647-86B8-0F8A-7791-7F97866F9769}"/>
              </a:ext>
            </a:extLst>
          </p:cNvPr>
          <p:cNvSpPr/>
          <p:nvPr/>
        </p:nvSpPr>
        <p:spPr>
          <a:xfrm>
            <a:off x="5808265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4" name="Text 34">
            <a:extLst>
              <a:ext uri="{FF2B5EF4-FFF2-40B4-BE49-F238E27FC236}">
                <a16:creationId xmlns:a16="http://schemas.microsoft.com/office/drawing/2014/main" id="{4F2DA9D4-E9C3-23F8-3082-8E97437F6791}"/>
              </a:ext>
            </a:extLst>
          </p:cNvPr>
          <p:cNvSpPr/>
          <p:nvPr/>
        </p:nvSpPr>
        <p:spPr>
          <a:xfrm>
            <a:off x="5923360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6" name="Text 35">
            <a:extLst>
              <a:ext uri="{FF2B5EF4-FFF2-40B4-BE49-F238E27FC236}">
                <a16:creationId xmlns:a16="http://schemas.microsoft.com/office/drawing/2014/main" id="{2600A4CD-0B6F-95C9-5E27-641D760C2F09}"/>
              </a:ext>
            </a:extLst>
          </p:cNvPr>
          <p:cNvSpPr/>
          <p:nvPr/>
        </p:nvSpPr>
        <p:spPr>
          <a:xfrm>
            <a:off x="6038453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9B2D2603-C74E-434E-0212-5DA91E975446}"/>
              </a:ext>
            </a:extLst>
          </p:cNvPr>
          <p:cNvSpPr/>
          <p:nvPr/>
        </p:nvSpPr>
        <p:spPr>
          <a:xfrm>
            <a:off x="6153547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0A2DBA0B-479A-85A1-DD68-582A9106569C}"/>
              </a:ext>
            </a:extLst>
          </p:cNvPr>
          <p:cNvSpPr/>
          <p:nvPr/>
        </p:nvSpPr>
        <p:spPr>
          <a:xfrm>
            <a:off x="6268640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AFD3FE22-E194-B7E7-3071-3CDF75F48D4C}"/>
              </a:ext>
            </a:extLst>
          </p:cNvPr>
          <p:cNvSpPr/>
          <p:nvPr/>
        </p:nvSpPr>
        <p:spPr>
          <a:xfrm>
            <a:off x="6383735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5" name="Text 39">
            <a:extLst>
              <a:ext uri="{FF2B5EF4-FFF2-40B4-BE49-F238E27FC236}">
                <a16:creationId xmlns:a16="http://schemas.microsoft.com/office/drawing/2014/main" id="{2529CAD1-76D0-DA0A-3B38-D1ACCF1AC545}"/>
              </a:ext>
            </a:extLst>
          </p:cNvPr>
          <p:cNvSpPr/>
          <p:nvPr/>
        </p:nvSpPr>
        <p:spPr>
          <a:xfrm>
            <a:off x="6498828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B2B0182F-131A-F93B-2711-10014300C0A4}"/>
              </a:ext>
            </a:extLst>
          </p:cNvPr>
          <p:cNvSpPr/>
          <p:nvPr/>
        </p:nvSpPr>
        <p:spPr>
          <a:xfrm>
            <a:off x="6613921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62BA8343-D3A2-FAE7-53B5-34BC77950468}"/>
              </a:ext>
            </a:extLst>
          </p:cNvPr>
          <p:cNvSpPr/>
          <p:nvPr/>
        </p:nvSpPr>
        <p:spPr>
          <a:xfrm>
            <a:off x="6729016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5" name="Text 42">
            <a:extLst>
              <a:ext uri="{FF2B5EF4-FFF2-40B4-BE49-F238E27FC236}">
                <a16:creationId xmlns:a16="http://schemas.microsoft.com/office/drawing/2014/main" id="{2B2D5B30-6A7F-ECFD-595A-29C1E224CEA9}"/>
              </a:ext>
            </a:extLst>
          </p:cNvPr>
          <p:cNvSpPr/>
          <p:nvPr/>
        </p:nvSpPr>
        <p:spPr>
          <a:xfrm>
            <a:off x="6844109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9" name="Text 43">
            <a:extLst>
              <a:ext uri="{FF2B5EF4-FFF2-40B4-BE49-F238E27FC236}">
                <a16:creationId xmlns:a16="http://schemas.microsoft.com/office/drawing/2014/main" id="{907B6CA5-F2DA-D2C2-6A53-AE98F1687BA4}"/>
              </a:ext>
            </a:extLst>
          </p:cNvPr>
          <p:cNvSpPr/>
          <p:nvPr/>
        </p:nvSpPr>
        <p:spPr>
          <a:xfrm>
            <a:off x="9235167" y="6504980"/>
            <a:ext cx="2451952" cy="13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ts val="1460"/>
              </a:lnSpc>
            </a:pPr>
            <a:r>
              <a:rPr lang="en-US" sz="973" kern="0" spc="49" dirty="0">
                <a:solidFill>
                  <a:schemeClr val="bg1">
                    <a:lumMod val="50000"/>
                  </a:scheme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Prepared by Younggi Kim </a:t>
            </a:r>
            <a:endParaRPr lang="en-US" sz="973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3" name="Image 3" descr="preencoded.png">
            <a:extLst>
              <a:ext uri="{FF2B5EF4-FFF2-40B4-BE49-F238E27FC236}">
                <a16:creationId xmlns:a16="http://schemas.microsoft.com/office/drawing/2014/main" id="{51A1D788-AAB3-3EC2-6D52-6EF452B5DBCC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5088" y="6519150"/>
            <a:ext cx="176784" cy="176784"/>
          </a:xfrm>
          <a:prstGeom prst="rect">
            <a:avLst/>
          </a:prstGeom>
        </p:spPr>
      </p:pic>
      <p:sp>
        <p:nvSpPr>
          <p:cNvPr id="67" name="Text 16">
            <a:extLst>
              <a:ext uri="{FF2B5EF4-FFF2-40B4-BE49-F238E27FC236}">
                <a16:creationId xmlns:a16="http://schemas.microsoft.com/office/drawing/2014/main" id="{AA14A5B2-CC70-0D34-13DD-222ED89E0DBA}"/>
              </a:ext>
            </a:extLst>
          </p:cNvPr>
          <p:cNvSpPr/>
          <p:nvPr/>
        </p:nvSpPr>
        <p:spPr>
          <a:xfrm>
            <a:off x="892831" y="6519150"/>
            <a:ext cx="4319349" cy="172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360"/>
              </a:lnSpc>
            </a:pPr>
            <a:r>
              <a:rPr lang="en-US" sz="907" dirty="0">
                <a:solidFill>
                  <a:srgbClr val="6E8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CYCLISTIC BIKE-SHARE · GOOGLE DATA ANALYTICS CAPSTONE</a:t>
            </a:r>
            <a:endParaRPr lang="en-US" sz="907" dirty="0">
              <a:solidFill>
                <a:srgbClr val="6E809F"/>
              </a:solidFill>
            </a:endParaRPr>
          </a:p>
        </p:txBody>
      </p:sp>
      <p:sp>
        <p:nvSpPr>
          <p:cNvPr id="29" name="Text 0">
            <a:extLst>
              <a:ext uri="{FF2B5EF4-FFF2-40B4-BE49-F238E27FC236}">
                <a16:creationId xmlns:a16="http://schemas.microsoft.com/office/drawing/2014/main" id="{B0060C66-750A-CE92-E923-299D5765EE47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E4002B">
              <a:alpha val="87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6B3BC-BE33-DB2F-363E-2E3D69F4E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>
            <a:extLst>
              <a:ext uri="{FF2B5EF4-FFF2-40B4-BE49-F238E27FC236}">
                <a16:creationId xmlns:a16="http://schemas.microsoft.com/office/drawing/2014/main" id="{6A8EC849-7E99-311E-9E3F-83EC41E1FFE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C122C">
                  <a:alpha val="96863"/>
                </a:srgbClr>
              </a:gs>
              <a:gs pos="50000">
                <a:srgbClr val="002060">
                  <a:alpha val="92000"/>
                </a:srgbClr>
              </a:gs>
              <a:gs pos="100000">
                <a:srgbClr val="15A0FF">
                  <a:alpha val="8000"/>
                </a:srgbClr>
              </a:gs>
            </a:gsLst>
            <a:lin ang="420000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FDF0459-5111-1D92-2314-8304C78EC051}"/>
              </a:ext>
            </a:extLst>
          </p:cNvPr>
          <p:cNvSpPr/>
          <p:nvPr/>
        </p:nvSpPr>
        <p:spPr>
          <a:xfrm>
            <a:off x="609600" y="228601"/>
            <a:ext cx="12070080" cy="157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40"/>
              </a:lnSpc>
            </a:pPr>
            <a:r>
              <a:rPr lang="en-US" sz="827" b="1" kern="0" spc="227" dirty="0">
                <a:solidFill>
                  <a:srgbClr val="15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CONTEXT</a:t>
            </a:r>
            <a:endParaRPr lang="en-US" sz="827" dirty="0">
              <a:solidFill>
                <a:srgbClr val="15A0FF"/>
              </a:solidFill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FDA990C-F2E7-A9AF-94B9-0B59E88B41F3}"/>
              </a:ext>
            </a:extLst>
          </p:cNvPr>
          <p:cNvSpPr/>
          <p:nvPr/>
        </p:nvSpPr>
        <p:spPr>
          <a:xfrm>
            <a:off x="609600" y="424855"/>
            <a:ext cx="11740896" cy="355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1"/>
              </a:lnSpc>
            </a:pPr>
            <a:r>
              <a:rPr lang="en-US" sz="2547" kern="0" spc="-4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Factors </a:t>
            </a:r>
            <a:r>
              <a:rPr lang="en-US" sz="2547" kern="0" spc="-40" dirty="0">
                <a:solidFill>
                  <a:srgbClr val="15A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Shaping</a:t>
            </a:r>
            <a:r>
              <a:rPr lang="en-US" sz="2547" kern="0" spc="-4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the Analysis</a:t>
            </a:r>
            <a:endParaRPr lang="en-US" sz="2547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362F324-15D0-E297-9355-5F7B16A8D83F}"/>
              </a:ext>
            </a:extLst>
          </p:cNvPr>
          <p:cNvSpPr/>
          <p:nvPr/>
        </p:nvSpPr>
        <p:spPr>
          <a:xfrm>
            <a:off x="609600" y="875308"/>
            <a:ext cx="10972800" cy="10120"/>
          </a:xfrm>
          <a:prstGeom prst="rect">
            <a:avLst/>
          </a:prstGeom>
          <a:gradFill rotWithShape="1">
            <a:gsLst>
              <a:gs pos="0">
                <a:srgbClr val="00C6A7"/>
              </a:gs>
              <a:gs pos="40000">
                <a:srgbClr val="00C6A7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F7A6604-BE82-201F-4DA7-43076677AA7B}"/>
              </a:ext>
            </a:extLst>
          </p:cNvPr>
          <p:cNvSpPr/>
          <p:nvPr/>
        </p:nvSpPr>
        <p:spPr>
          <a:xfrm>
            <a:off x="6090940" y="1237655"/>
            <a:ext cx="10120" cy="5124252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5000">
                <a:srgbClr val="94A3B8">
                  <a:alpha val="25000"/>
                </a:srgbClr>
              </a:gs>
              <a:gs pos="85000">
                <a:srgbClr val="94A3B8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263F329-CFC3-3C45-A29C-D05690DDF069}"/>
              </a:ext>
            </a:extLst>
          </p:cNvPr>
          <p:cNvSpPr/>
          <p:nvPr/>
        </p:nvSpPr>
        <p:spPr>
          <a:xfrm>
            <a:off x="496193" y="1246672"/>
            <a:ext cx="5461000" cy="4976497"/>
          </a:xfrm>
          <a:prstGeom prst="roundRect">
            <a:avLst>
              <a:gd name="adj" fmla="val 2614"/>
            </a:avLst>
          </a:prstGeom>
          <a:solidFill>
            <a:schemeClr val="accent1">
              <a:lumMod val="50000"/>
            </a:scheme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B7567AA-BD39-95C0-3186-B62B26DB0514}"/>
              </a:ext>
            </a:extLst>
          </p:cNvPr>
          <p:cNvSpPr/>
          <p:nvPr/>
        </p:nvSpPr>
        <p:spPr>
          <a:xfrm>
            <a:off x="6261100" y="1235304"/>
            <a:ext cx="5461000" cy="4987865"/>
          </a:xfrm>
          <a:prstGeom prst="roundRect">
            <a:avLst>
              <a:gd name="adj" fmla="val 2614"/>
            </a:avLst>
          </a:prstGeom>
          <a:solidFill>
            <a:srgbClr val="6C2424">
              <a:alpha val="80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15A1BC9-280F-60CD-BE0B-B7EB0C8B2604}"/>
              </a:ext>
            </a:extLst>
          </p:cNvPr>
          <p:cNvSpPr/>
          <p:nvPr/>
        </p:nvSpPr>
        <p:spPr>
          <a:xfrm>
            <a:off x="737393" y="1460500"/>
            <a:ext cx="362347" cy="362347"/>
          </a:xfrm>
          <a:prstGeom prst="roundRect">
            <a:avLst>
              <a:gd name="adj" fmla="val 26170"/>
            </a:avLst>
          </a:prstGeom>
          <a:solidFill>
            <a:srgbClr val="00C6A7">
              <a:alpha val="18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1E61BD44-7658-AA9D-5D09-B4E9D9E63DD7}"/>
              </a:ext>
            </a:extLst>
          </p:cNvPr>
          <p:cNvSpPr/>
          <p:nvPr/>
        </p:nvSpPr>
        <p:spPr>
          <a:xfrm>
            <a:off x="1194395" y="1498203"/>
            <a:ext cx="2579847" cy="2869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2260"/>
              </a:lnSpc>
            </a:pPr>
            <a:r>
              <a:rPr lang="en-CA" sz="1507" b="1" kern="0" spc="40" dirty="0">
                <a:solidFill>
                  <a:srgbClr val="15A0FF"/>
                </a:solidFill>
                <a:latin typeface="Calibri Light" pitchFamily="34" charset="0"/>
                <a:cs typeface="Calibri Light" pitchFamily="34" charset="-120"/>
              </a:rPr>
              <a:t>Data</a:t>
            </a:r>
            <a:r>
              <a:rPr lang="ko-KR" altLang="en-US" sz="1507" b="1" kern="0" spc="40" dirty="0">
                <a:solidFill>
                  <a:srgbClr val="15A0FF"/>
                </a:solidFill>
                <a:latin typeface="Calibri Light" pitchFamily="34" charset="0"/>
                <a:cs typeface="Calibri Light" pitchFamily="34" charset="-120"/>
              </a:rPr>
              <a:t> </a:t>
            </a:r>
            <a:r>
              <a:rPr lang="en-CA" altLang="ko-KR" sz="1507" b="1" kern="0" spc="40" dirty="0">
                <a:solidFill>
                  <a:srgbClr val="15A0FF"/>
                </a:solidFill>
                <a:latin typeface="Calibri Light" pitchFamily="34" charset="0"/>
                <a:cs typeface="Calibri Light" pitchFamily="34" charset="-120"/>
              </a:rPr>
              <a:t>overview</a:t>
            </a:r>
            <a:r>
              <a:rPr lang="ko-KR" altLang="en-US" sz="1507" b="1" kern="0" spc="40" dirty="0">
                <a:solidFill>
                  <a:srgbClr val="15A0FF"/>
                </a:solidFill>
                <a:latin typeface="Calibri Light" pitchFamily="34" charset="0"/>
                <a:cs typeface="Calibri Light" pitchFamily="34" charset="-120"/>
              </a:rPr>
              <a:t> </a:t>
            </a:r>
            <a:r>
              <a:rPr lang="en-CA" altLang="ko-KR" sz="1507" b="1" kern="0" spc="40" dirty="0">
                <a:solidFill>
                  <a:srgbClr val="15A0FF"/>
                </a:solidFill>
                <a:latin typeface="Calibri Light" pitchFamily="34" charset="0"/>
                <a:cs typeface="Calibri Light" pitchFamily="34" charset="-120"/>
              </a:rPr>
              <a:t>and</a:t>
            </a:r>
            <a:r>
              <a:rPr lang="ko-KR" altLang="en-US" sz="1507" b="1" kern="0" spc="40" dirty="0">
                <a:solidFill>
                  <a:srgbClr val="15A0FF"/>
                </a:solidFill>
                <a:latin typeface="Calibri Light" pitchFamily="34" charset="0"/>
                <a:cs typeface="Calibri Light" pitchFamily="34" charset="-120"/>
              </a:rPr>
              <a:t> </a:t>
            </a:r>
            <a:r>
              <a:rPr lang="en-CA" altLang="ko-KR" sz="1507" b="1" kern="0" spc="40" dirty="0">
                <a:solidFill>
                  <a:srgbClr val="15A0FF"/>
                </a:solidFill>
                <a:latin typeface="Calibri Light" pitchFamily="34" charset="0"/>
                <a:cs typeface="Calibri Light" pitchFamily="34" charset="-120"/>
              </a:rPr>
              <a:t>Analysis Tools</a:t>
            </a:r>
            <a:endParaRPr lang="en-US" sz="1507" dirty="0">
              <a:solidFill>
                <a:srgbClr val="15A0FF"/>
              </a:solidFill>
            </a:endParaRP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E751E6B0-F163-2E0E-F57E-4D9737A60868}"/>
              </a:ext>
            </a:extLst>
          </p:cNvPr>
          <p:cNvSpPr/>
          <p:nvPr/>
        </p:nvSpPr>
        <p:spPr>
          <a:xfrm>
            <a:off x="737394" y="1995488"/>
            <a:ext cx="4926012" cy="10120"/>
          </a:xfrm>
          <a:prstGeom prst="rect">
            <a:avLst/>
          </a:prstGeom>
          <a:gradFill rotWithShape="1">
            <a:gsLst>
              <a:gs pos="0">
                <a:srgbClr val="00C6A7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5069FFA4-3EE7-7345-0526-830E6A197328}"/>
              </a:ext>
            </a:extLst>
          </p:cNvPr>
          <p:cNvSpPr/>
          <p:nvPr/>
        </p:nvSpPr>
        <p:spPr>
          <a:xfrm>
            <a:off x="737394" y="2139157"/>
            <a:ext cx="4926012" cy="584993"/>
          </a:xfrm>
          <a:prstGeom prst="roundRect">
            <a:avLst>
              <a:gd name="adj" fmla="val 13026"/>
            </a:avLst>
          </a:prstGeom>
          <a:solidFill>
            <a:srgbClr val="00C6A7">
              <a:alpha val="17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8771FA37-DFE4-8294-B4D3-CF0DA5BC68C5}"/>
              </a:ext>
            </a:extLst>
          </p:cNvPr>
          <p:cNvSpPr/>
          <p:nvPr/>
        </p:nvSpPr>
        <p:spPr>
          <a:xfrm>
            <a:off x="852488" y="2301586"/>
            <a:ext cx="286147" cy="286147"/>
          </a:xfrm>
          <a:prstGeom prst="roundRect">
            <a:avLst>
              <a:gd name="adj" fmla="val 26630"/>
            </a:avLst>
          </a:prstGeom>
          <a:solidFill>
            <a:srgbClr val="00C6A7">
              <a:alpha val="14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526D45B5-63A2-8D5D-D2FD-D8E0C8AA71BD}"/>
              </a:ext>
            </a:extLst>
          </p:cNvPr>
          <p:cNvSpPr/>
          <p:nvPr/>
        </p:nvSpPr>
        <p:spPr>
          <a:xfrm>
            <a:off x="1253729" y="2224841"/>
            <a:ext cx="4380476" cy="432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24"/>
              </a:lnSpc>
            </a:pPr>
            <a:r>
              <a:rPr lang="en-US" sz="112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Cyclistic historical trip data (2013-2026)</a:t>
            </a: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A77D4855-2F86-E987-2054-1100318C8613}"/>
              </a:ext>
            </a:extLst>
          </p:cNvPr>
          <p:cNvSpPr/>
          <p:nvPr/>
        </p:nvSpPr>
        <p:spPr>
          <a:xfrm>
            <a:off x="737394" y="2857721"/>
            <a:ext cx="4926012" cy="584993"/>
          </a:xfrm>
          <a:prstGeom prst="roundRect">
            <a:avLst>
              <a:gd name="adj" fmla="val 13026"/>
            </a:avLst>
          </a:prstGeom>
          <a:solidFill>
            <a:srgbClr val="00C6A7">
              <a:alpha val="17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1ECD9983-1827-1797-920B-6E41EF1339D1}"/>
              </a:ext>
            </a:extLst>
          </p:cNvPr>
          <p:cNvSpPr/>
          <p:nvPr/>
        </p:nvSpPr>
        <p:spPr>
          <a:xfrm>
            <a:off x="852488" y="2994951"/>
            <a:ext cx="286147" cy="286147"/>
          </a:xfrm>
          <a:prstGeom prst="roundRect">
            <a:avLst>
              <a:gd name="adj" fmla="val 26630"/>
            </a:avLst>
          </a:prstGeom>
          <a:solidFill>
            <a:srgbClr val="00C6A7">
              <a:alpha val="14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26" name="Image 2" descr="preencoded.png">
            <a:extLst>
              <a:ext uri="{FF2B5EF4-FFF2-40B4-BE49-F238E27FC236}">
                <a16:creationId xmlns:a16="http://schemas.microsoft.com/office/drawing/2014/main" id="{90AF143E-B326-6958-0ABB-0D1BAB85AF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4999" y="3784184"/>
            <a:ext cx="176784" cy="176784"/>
          </a:xfrm>
          <a:prstGeom prst="rect">
            <a:avLst/>
          </a:prstGeom>
        </p:spPr>
      </p:pic>
      <p:sp>
        <p:nvSpPr>
          <p:cNvPr id="27" name="Text 22">
            <a:extLst>
              <a:ext uri="{FF2B5EF4-FFF2-40B4-BE49-F238E27FC236}">
                <a16:creationId xmlns:a16="http://schemas.microsoft.com/office/drawing/2014/main" id="{3E5812DC-5D23-8295-0E20-926013601AA5}"/>
              </a:ext>
            </a:extLst>
          </p:cNvPr>
          <p:cNvSpPr/>
          <p:nvPr/>
        </p:nvSpPr>
        <p:spPr>
          <a:xfrm>
            <a:off x="1253729" y="2935193"/>
            <a:ext cx="4380476" cy="432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24"/>
              </a:lnSpc>
            </a:pPr>
            <a:r>
              <a:rPr lang="en-US" sz="112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: Multiple CSV files with varying structures(monthly/quarterly) </a:t>
            </a:r>
            <a:endParaRPr lang="en-US" sz="1120" dirty="0"/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240BC2BC-841C-9566-AC43-749505BE9A95}"/>
              </a:ext>
            </a:extLst>
          </p:cNvPr>
          <p:cNvSpPr/>
          <p:nvPr/>
        </p:nvSpPr>
        <p:spPr>
          <a:xfrm>
            <a:off x="737394" y="3576276"/>
            <a:ext cx="4926012" cy="584993"/>
          </a:xfrm>
          <a:prstGeom prst="roundRect">
            <a:avLst>
              <a:gd name="adj" fmla="val 13026"/>
            </a:avLst>
          </a:prstGeom>
          <a:solidFill>
            <a:srgbClr val="00C6A7">
              <a:alpha val="17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CCF8B387-7CFE-9F6B-04CD-A3C557B91ADB}"/>
              </a:ext>
            </a:extLst>
          </p:cNvPr>
          <p:cNvSpPr/>
          <p:nvPr/>
        </p:nvSpPr>
        <p:spPr>
          <a:xfrm>
            <a:off x="852488" y="3723521"/>
            <a:ext cx="286147" cy="286147"/>
          </a:xfrm>
          <a:prstGeom prst="roundRect">
            <a:avLst>
              <a:gd name="adj" fmla="val 26630"/>
            </a:avLst>
          </a:prstGeom>
          <a:solidFill>
            <a:srgbClr val="00C6A7">
              <a:alpha val="14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A05BC453-B9ED-D128-BBC0-62E557A9F516}"/>
              </a:ext>
            </a:extLst>
          </p:cNvPr>
          <p:cNvSpPr/>
          <p:nvPr/>
        </p:nvSpPr>
        <p:spPr>
          <a:xfrm>
            <a:off x="1253729" y="3662596"/>
            <a:ext cx="4380476" cy="432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24"/>
              </a:lnSpc>
            </a:pPr>
            <a:endParaRPr lang="en-US" sz="1120" dirty="0"/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1B9603EE-3E6B-BD50-A2DC-E86B237319BC}"/>
              </a:ext>
            </a:extLst>
          </p:cNvPr>
          <p:cNvSpPr/>
          <p:nvPr/>
        </p:nvSpPr>
        <p:spPr>
          <a:xfrm>
            <a:off x="737394" y="4294849"/>
            <a:ext cx="4926012" cy="584993"/>
          </a:xfrm>
          <a:prstGeom prst="roundRect">
            <a:avLst>
              <a:gd name="adj" fmla="val 13026"/>
            </a:avLst>
          </a:prstGeom>
          <a:solidFill>
            <a:srgbClr val="00C6A7">
              <a:alpha val="17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234A76F0-0240-F009-C6C0-D577C178BE15}"/>
              </a:ext>
            </a:extLst>
          </p:cNvPr>
          <p:cNvSpPr/>
          <p:nvPr/>
        </p:nvSpPr>
        <p:spPr>
          <a:xfrm>
            <a:off x="852488" y="4412063"/>
            <a:ext cx="286147" cy="286147"/>
          </a:xfrm>
          <a:prstGeom prst="roundRect">
            <a:avLst>
              <a:gd name="adj" fmla="val 26630"/>
            </a:avLst>
          </a:prstGeom>
          <a:solidFill>
            <a:srgbClr val="00C6A7">
              <a:alpha val="14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DBCD1D52-5D58-858F-AA7A-5232D4398547}"/>
              </a:ext>
            </a:extLst>
          </p:cNvPr>
          <p:cNvSpPr/>
          <p:nvPr/>
        </p:nvSpPr>
        <p:spPr>
          <a:xfrm>
            <a:off x="6528593" y="1460500"/>
            <a:ext cx="362347" cy="362347"/>
          </a:xfrm>
          <a:prstGeom prst="roundRect">
            <a:avLst>
              <a:gd name="adj" fmla="val 26170"/>
            </a:avLst>
          </a:prstGeom>
          <a:solidFill>
            <a:srgbClr val="FF6600">
              <a:alpha val="18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38" name="Text 30">
            <a:extLst>
              <a:ext uri="{FF2B5EF4-FFF2-40B4-BE49-F238E27FC236}">
                <a16:creationId xmlns:a16="http://schemas.microsoft.com/office/drawing/2014/main" id="{66CBA411-2F37-2710-1EFA-E4A1ADF834A3}"/>
              </a:ext>
            </a:extLst>
          </p:cNvPr>
          <p:cNvSpPr/>
          <p:nvPr/>
        </p:nvSpPr>
        <p:spPr>
          <a:xfrm>
            <a:off x="6985595" y="1498203"/>
            <a:ext cx="1229579" cy="2869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2260"/>
              </a:lnSpc>
            </a:pPr>
            <a:r>
              <a:rPr lang="en-US" sz="1507" b="1" kern="0" spc="40" dirty="0">
                <a:solidFill>
                  <a:srgbClr val="ED7D3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Privacy Issue and Limitations of Analysis</a:t>
            </a:r>
            <a:endParaRPr lang="en-US" sz="1507" dirty="0">
              <a:solidFill>
                <a:srgbClr val="ED7D31"/>
              </a:solidFill>
            </a:endParaRPr>
          </a:p>
        </p:txBody>
      </p:sp>
      <p:sp>
        <p:nvSpPr>
          <p:cNvPr id="40" name="Text 32">
            <a:extLst>
              <a:ext uri="{FF2B5EF4-FFF2-40B4-BE49-F238E27FC236}">
                <a16:creationId xmlns:a16="http://schemas.microsoft.com/office/drawing/2014/main" id="{039FE76E-3C79-46EE-DB46-0121954864C9}"/>
              </a:ext>
            </a:extLst>
          </p:cNvPr>
          <p:cNvSpPr/>
          <p:nvPr/>
        </p:nvSpPr>
        <p:spPr>
          <a:xfrm>
            <a:off x="6528594" y="1995488"/>
            <a:ext cx="4926012" cy="10120"/>
          </a:xfrm>
          <a:prstGeom prst="rect">
            <a:avLst/>
          </a:prstGeom>
          <a:gradFill rotWithShape="1">
            <a:gsLst>
              <a:gs pos="0">
                <a:srgbClr val="F87171">
                  <a:alpha val="3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161FA265-F72D-E376-D911-277022D4444F}"/>
              </a:ext>
            </a:extLst>
          </p:cNvPr>
          <p:cNvSpPr/>
          <p:nvPr/>
        </p:nvSpPr>
        <p:spPr>
          <a:xfrm>
            <a:off x="6528594" y="2139157"/>
            <a:ext cx="4994540" cy="584993"/>
          </a:xfrm>
          <a:prstGeom prst="roundRect">
            <a:avLst>
              <a:gd name="adj" fmla="val 13026"/>
            </a:avLst>
          </a:prstGeom>
          <a:solidFill>
            <a:srgbClr val="B5C23E">
              <a:alpha val="16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42" name="Text 34">
            <a:extLst>
              <a:ext uri="{FF2B5EF4-FFF2-40B4-BE49-F238E27FC236}">
                <a16:creationId xmlns:a16="http://schemas.microsoft.com/office/drawing/2014/main" id="{9A797497-AA33-B81F-5D97-8D7DBE36DF5A}"/>
              </a:ext>
            </a:extLst>
          </p:cNvPr>
          <p:cNvSpPr/>
          <p:nvPr/>
        </p:nvSpPr>
        <p:spPr>
          <a:xfrm>
            <a:off x="6643688" y="2273305"/>
            <a:ext cx="286147" cy="286147"/>
          </a:xfrm>
          <a:prstGeom prst="roundRect">
            <a:avLst>
              <a:gd name="adj" fmla="val 26630"/>
            </a:avLst>
          </a:prstGeom>
          <a:solidFill>
            <a:srgbClr val="FF6600">
              <a:alpha val="2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43" name="Image 6" descr="preencoded.png">
            <a:extLst>
              <a:ext uri="{FF2B5EF4-FFF2-40B4-BE49-F238E27FC236}">
                <a16:creationId xmlns:a16="http://schemas.microsoft.com/office/drawing/2014/main" id="{7F398F2A-95A1-F8C1-1A5B-CD5BBBE721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98369" y="2327987"/>
            <a:ext cx="176784" cy="176784"/>
          </a:xfrm>
          <a:prstGeom prst="rect">
            <a:avLst/>
          </a:prstGeom>
        </p:spPr>
      </p:pic>
      <p:sp>
        <p:nvSpPr>
          <p:cNvPr id="44" name="Text 35">
            <a:extLst>
              <a:ext uri="{FF2B5EF4-FFF2-40B4-BE49-F238E27FC236}">
                <a16:creationId xmlns:a16="http://schemas.microsoft.com/office/drawing/2014/main" id="{D50B7C94-3A23-2230-BDC4-E076A77F1340}"/>
              </a:ext>
            </a:extLst>
          </p:cNvPr>
          <p:cNvSpPr/>
          <p:nvPr/>
        </p:nvSpPr>
        <p:spPr>
          <a:xfrm>
            <a:off x="7044929" y="2225476"/>
            <a:ext cx="4380476" cy="432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24"/>
              </a:lnSpc>
            </a:pPr>
            <a:r>
              <a:rPr lang="en-US" sz="112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Cyclistic’s trip data does not include any personally identifiable information due to strict privacy regulations. </a:t>
            </a:r>
          </a:p>
        </p:txBody>
      </p:sp>
      <p:sp>
        <p:nvSpPr>
          <p:cNvPr id="45" name="Text 36">
            <a:extLst>
              <a:ext uri="{FF2B5EF4-FFF2-40B4-BE49-F238E27FC236}">
                <a16:creationId xmlns:a16="http://schemas.microsoft.com/office/drawing/2014/main" id="{B4F74494-A527-75EF-2600-ECAD76A9A64F}"/>
              </a:ext>
            </a:extLst>
          </p:cNvPr>
          <p:cNvSpPr/>
          <p:nvPr/>
        </p:nvSpPr>
        <p:spPr>
          <a:xfrm>
            <a:off x="6528594" y="2839245"/>
            <a:ext cx="4994540" cy="584993"/>
          </a:xfrm>
          <a:prstGeom prst="roundRect">
            <a:avLst>
              <a:gd name="adj" fmla="val 13026"/>
            </a:avLst>
          </a:prstGeom>
          <a:solidFill>
            <a:srgbClr val="B5C23E">
              <a:alpha val="16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F6EACCCA-A859-B7E8-6469-BAE0379C4653}"/>
              </a:ext>
            </a:extLst>
          </p:cNvPr>
          <p:cNvSpPr/>
          <p:nvPr/>
        </p:nvSpPr>
        <p:spPr>
          <a:xfrm>
            <a:off x="6643688" y="2982819"/>
            <a:ext cx="286147" cy="286147"/>
          </a:xfrm>
          <a:prstGeom prst="roundRect">
            <a:avLst>
              <a:gd name="adj" fmla="val 26630"/>
            </a:avLst>
          </a:prstGeom>
          <a:solidFill>
            <a:srgbClr val="FF6600">
              <a:alpha val="2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47" name="Image 7" descr="preencoded.png">
            <a:extLst>
              <a:ext uri="{FF2B5EF4-FFF2-40B4-BE49-F238E27FC236}">
                <a16:creationId xmlns:a16="http://schemas.microsoft.com/office/drawing/2014/main" id="{87DB90D0-771F-DD7F-CE5F-06A652262D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98369" y="3037500"/>
            <a:ext cx="176784" cy="176784"/>
          </a:xfrm>
          <a:prstGeom prst="rect">
            <a:avLst/>
          </a:prstGeom>
        </p:spPr>
      </p:pic>
      <p:sp>
        <p:nvSpPr>
          <p:cNvPr id="48" name="Text 38">
            <a:extLst>
              <a:ext uri="{FF2B5EF4-FFF2-40B4-BE49-F238E27FC236}">
                <a16:creationId xmlns:a16="http://schemas.microsoft.com/office/drawing/2014/main" id="{835CFD8D-C679-21D2-3F94-309BF9D0FEC7}"/>
              </a:ext>
            </a:extLst>
          </p:cNvPr>
          <p:cNvSpPr/>
          <p:nvPr/>
        </p:nvSpPr>
        <p:spPr>
          <a:xfrm>
            <a:off x="7044929" y="2925564"/>
            <a:ext cx="4380476" cy="432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24"/>
              </a:lnSpc>
            </a:pPr>
            <a:r>
              <a:rPr lang="en-US" sz="112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records cannot be linked to individual customers, credit card numbers, home addresses, or demographic profiles.</a:t>
            </a:r>
            <a:endParaRPr lang="en-US" sz="1120" dirty="0"/>
          </a:p>
        </p:txBody>
      </p:sp>
      <p:sp>
        <p:nvSpPr>
          <p:cNvPr id="49" name="Text 39">
            <a:extLst>
              <a:ext uri="{FF2B5EF4-FFF2-40B4-BE49-F238E27FC236}">
                <a16:creationId xmlns:a16="http://schemas.microsoft.com/office/drawing/2014/main" id="{7489D1D3-9E0E-981B-1575-129D660B3FC7}"/>
              </a:ext>
            </a:extLst>
          </p:cNvPr>
          <p:cNvSpPr/>
          <p:nvPr/>
        </p:nvSpPr>
        <p:spPr>
          <a:xfrm>
            <a:off x="6528594" y="3539332"/>
            <a:ext cx="4994540" cy="584993"/>
          </a:xfrm>
          <a:prstGeom prst="roundRect">
            <a:avLst>
              <a:gd name="adj" fmla="val 13026"/>
            </a:avLst>
          </a:prstGeom>
          <a:solidFill>
            <a:srgbClr val="B5C23E">
              <a:alpha val="16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50" name="Text 40">
            <a:extLst>
              <a:ext uri="{FF2B5EF4-FFF2-40B4-BE49-F238E27FC236}">
                <a16:creationId xmlns:a16="http://schemas.microsoft.com/office/drawing/2014/main" id="{CF7D7280-2BD7-95F5-975F-DE3027E2CDD2}"/>
              </a:ext>
            </a:extLst>
          </p:cNvPr>
          <p:cNvSpPr/>
          <p:nvPr/>
        </p:nvSpPr>
        <p:spPr>
          <a:xfrm>
            <a:off x="6643688" y="3701761"/>
            <a:ext cx="286147" cy="286147"/>
          </a:xfrm>
          <a:prstGeom prst="roundRect">
            <a:avLst>
              <a:gd name="adj" fmla="val 26630"/>
            </a:avLst>
          </a:prstGeom>
          <a:solidFill>
            <a:srgbClr val="FF6600">
              <a:alpha val="2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52" name="Text 41">
            <a:extLst>
              <a:ext uri="{FF2B5EF4-FFF2-40B4-BE49-F238E27FC236}">
                <a16:creationId xmlns:a16="http://schemas.microsoft.com/office/drawing/2014/main" id="{835BB4A6-726E-27D7-665F-2CC01ADBC370}"/>
              </a:ext>
            </a:extLst>
          </p:cNvPr>
          <p:cNvSpPr/>
          <p:nvPr/>
        </p:nvSpPr>
        <p:spPr>
          <a:xfrm>
            <a:off x="7044929" y="3625652"/>
            <a:ext cx="4380476" cy="432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24"/>
              </a:lnSpc>
            </a:pPr>
            <a:r>
              <a:rPr lang="en-US" sz="112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Customer-Level Segmentation — Because rider identities are not available, the analysis cannot determine.</a:t>
            </a:r>
            <a:endParaRPr lang="en-US" sz="1120" dirty="0"/>
          </a:p>
        </p:txBody>
      </p:sp>
      <p:sp>
        <p:nvSpPr>
          <p:cNvPr id="53" name="Text 42">
            <a:extLst>
              <a:ext uri="{FF2B5EF4-FFF2-40B4-BE49-F238E27FC236}">
                <a16:creationId xmlns:a16="http://schemas.microsoft.com/office/drawing/2014/main" id="{2D818B0C-8A5F-88F9-4B89-24C00DF43BBF}"/>
              </a:ext>
            </a:extLst>
          </p:cNvPr>
          <p:cNvSpPr/>
          <p:nvPr/>
        </p:nvSpPr>
        <p:spPr>
          <a:xfrm>
            <a:off x="6528594" y="4239420"/>
            <a:ext cx="4994540" cy="584993"/>
          </a:xfrm>
          <a:prstGeom prst="roundRect">
            <a:avLst>
              <a:gd name="adj" fmla="val 13026"/>
            </a:avLst>
          </a:prstGeom>
          <a:solidFill>
            <a:srgbClr val="B5C23E">
              <a:alpha val="16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54" name="Text 43">
            <a:extLst>
              <a:ext uri="{FF2B5EF4-FFF2-40B4-BE49-F238E27FC236}">
                <a16:creationId xmlns:a16="http://schemas.microsoft.com/office/drawing/2014/main" id="{F4B4A91A-9A29-1A9C-A5C6-B4F7F6B6B366}"/>
              </a:ext>
            </a:extLst>
          </p:cNvPr>
          <p:cNvSpPr/>
          <p:nvPr/>
        </p:nvSpPr>
        <p:spPr>
          <a:xfrm>
            <a:off x="6643688" y="4405717"/>
            <a:ext cx="286147" cy="286147"/>
          </a:xfrm>
          <a:prstGeom prst="roundRect">
            <a:avLst>
              <a:gd name="adj" fmla="val 26630"/>
            </a:avLst>
          </a:prstGeom>
          <a:solidFill>
            <a:srgbClr val="FF6600">
              <a:alpha val="2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55" name="Image 9" descr="preencoded.png">
            <a:extLst>
              <a:ext uri="{FF2B5EF4-FFF2-40B4-BE49-F238E27FC236}">
                <a16:creationId xmlns:a16="http://schemas.microsoft.com/office/drawing/2014/main" id="{5CEA7A6E-AE4A-C5A4-925E-DA0AF2FAEC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98369" y="3753705"/>
            <a:ext cx="176784" cy="176784"/>
          </a:xfrm>
          <a:prstGeom prst="rect">
            <a:avLst/>
          </a:prstGeom>
        </p:spPr>
      </p:pic>
      <p:sp>
        <p:nvSpPr>
          <p:cNvPr id="56" name="Text 44">
            <a:extLst>
              <a:ext uri="{FF2B5EF4-FFF2-40B4-BE49-F238E27FC236}">
                <a16:creationId xmlns:a16="http://schemas.microsoft.com/office/drawing/2014/main" id="{E76442D2-470B-0EEE-EB58-EF9EC07B41AD}"/>
              </a:ext>
            </a:extLst>
          </p:cNvPr>
          <p:cNvSpPr/>
          <p:nvPr/>
        </p:nvSpPr>
        <p:spPr>
          <a:xfrm>
            <a:off x="7044928" y="4325739"/>
            <a:ext cx="4409677" cy="432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24"/>
              </a:lnSpc>
            </a:pPr>
            <a:r>
              <a:rPr lang="en-US" sz="112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Without Motivation —The dataset captures what riders do, but not why. No information about rider motivations and satisfaction levels.</a:t>
            </a:r>
            <a:endParaRPr lang="en-US" sz="1120" dirty="0"/>
          </a:p>
        </p:txBody>
      </p:sp>
      <p:sp>
        <p:nvSpPr>
          <p:cNvPr id="57" name="Text 45">
            <a:extLst>
              <a:ext uri="{FF2B5EF4-FFF2-40B4-BE49-F238E27FC236}">
                <a16:creationId xmlns:a16="http://schemas.microsoft.com/office/drawing/2014/main" id="{A2E228D3-5251-4E78-FBF9-56E54C6A8DA4}"/>
              </a:ext>
            </a:extLst>
          </p:cNvPr>
          <p:cNvSpPr/>
          <p:nvPr/>
        </p:nvSpPr>
        <p:spPr>
          <a:xfrm>
            <a:off x="5924054" y="3627835"/>
            <a:ext cx="343693" cy="378063"/>
          </a:xfrm>
          <a:prstGeom prst="ellipse">
            <a:avLst/>
          </a:prstGeom>
          <a:solidFill>
            <a:srgbClr val="0D1B2A"/>
          </a:solidFill>
          <a:ln w="9525">
            <a:solidFill>
              <a:srgbClr val="94A3B8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/>
            <a:r>
              <a:rPr lang="en-US" sz="747" b="1" kern="0" spc="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747" dirty="0"/>
          </a:p>
        </p:txBody>
      </p:sp>
      <p:pic>
        <p:nvPicPr>
          <p:cNvPr id="69" name="Graphic 68" descr="Pie chart with solid fill">
            <a:extLst>
              <a:ext uri="{FF2B5EF4-FFF2-40B4-BE49-F238E27FC236}">
                <a16:creationId xmlns:a16="http://schemas.microsoft.com/office/drawing/2014/main" id="{AE07AD7A-5756-ABAE-D102-D86F9CDF2F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1513" y="1513779"/>
            <a:ext cx="279935" cy="279935"/>
          </a:xfrm>
          <a:prstGeom prst="rect">
            <a:avLst/>
          </a:prstGeom>
        </p:spPr>
      </p:pic>
      <p:pic>
        <p:nvPicPr>
          <p:cNvPr id="78" name="Graphic 77" descr="Usb Stick outline">
            <a:extLst>
              <a:ext uri="{FF2B5EF4-FFF2-40B4-BE49-F238E27FC236}">
                <a16:creationId xmlns:a16="http://schemas.microsoft.com/office/drawing/2014/main" id="{ACCBF791-452C-C647-B9BC-D03E0EB595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3283" y="2312785"/>
            <a:ext cx="260728" cy="260728"/>
          </a:xfrm>
          <a:prstGeom prst="rect">
            <a:avLst/>
          </a:prstGeom>
        </p:spPr>
      </p:pic>
      <p:sp>
        <p:nvSpPr>
          <p:cNvPr id="80" name="Text 22">
            <a:extLst>
              <a:ext uri="{FF2B5EF4-FFF2-40B4-BE49-F238E27FC236}">
                <a16:creationId xmlns:a16="http://schemas.microsoft.com/office/drawing/2014/main" id="{5C25C10C-6E87-172C-13E9-6192C57FA23E}"/>
              </a:ext>
            </a:extLst>
          </p:cNvPr>
          <p:cNvSpPr/>
          <p:nvPr/>
        </p:nvSpPr>
        <p:spPr>
          <a:xfrm>
            <a:off x="1253729" y="3667329"/>
            <a:ext cx="4380476" cy="432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24"/>
              </a:lnSpc>
            </a:pPr>
            <a:r>
              <a:rPr lang="en-US" sz="112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Consistency Issue:</a:t>
            </a:r>
          </a:p>
          <a:p>
            <a:pPr>
              <a:lnSpc>
                <a:spcPts val="1624"/>
              </a:lnSpc>
            </a:pPr>
            <a:r>
              <a:rPr lang="en-US" sz="112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names vary across years and user-type change over time </a:t>
            </a:r>
            <a:endParaRPr lang="en-US" sz="1120" dirty="0"/>
          </a:p>
        </p:txBody>
      </p:sp>
      <p:sp>
        <p:nvSpPr>
          <p:cNvPr id="81" name="Text 22">
            <a:extLst>
              <a:ext uri="{FF2B5EF4-FFF2-40B4-BE49-F238E27FC236}">
                <a16:creationId xmlns:a16="http://schemas.microsoft.com/office/drawing/2014/main" id="{4F1AC7ED-4EF3-1291-D7BC-741867EA39F5}"/>
              </a:ext>
            </a:extLst>
          </p:cNvPr>
          <p:cNvSpPr/>
          <p:nvPr/>
        </p:nvSpPr>
        <p:spPr>
          <a:xfrm>
            <a:off x="1251175" y="4355732"/>
            <a:ext cx="4380476" cy="432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24"/>
              </a:lnSpc>
            </a:pPr>
            <a:r>
              <a:rPr lang="en-US" sz="112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Formatting and Missing Issue:</a:t>
            </a:r>
          </a:p>
          <a:p>
            <a:pPr>
              <a:lnSpc>
                <a:spcPts val="1624"/>
              </a:lnSpc>
            </a:pPr>
            <a:r>
              <a:rPr lang="en-US" sz="112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formats differ and some missing data such station names</a:t>
            </a:r>
            <a:endParaRPr lang="en-US" sz="1120" dirty="0"/>
          </a:p>
        </p:txBody>
      </p:sp>
      <p:pic>
        <p:nvPicPr>
          <p:cNvPr id="89" name="Graphic 88" descr="Filing Box Archive outline">
            <a:extLst>
              <a:ext uri="{FF2B5EF4-FFF2-40B4-BE49-F238E27FC236}">
                <a16:creationId xmlns:a16="http://schemas.microsoft.com/office/drawing/2014/main" id="{9C46FF2A-4016-4814-5B49-51FDCB1227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9276" y="3043427"/>
            <a:ext cx="207112" cy="207112"/>
          </a:xfrm>
          <a:prstGeom prst="rect">
            <a:avLst/>
          </a:prstGeom>
        </p:spPr>
      </p:pic>
      <p:sp>
        <p:nvSpPr>
          <p:cNvPr id="98" name="Text 26">
            <a:extLst>
              <a:ext uri="{FF2B5EF4-FFF2-40B4-BE49-F238E27FC236}">
                <a16:creationId xmlns:a16="http://schemas.microsoft.com/office/drawing/2014/main" id="{6F45DA00-B500-B325-9474-543B9377C1D3}"/>
              </a:ext>
            </a:extLst>
          </p:cNvPr>
          <p:cNvSpPr/>
          <p:nvPr/>
        </p:nvSpPr>
        <p:spPr>
          <a:xfrm>
            <a:off x="743805" y="5013412"/>
            <a:ext cx="4926012" cy="931469"/>
          </a:xfrm>
          <a:prstGeom prst="roundRect">
            <a:avLst>
              <a:gd name="adj" fmla="val 13026"/>
            </a:avLst>
          </a:prstGeom>
          <a:solidFill>
            <a:srgbClr val="00C6A7">
              <a:alpha val="17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99" name="Text 27">
            <a:extLst>
              <a:ext uri="{FF2B5EF4-FFF2-40B4-BE49-F238E27FC236}">
                <a16:creationId xmlns:a16="http://schemas.microsoft.com/office/drawing/2014/main" id="{73C3F016-BEF2-CE14-E7D8-EDA1C2446FD5}"/>
              </a:ext>
            </a:extLst>
          </p:cNvPr>
          <p:cNvSpPr/>
          <p:nvPr/>
        </p:nvSpPr>
        <p:spPr>
          <a:xfrm>
            <a:off x="858899" y="5336073"/>
            <a:ext cx="286147" cy="286147"/>
          </a:xfrm>
          <a:prstGeom prst="roundRect">
            <a:avLst>
              <a:gd name="adj" fmla="val 26630"/>
            </a:avLst>
          </a:prstGeom>
          <a:solidFill>
            <a:srgbClr val="00C6A7">
              <a:alpha val="14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100" name="Text 22">
            <a:extLst>
              <a:ext uri="{FF2B5EF4-FFF2-40B4-BE49-F238E27FC236}">
                <a16:creationId xmlns:a16="http://schemas.microsoft.com/office/drawing/2014/main" id="{517609F2-C914-AB76-628C-6F5CE72858EF}"/>
              </a:ext>
            </a:extLst>
          </p:cNvPr>
          <p:cNvSpPr/>
          <p:nvPr/>
        </p:nvSpPr>
        <p:spPr>
          <a:xfrm>
            <a:off x="1278793" y="5226776"/>
            <a:ext cx="4324468" cy="432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24"/>
              </a:lnSpc>
            </a:pPr>
            <a:r>
              <a:rPr lang="en-US" sz="112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Tools: Jupyter Notebook with Python Technology</a:t>
            </a:r>
          </a:p>
          <a:p>
            <a:pPr>
              <a:lnSpc>
                <a:spcPts val="1624"/>
              </a:lnSpc>
            </a:pPr>
            <a:r>
              <a:rPr lang="en-US" sz="1067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with Python is ideal for exploring messy, multi‑year datasets through interactive, step‑by‑step analysis and data visualization.</a:t>
            </a:r>
          </a:p>
        </p:txBody>
      </p:sp>
      <p:pic>
        <p:nvPicPr>
          <p:cNvPr id="30" name="Image 3" descr="preencoded.png">
            <a:extLst>
              <a:ext uri="{FF2B5EF4-FFF2-40B4-BE49-F238E27FC236}">
                <a16:creationId xmlns:a16="http://schemas.microsoft.com/office/drawing/2014/main" id="{90CC08AD-E756-8C31-1CAC-3D89F48D1B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04999" y="4462289"/>
            <a:ext cx="176784" cy="176784"/>
          </a:xfrm>
          <a:prstGeom prst="rect">
            <a:avLst/>
          </a:prstGeom>
        </p:spPr>
      </p:pic>
      <p:pic>
        <p:nvPicPr>
          <p:cNvPr id="104" name="Graphic 103" descr="Tools with solid fill">
            <a:extLst>
              <a:ext uri="{FF2B5EF4-FFF2-40B4-BE49-F238E27FC236}">
                <a16:creationId xmlns:a16="http://schemas.microsoft.com/office/drawing/2014/main" id="{5833D8B0-57CF-8903-B92F-3EA171A016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92831" y="5372784"/>
            <a:ext cx="212725" cy="212725"/>
          </a:xfrm>
          <a:prstGeom prst="rect">
            <a:avLst/>
          </a:prstGeom>
        </p:spPr>
      </p:pic>
      <p:pic>
        <p:nvPicPr>
          <p:cNvPr id="112" name="Graphic 111" descr="Mental Health outline">
            <a:extLst>
              <a:ext uri="{FF2B5EF4-FFF2-40B4-BE49-F238E27FC236}">
                <a16:creationId xmlns:a16="http://schemas.microsoft.com/office/drawing/2014/main" id="{A6A7A596-2053-15DE-0A47-000DBF68FB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60489" y="4426519"/>
            <a:ext cx="238919" cy="238919"/>
          </a:xfrm>
          <a:prstGeom prst="rect">
            <a:avLst/>
          </a:prstGeom>
        </p:spPr>
      </p:pic>
      <p:sp>
        <p:nvSpPr>
          <p:cNvPr id="113" name="Text 42">
            <a:extLst>
              <a:ext uri="{FF2B5EF4-FFF2-40B4-BE49-F238E27FC236}">
                <a16:creationId xmlns:a16="http://schemas.microsoft.com/office/drawing/2014/main" id="{2804A586-2EF3-C597-07DD-6E5800D92E3C}"/>
              </a:ext>
            </a:extLst>
          </p:cNvPr>
          <p:cNvSpPr/>
          <p:nvPr/>
        </p:nvSpPr>
        <p:spPr>
          <a:xfrm>
            <a:off x="6528594" y="4967652"/>
            <a:ext cx="4994540" cy="1015041"/>
          </a:xfrm>
          <a:prstGeom prst="roundRect">
            <a:avLst>
              <a:gd name="adj" fmla="val 13026"/>
            </a:avLst>
          </a:prstGeom>
          <a:solidFill>
            <a:srgbClr val="B5C23E">
              <a:alpha val="16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14" name="Text 43">
            <a:extLst>
              <a:ext uri="{FF2B5EF4-FFF2-40B4-BE49-F238E27FC236}">
                <a16:creationId xmlns:a16="http://schemas.microsoft.com/office/drawing/2014/main" id="{29736C35-BAE4-BD65-8745-41D0ACAAC0A3}"/>
              </a:ext>
            </a:extLst>
          </p:cNvPr>
          <p:cNvSpPr/>
          <p:nvPr/>
        </p:nvSpPr>
        <p:spPr>
          <a:xfrm>
            <a:off x="6643688" y="5332099"/>
            <a:ext cx="286147" cy="286147"/>
          </a:xfrm>
          <a:prstGeom prst="roundRect">
            <a:avLst>
              <a:gd name="adj" fmla="val 26630"/>
            </a:avLst>
          </a:prstGeom>
          <a:solidFill>
            <a:srgbClr val="FF6600">
              <a:alpha val="2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115" name="Text 44">
            <a:extLst>
              <a:ext uri="{FF2B5EF4-FFF2-40B4-BE49-F238E27FC236}">
                <a16:creationId xmlns:a16="http://schemas.microsoft.com/office/drawing/2014/main" id="{18F4BB9C-E6C2-1CD5-BDE8-471F0DE28A16}"/>
              </a:ext>
            </a:extLst>
          </p:cNvPr>
          <p:cNvSpPr/>
          <p:nvPr/>
        </p:nvSpPr>
        <p:spPr>
          <a:xfrm>
            <a:off x="7044928" y="5243579"/>
            <a:ext cx="3464323" cy="432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24"/>
              </a:lnSpc>
            </a:pPr>
            <a:r>
              <a:rPr lang="en-US" sz="112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Ex) 70% member trips vs. 30% casual trips(2016 Q3 Data)</a:t>
            </a:r>
          </a:p>
          <a:p>
            <a:pPr>
              <a:lnSpc>
                <a:spcPts val="1624"/>
              </a:lnSpc>
            </a:pPr>
            <a:r>
              <a:rPr lang="en-US" sz="112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cannot conclude whether members ride more because there are more members, or because each member rides more frequently.</a:t>
            </a:r>
            <a:endParaRPr lang="en-US" sz="1120" dirty="0"/>
          </a:p>
        </p:txBody>
      </p:sp>
      <p:pic>
        <p:nvPicPr>
          <p:cNvPr id="37" name="Image 5" descr="preencoded.png">
            <a:extLst>
              <a:ext uri="{FF2B5EF4-FFF2-40B4-BE49-F238E27FC236}">
                <a16:creationId xmlns:a16="http://schemas.microsoft.com/office/drawing/2014/main" id="{56CB3BBF-75CE-F79F-CAE3-2E113493C1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84332" y="1515916"/>
            <a:ext cx="240000" cy="240000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677EDB02-1F52-9BC6-1646-F0053DC33AA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474644" y="5073652"/>
            <a:ext cx="906427" cy="789757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2BD8115-77D5-F3C4-233A-59D1C3D159E4}"/>
              </a:ext>
            </a:extLst>
          </p:cNvPr>
          <p:cNvGrpSpPr/>
          <p:nvPr/>
        </p:nvGrpSpPr>
        <p:grpSpPr>
          <a:xfrm>
            <a:off x="6700259" y="5394025"/>
            <a:ext cx="170860" cy="162295"/>
            <a:chOff x="618526" y="1178903"/>
            <a:chExt cx="128145" cy="121721"/>
          </a:xfrm>
        </p:grpSpPr>
        <p:sp>
          <p:nvSpPr>
            <p:cNvPr id="3" name="Partial Circle 2">
              <a:extLst>
                <a:ext uri="{FF2B5EF4-FFF2-40B4-BE49-F238E27FC236}">
                  <a16:creationId xmlns:a16="http://schemas.microsoft.com/office/drawing/2014/main" id="{F5BE8FFB-3BE4-5BC5-B758-7AD2FE019B1C}"/>
                </a:ext>
              </a:extLst>
            </p:cNvPr>
            <p:cNvSpPr/>
            <p:nvPr/>
          </p:nvSpPr>
          <p:spPr>
            <a:xfrm rot="5903740">
              <a:off x="621738" y="1175691"/>
              <a:ext cx="121721" cy="128145"/>
            </a:xfrm>
            <a:prstGeom prst="pie">
              <a:avLst>
                <a:gd name="adj1" fmla="val 911792"/>
                <a:gd name="adj2" fmla="val 16200000"/>
              </a:avLst>
            </a:prstGeom>
            <a:solidFill>
              <a:srgbClr val="15A0FF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>
                <a:solidFill>
                  <a:schemeClr val="tx1"/>
                </a:solidFill>
              </a:endParaRPr>
            </a:p>
          </p:txBody>
        </p:sp>
        <p:sp>
          <p:nvSpPr>
            <p:cNvPr id="4" name="Partial Circle 3">
              <a:extLst>
                <a:ext uri="{FF2B5EF4-FFF2-40B4-BE49-F238E27FC236}">
                  <a16:creationId xmlns:a16="http://schemas.microsoft.com/office/drawing/2014/main" id="{803725E2-641C-0330-09F6-7C4CDEBC1725}"/>
                </a:ext>
              </a:extLst>
            </p:cNvPr>
            <p:cNvSpPr/>
            <p:nvPr/>
          </p:nvSpPr>
          <p:spPr>
            <a:xfrm rot="11199345">
              <a:off x="632223" y="1199778"/>
              <a:ext cx="107644" cy="98877"/>
            </a:xfrm>
            <a:prstGeom prst="pie">
              <a:avLst>
                <a:gd name="adj1" fmla="val 10700015"/>
                <a:gd name="adj2" fmla="val 17211358"/>
              </a:avLst>
            </a:prstGeom>
            <a:solidFill>
              <a:srgbClr val="ED7D31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>
                <a:solidFill>
                  <a:srgbClr val="FF6600"/>
                </a:solidFill>
              </a:endParaRPr>
            </a:p>
          </p:txBody>
        </p:sp>
      </p:grpSp>
      <p:sp>
        <p:nvSpPr>
          <p:cNvPr id="11" name="Text 29">
            <a:extLst>
              <a:ext uri="{FF2B5EF4-FFF2-40B4-BE49-F238E27FC236}">
                <a16:creationId xmlns:a16="http://schemas.microsoft.com/office/drawing/2014/main" id="{DAE43A5B-08A6-0DE2-315B-35D11613DB7B}"/>
              </a:ext>
            </a:extLst>
          </p:cNvPr>
          <p:cNvSpPr/>
          <p:nvPr/>
        </p:nvSpPr>
        <p:spPr>
          <a:xfrm>
            <a:off x="0" y="6343819"/>
            <a:ext cx="12192000" cy="514747"/>
          </a:xfrm>
          <a:prstGeom prst="rect">
            <a:avLst/>
          </a:prstGeom>
          <a:gradFill rotWithShape="1">
            <a:gsLst>
              <a:gs pos="0">
                <a:srgbClr val="16204A">
                  <a:alpha val="60000"/>
                </a:srgbClr>
              </a:gs>
              <a:gs pos="100000">
                <a:srgbClr val="0D1B2A">
                  <a:alpha val="6000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360B3FB5-1CB8-4013-BD68-52D69233198A}"/>
              </a:ext>
            </a:extLst>
          </p:cNvPr>
          <p:cNvSpPr/>
          <p:nvPr/>
        </p:nvSpPr>
        <p:spPr>
          <a:xfrm>
            <a:off x="0" y="6343820"/>
            <a:ext cx="12192000" cy="12700"/>
          </a:xfrm>
          <a:prstGeom prst="rect">
            <a:avLst/>
          </a:prstGeom>
          <a:solidFill>
            <a:srgbClr val="00C6A7">
              <a:alpha val="2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62" name="Text 32">
            <a:extLst>
              <a:ext uri="{FF2B5EF4-FFF2-40B4-BE49-F238E27FC236}">
                <a16:creationId xmlns:a16="http://schemas.microsoft.com/office/drawing/2014/main" id="{3E673A52-C372-CE42-0D07-80371CED5E10}"/>
              </a:ext>
            </a:extLst>
          </p:cNvPr>
          <p:cNvSpPr/>
          <p:nvPr/>
        </p:nvSpPr>
        <p:spPr>
          <a:xfrm>
            <a:off x="5693172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4" name="Text 33">
            <a:extLst>
              <a:ext uri="{FF2B5EF4-FFF2-40B4-BE49-F238E27FC236}">
                <a16:creationId xmlns:a16="http://schemas.microsoft.com/office/drawing/2014/main" id="{12D2C8AB-AD26-3690-A348-E4E8CD1F369D}"/>
              </a:ext>
            </a:extLst>
          </p:cNvPr>
          <p:cNvSpPr/>
          <p:nvPr/>
        </p:nvSpPr>
        <p:spPr>
          <a:xfrm>
            <a:off x="5808265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6" name="Text 34">
            <a:extLst>
              <a:ext uri="{FF2B5EF4-FFF2-40B4-BE49-F238E27FC236}">
                <a16:creationId xmlns:a16="http://schemas.microsoft.com/office/drawing/2014/main" id="{1EF0F73C-A5BA-60CE-4F1F-B41394A92AAB}"/>
              </a:ext>
            </a:extLst>
          </p:cNvPr>
          <p:cNvSpPr/>
          <p:nvPr/>
        </p:nvSpPr>
        <p:spPr>
          <a:xfrm>
            <a:off x="5923360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8" name="Text 35">
            <a:extLst>
              <a:ext uri="{FF2B5EF4-FFF2-40B4-BE49-F238E27FC236}">
                <a16:creationId xmlns:a16="http://schemas.microsoft.com/office/drawing/2014/main" id="{A4A90B1C-4E11-1FFD-0327-3343DF31114F}"/>
              </a:ext>
            </a:extLst>
          </p:cNvPr>
          <p:cNvSpPr/>
          <p:nvPr/>
        </p:nvSpPr>
        <p:spPr>
          <a:xfrm>
            <a:off x="6038453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1" name="Text 36">
            <a:extLst>
              <a:ext uri="{FF2B5EF4-FFF2-40B4-BE49-F238E27FC236}">
                <a16:creationId xmlns:a16="http://schemas.microsoft.com/office/drawing/2014/main" id="{DD60E1FD-D14A-FC89-D68E-885A10F6C88B}"/>
              </a:ext>
            </a:extLst>
          </p:cNvPr>
          <p:cNvSpPr/>
          <p:nvPr/>
        </p:nvSpPr>
        <p:spPr>
          <a:xfrm>
            <a:off x="6153547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3" name="Text 37">
            <a:extLst>
              <a:ext uri="{FF2B5EF4-FFF2-40B4-BE49-F238E27FC236}">
                <a16:creationId xmlns:a16="http://schemas.microsoft.com/office/drawing/2014/main" id="{8E98FF00-6B61-FE69-8BE2-A46F835AF3B6}"/>
              </a:ext>
            </a:extLst>
          </p:cNvPr>
          <p:cNvSpPr/>
          <p:nvPr/>
        </p:nvSpPr>
        <p:spPr>
          <a:xfrm>
            <a:off x="6268640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5" name="Text 38">
            <a:extLst>
              <a:ext uri="{FF2B5EF4-FFF2-40B4-BE49-F238E27FC236}">
                <a16:creationId xmlns:a16="http://schemas.microsoft.com/office/drawing/2014/main" id="{D64B03D6-1154-4249-D982-5E3108DA3D2E}"/>
              </a:ext>
            </a:extLst>
          </p:cNvPr>
          <p:cNvSpPr/>
          <p:nvPr/>
        </p:nvSpPr>
        <p:spPr>
          <a:xfrm>
            <a:off x="6383735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7" name="Text 39">
            <a:extLst>
              <a:ext uri="{FF2B5EF4-FFF2-40B4-BE49-F238E27FC236}">
                <a16:creationId xmlns:a16="http://schemas.microsoft.com/office/drawing/2014/main" id="{3E920B72-CA53-D236-A69D-D4B30B308FC9}"/>
              </a:ext>
            </a:extLst>
          </p:cNvPr>
          <p:cNvSpPr/>
          <p:nvPr/>
        </p:nvSpPr>
        <p:spPr>
          <a:xfrm>
            <a:off x="6498828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EA5196A3-BF09-79DF-7E5F-988FC5FA9FCA}"/>
              </a:ext>
            </a:extLst>
          </p:cNvPr>
          <p:cNvSpPr/>
          <p:nvPr/>
        </p:nvSpPr>
        <p:spPr>
          <a:xfrm>
            <a:off x="6613921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4" name="Text 41">
            <a:extLst>
              <a:ext uri="{FF2B5EF4-FFF2-40B4-BE49-F238E27FC236}">
                <a16:creationId xmlns:a16="http://schemas.microsoft.com/office/drawing/2014/main" id="{411DBD7C-08FD-617E-9E97-AC69C7039A33}"/>
              </a:ext>
            </a:extLst>
          </p:cNvPr>
          <p:cNvSpPr/>
          <p:nvPr/>
        </p:nvSpPr>
        <p:spPr>
          <a:xfrm>
            <a:off x="6729016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6" name="Text 42">
            <a:extLst>
              <a:ext uri="{FF2B5EF4-FFF2-40B4-BE49-F238E27FC236}">
                <a16:creationId xmlns:a16="http://schemas.microsoft.com/office/drawing/2014/main" id="{93CFC343-41A4-B91A-96EF-BA95797069BC}"/>
              </a:ext>
            </a:extLst>
          </p:cNvPr>
          <p:cNvSpPr/>
          <p:nvPr/>
        </p:nvSpPr>
        <p:spPr>
          <a:xfrm>
            <a:off x="6844109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1" name="Text 0">
            <a:extLst>
              <a:ext uri="{FF2B5EF4-FFF2-40B4-BE49-F238E27FC236}">
                <a16:creationId xmlns:a16="http://schemas.microsoft.com/office/drawing/2014/main" id="{E04D2587-188A-94D2-2216-12920877D799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E4002B">
              <a:alpha val="87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91" name="Text 43">
            <a:extLst>
              <a:ext uri="{FF2B5EF4-FFF2-40B4-BE49-F238E27FC236}">
                <a16:creationId xmlns:a16="http://schemas.microsoft.com/office/drawing/2014/main" id="{9AF3EB41-4A58-1E22-B9E9-5E1108EE7355}"/>
              </a:ext>
            </a:extLst>
          </p:cNvPr>
          <p:cNvSpPr/>
          <p:nvPr/>
        </p:nvSpPr>
        <p:spPr>
          <a:xfrm>
            <a:off x="9235167" y="6504980"/>
            <a:ext cx="2451952" cy="13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ts val="1460"/>
              </a:lnSpc>
            </a:pPr>
            <a:r>
              <a:rPr lang="en-US" sz="973" kern="0" spc="49" dirty="0">
                <a:solidFill>
                  <a:schemeClr val="bg1">
                    <a:lumMod val="50000"/>
                  </a:scheme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Prepared by Younggi Kim </a:t>
            </a:r>
            <a:endParaRPr lang="en-US" sz="973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01" name="Image 3" descr="preencoded.png">
            <a:extLst>
              <a:ext uri="{FF2B5EF4-FFF2-40B4-BE49-F238E27FC236}">
                <a16:creationId xmlns:a16="http://schemas.microsoft.com/office/drawing/2014/main" id="{D739DF10-3E28-C3C2-FFDD-A85AF46C0C46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5088" y="6519150"/>
            <a:ext cx="176784" cy="176784"/>
          </a:xfrm>
          <a:prstGeom prst="rect">
            <a:avLst/>
          </a:prstGeom>
        </p:spPr>
      </p:pic>
      <p:sp>
        <p:nvSpPr>
          <p:cNvPr id="103" name="Text 16">
            <a:extLst>
              <a:ext uri="{FF2B5EF4-FFF2-40B4-BE49-F238E27FC236}">
                <a16:creationId xmlns:a16="http://schemas.microsoft.com/office/drawing/2014/main" id="{5957B8B4-DCDC-7D12-5DE7-443FAF5A9341}"/>
              </a:ext>
            </a:extLst>
          </p:cNvPr>
          <p:cNvSpPr/>
          <p:nvPr/>
        </p:nvSpPr>
        <p:spPr>
          <a:xfrm>
            <a:off x="892831" y="6519150"/>
            <a:ext cx="4319349" cy="172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360"/>
              </a:lnSpc>
            </a:pPr>
            <a:r>
              <a:rPr lang="en-US" sz="907" dirty="0">
                <a:solidFill>
                  <a:srgbClr val="6E8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CYCLISTIC BIKE-SHARE · GOOGLE DATA ANALYTICS CAPSTONE</a:t>
            </a:r>
            <a:endParaRPr lang="en-US" sz="907" dirty="0">
              <a:solidFill>
                <a:srgbClr val="6E809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4508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13B62-F4E0-4E9F-D806-E360CAE79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0">
            <a:extLst>
              <a:ext uri="{FF2B5EF4-FFF2-40B4-BE49-F238E27FC236}">
                <a16:creationId xmlns:a16="http://schemas.microsoft.com/office/drawing/2014/main" id="{66447D16-9822-F927-2767-33587FFEC35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C122C">
                  <a:alpha val="96863"/>
                </a:srgbClr>
              </a:gs>
              <a:gs pos="50000">
                <a:srgbClr val="002060">
                  <a:alpha val="92000"/>
                </a:srgbClr>
              </a:gs>
              <a:gs pos="100000">
                <a:srgbClr val="15A0FF">
                  <a:alpha val="8000"/>
                </a:srgbClr>
              </a:gs>
            </a:gsLst>
            <a:lin ang="420000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68718E30-6D9D-55DA-0E0D-D72340B15958}"/>
              </a:ext>
            </a:extLst>
          </p:cNvPr>
          <p:cNvSpPr/>
          <p:nvPr/>
        </p:nvSpPr>
        <p:spPr>
          <a:xfrm>
            <a:off x="8001000" y="0"/>
            <a:ext cx="4191000" cy="3810000"/>
          </a:xfrm>
          <a:prstGeom prst="ellipse">
            <a:avLst/>
          </a:prstGeom>
          <a:noFill/>
          <a:ln w="9525">
            <a:solidFill>
              <a:srgbClr val="00C6A7">
                <a:alpha val="6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6FDAC71-B3AC-34B4-3DF6-FDCB17DB70F2}"/>
              </a:ext>
            </a:extLst>
          </p:cNvPr>
          <p:cNvSpPr/>
          <p:nvPr/>
        </p:nvSpPr>
        <p:spPr>
          <a:xfrm>
            <a:off x="7999412" y="0"/>
            <a:ext cx="3620293" cy="3048000"/>
          </a:xfrm>
          <a:prstGeom prst="ellipse">
            <a:avLst/>
          </a:prstGeom>
          <a:noFill/>
          <a:ln w="9525">
            <a:solidFill>
              <a:srgbClr val="00C6A7">
                <a:alpha val="6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F93534B-8C05-FDFA-2410-4AECA62E5E46}"/>
              </a:ext>
            </a:extLst>
          </p:cNvPr>
          <p:cNvSpPr/>
          <p:nvPr/>
        </p:nvSpPr>
        <p:spPr>
          <a:xfrm>
            <a:off x="0" y="5525293"/>
            <a:ext cx="1332707" cy="1332707"/>
          </a:xfrm>
          <a:prstGeom prst="ellipse">
            <a:avLst/>
          </a:prstGeom>
          <a:noFill/>
          <a:ln w="9525">
            <a:solidFill>
              <a:srgbClr val="00C6A7">
                <a:alpha val="6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F30896A-C9C7-601B-3692-17C74DD6A206}"/>
              </a:ext>
            </a:extLst>
          </p:cNvPr>
          <p:cNvSpPr/>
          <p:nvPr/>
        </p:nvSpPr>
        <p:spPr>
          <a:xfrm>
            <a:off x="609601" y="496094"/>
            <a:ext cx="47228" cy="419893"/>
          </a:xfrm>
          <a:prstGeom prst="roundRect">
            <a:avLst>
              <a:gd name="adj" fmla="val 60953"/>
            </a:avLst>
          </a:prstGeom>
          <a:gradFill rotWithShape="1">
            <a:gsLst>
              <a:gs pos="0">
                <a:srgbClr val="15A0FF"/>
              </a:gs>
              <a:gs pos="100000">
                <a:srgbClr val="00C6A7">
                  <a:alpha val="3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1BE11BE-0834-3BBE-0285-DC7F1DB8F47D}"/>
              </a:ext>
            </a:extLst>
          </p:cNvPr>
          <p:cNvSpPr/>
          <p:nvPr/>
        </p:nvSpPr>
        <p:spPr>
          <a:xfrm>
            <a:off x="809229" y="496491"/>
            <a:ext cx="3763516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3300"/>
              </a:lnSpc>
            </a:pPr>
            <a:r>
              <a:rPr lang="en-US" sz="3000" kern="0" spc="6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Consideration to Analysis</a:t>
            </a:r>
            <a:endParaRPr lang="en-US" sz="3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BE918BA-7701-9738-430A-612BB3763ED0}"/>
              </a:ext>
            </a:extLst>
          </p:cNvPr>
          <p:cNvSpPr/>
          <p:nvPr/>
        </p:nvSpPr>
        <p:spPr>
          <a:xfrm>
            <a:off x="809229" y="992188"/>
            <a:ext cx="1185048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00"/>
              </a:lnSpc>
              <a:spcAft>
                <a:spcPts val="2707"/>
              </a:spcAft>
            </a:pPr>
            <a:r>
              <a:rPr lang="en-US" sz="1200" kern="0" spc="96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CYCLISTIC BIKE-SHARE · KEY FOCUSES for Analysis</a:t>
            </a:r>
            <a:endParaRPr lang="en-US" sz="1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F0A1D5D-D752-677F-B196-EA19F42119FC}"/>
              </a:ext>
            </a:extLst>
          </p:cNvPr>
          <p:cNvSpPr/>
          <p:nvPr/>
        </p:nvSpPr>
        <p:spPr>
          <a:xfrm>
            <a:off x="609601" y="1564481"/>
            <a:ext cx="5400873" cy="2173288"/>
          </a:xfrm>
          <a:prstGeom prst="roundRect">
            <a:avLst>
              <a:gd name="adj" fmla="val 5298"/>
            </a:avLst>
          </a:prstGeom>
          <a:solidFill>
            <a:srgbClr val="0D3D66">
              <a:alpha val="65000"/>
            </a:srgbClr>
          </a:solidFill>
          <a:ln w="9525">
            <a:solidFill>
              <a:srgbClr val="00C6A7">
                <a:alpha val="18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D7CFADE-6BB5-B73C-9844-127F41B69657}"/>
              </a:ext>
            </a:extLst>
          </p:cNvPr>
          <p:cNvSpPr/>
          <p:nvPr/>
        </p:nvSpPr>
        <p:spPr>
          <a:xfrm>
            <a:off x="889794" y="1824236"/>
            <a:ext cx="496093" cy="496093"/>
          </a:xfrm>
          <a:prstGeom prst="roundRect">
            <a:avLst>
              <a:gd name="adj" fmla="val 23211"/>
            </a:avLst>
          </a:prstGeom>
          <a:solidFill>
            <a:srgbClr val="00C6A7">
              <a:alpha val="12000"/>
            </a:srgbClr>
          </a:solidFill>
          <a:ln w="9525">
            <a:solidFill>
              <a:srgbClr val="15A0FF"/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F63B69C9-46FE-50DE-6592-E1CA40CD98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5171" y="2005013"/>
            <a:ext cx="185340" cy="185340"/>
          </a:xfrm>
          <a:prstGeom prst="rect">
            <a:avLst/>
          </a:prstGeom>
        </p:spPr>
      </p:pic>
      <p:sp>
        <p:nvSpPr>
          <p:cNvPr id="11" name="Text 8">
            <a:extLst>
              <a:ext uri="{FF2B5EF4-FFF2-40B4-BE49-F238E27FC236}">
                <a16:creationId xmlns:a16="http://schemas.microsoft.com/office/drawing/2014/main" id="{C6135718-E088-DAAE-4F4E-AE8CDB61EC35}"/>
              </a:ext>
            </a:extLst>
          </p:cNvPr>
          <p:cNvSpPr/>
          <p:nvPr/>
        </p:nvSpPr>
        <p:spPr>
          <a:xfrm>
            <a:off x="1577181" y="1805782"/>
            <a:ext cx="4568408" cy="1573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240"/>
              </a:lnSpc>
            </a:pPr>
            <a:r>
              <a:rPr lang="en-US" sz="827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PRODUCT CONTEXT</a:t>
            </a:r>
            <a:endParaRPr lang="en-US" sz="827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CE0CE847-0150-5873-BEB7-C346679AE6EB}"/>
              </a:ext>
            </a:extLst>
          </p:cNvPr>
          <p:cNvSpPr/>
          <p:nvPr/>
        </p:nvSpPr>
        <p:spPr>
          <a:xfrm>
            <a:off x="1577181" y="2020689"/>
            <a:ext cx="4236160" cy="780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3"/>
              </a:lnSpc>
            </a:pPr>
            <a:r>
              <a:rPr lang="en-US" sz="1347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Bicycle usage in highly seasonal and strongly influenced by weather conditions.</a:t>
            </a: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ADD62665-6218-D6FD-93BF-0E64FB1AE78F}"/>
              </a:ext>
            </a:extLst>
          </p:cNvPr>
          <p:cNvSpPr/>
          <p:nvPr/>
        </p:nvSpPr>
        <p:spPr>
          <a:xfrm>
            <a:off x="6181328" y="1564481"/>
            <a:ext cx="5401072" cy="2173288"/>
          </a:xfrm>
          <a:prstGeom prst="roundRect">
            <a:avLst>
              <a:gd name="adj" fmla="val 5298"/>
            </a:avLst>
          </a:prstGeom>
          <a:solidFill>
            <a:srgbClr val="0D3D66">
              <a:alpha val="65000"/>
            </a:srgbClr>
          </a:solidFill>
          <a:ln w="9525">
            <a:solidFill>
              <a:srgbClr val="00C6A7">
                <a:alpha val="18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9D4F0318-BC28-AA24-8192-2045AB8B667A}"/>
              </a:ext>
            </a:extLst>
          </p:cNvPr>
          <p:cNvSpPr/>
          <p:nvPr/>
        </p:nvSpPr>
        <p:spPr>
          <a:xfrm>
            <a:off x="6461522" y="1824236"/>
            <a:ext cx="496093" cy="496093"/>
          </a:xfrm>
          <a:prstGeom prst="roundRect">
            <a:avLst>
              <a:gd name="adj" fmla="val 23211"/>
            </a:avLst>
          </a:prstGeom>
          <a:solidFill>
            <a:srgbClr val="00C6A7">
              <a:alpha val="12000"/>
            </a:srgbClr>
          </a:solidFill>
          <a:ln w="9525">
            <a:solidFill>
              <a:srgbClr val="15A0FF"/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DEEAE767-162B-8F75-2DE2-3BE4B7D99CA8}"/>
              </a:ext>
            </a:extLst>
          </p:cNvPr>
          <p:cNvSpPr/>
          <p:nvPr/>
        </p:nvSpPr>
        <p:spPr>
          <a:xfrm>
            <a:off x="7148909" y="1805782"/>
            <a:ext cx="4568627" cy="1573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240"/>
              </a:lnSpc>
            </a:pPr>
            <a:r>
              <a:rPr lang="en-US" sz="827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LOCATION CONTEXT</a:t>
            </a:r>
            <a:endParaRPr lang="en-US" sz="827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98104C5C-E89E-D78F-AB50-7664EABA7F78}"/>
              </a:ext>
            </a:extLst>
          </p:cNvPr>
          <p:cNvSpPr/>
          <p:nvPr/>
        </p:nvSpPr>
        <p:spPr>
          <a:xfrm>
            <a:off x="7148909" y="2020689"/>
            <a:ext cx="4236363" cy="780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3"/>
              </a:lnSpc>
            </a:pPr>
            <a:r>
              <a:rPr lang="en-US" sz="1347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Chicago experiences long and harsh winters, which significantly affect bike-share activity.</a:t>
            </a:r>
            <a:endParaRPr lang="en-US" sz="1347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C2D2889D-AA18-D650-986D-90DC5B014A25}"/>
              </a:ext>
            </a:extLst>
          </p:cNvPr>
          <p:cNvSpPr/>
          <p:nvPr/>
        </p:nvSpPr>
        <p:spPr>
          <a:xfrm>
            <a:off x="609601" y="3908624"/>
            <a:ext cx="5400873" cy="2173288"/>
          </a:xfrm>
          <a:prstGeom prst="roundRect">
            <a:avLst>
              <a:gd name="adj" fmla="val 5298"/>
            </a:avLst>
          </a:prstGeom>
          <a:solidFill>
            <a:srgbClr val="0D3D66">
              <a:alpha val="65000"/>
            </a:srgbClr>
          </a:solidFill>
          <a:ln w="9525">
            <a:solidFill>
              <a:srgbClr val="00C6A7">
                <a:alpha val="18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6A496480-5311-D6BA-581D-9456CBD47D03}"/>
              </a:ext>
            </a:extLst>
          </p:cNvPr>
          <p:cNvSpPr/>
          <p:nvPr/>
        </p:nvSpPr>
        <p:spPr>
          <a:xfrm>
            <a:off x="889794" y="4168379"/>
            <a:ext cx="496093" cy="496093"/>
          </a:xfrm>
          <a:prstGeom prst="roundRect">
            <a:avLst>
              <a:gd name="adj" fmla="val 23211"/>
            </a:avLst>
          </a:prstGeom>
          <a:solidFill>
            <a:srgbClr val="00C6A7">
              <a:alpha val="12000"/>
            </a:srgbClr>
          </a:solidFill>
          <a:ln w="9525">
            <a:solidFill>
              <a:srgbClr val="15A0FF"/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488332FA-D551-FA38-B52E-1149892B89FE}"/>
              </a:ext>
            </a:extLst>
          </p:cNvPr>
          <p:cNvSpPr/>
          <p:nvPr/>
        </p:nvSpPr>
        <p:spPr>
          <a:xfrm>
            <a:off x="1577181" y="4149925"/>
            <a:ext cx="4568408" cy="1573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240"/>
              </a:lnSpc>
            </a:pPr>
            <a:r>
              <a:rPr lang="en-US" sz="827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TIME CONTEXT</a:t>
            </a:r>
            <a:endParaRPr lang="en-US" sz="827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6EA6D166-4380-9863-C79B-700D9D65403F}"/>
              </a:ext>
            </a:extLst>
          </p:cNvPr>
          <p:cNvSpPr/>
          <p:nvPr/>
        </p:nvSpPr>
        <p:spPr>
          <a:xfrm>
            <a:off x="1577181" y="4364831"/>
            <a:ext cx="4236160" cy="780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3"/>
              </a:lnSpc>
            </a:pPr>
            <a:r>
              <a:rPr lang="en-US" sz="1347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spans 2016 to the present, a period that includes the covid-19 pandemic.</a:t>
            </a: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B4168C9F-BEDD-7C0F-0806-0EC2E570AB4E}"/>
              </a:ext>
            </a:extLst>
          </p:cNvPr>
          <p:cNvSpPr/>
          <p:nvPr/>
        </p:nvSpPr>
        <p:spPr>
          <a:xfrm>
            <a:off x="6181328" y="3908624"/>
            <a:ext cx="5401072" cy="2173288"/>
          </a:xfrm>
          <a:prstGeom prst="roundRect">
            <a:avLst>
              <a:gd name="adj" fmla="val 5298"/>
            </a:avLst>
          </a:prstGeom>
          <a:solidFill>
            <a:srgbClr val="0D3D66">
              <a:alpha val="65000"/>
            </a:srgbClr>
          </a:solidFill>
          <a:ln w="9525">
            <a:solidFill>
              <a:srgbClr val="00C6A7">
                <a:alpha val="18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CAC5169E-3356-DB7E-45F2-83FBBA5BC657}"/>
              </a:ext>
            </a:extLst>
          </p:cNvPr>
          <p:cNvSpPr/>
          <p:nvPr/>
        </p:nvSpPr>
        <p:spPr>
          <a:xfrm>
            <a:off x="6461522" y="4168379"/>
            <a:ext cx="496093" cy="496093"/>
          </a:xfrm>
          <a:prstGeom prst="roundRect">
            <a:avLst>
              <a:gd name="adj" fmla="val 23211"/>
            </a:avLst>
          </a:prstGeom>
          <a:solidFill>
            <a:srgbClr val="00C6A7">
              <a:alpha val="12000"/>
            </a:srgbClr>
          </a:solidFill>
          <a:ln w="9525">
            <a:solidFill>
              <a:srgbClr val="15A0FF"/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AFF079EC-CD19-D599-B643-14757AB922D9}"/>
              </a:ext>
            </a:extLst>
          </p:cNvPr>
          <p:cNvSpPr/>
          <p:nvPr/>
        </p:nvSpPr>
        <p:spPr>
          <a:xfrm>
            <a:off x="7148909" y="4149925"/>
            <a:ext cx="4568627" cy="1573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240"/>
              </a:lnSpc>
            </a:pPr>
            <a:r>
              <a:rPr lang="en-US" sz="827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ANALYTICAL FOCUS</a:t>
            </a:r>
            <a:endParaRPr lang="en-US" sz="827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01D54EBF-5F02-F5E0-57A7-AF5587934B95}"/>
              </a:ext>
            </a:extLst>
          </p:cNvPr>
          <p:cNvSpPr/>
          <p:nvPr/>
        </p:nvSpPr>
        <p:spPr>
          <a:xfrm>
            <a:off x="7148909" y="4364832"/>
            <a:ext cx="4236363" cy="52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3"/>
              </a:lnSpc>
            </a:pPr>
            <a:r>
              <a:rPr lang="en-US" sz="1347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goal is to convert casual riders into annual members.</a:t>
            </a:r>
            <a:endParaRPr lang="en-US" sz="1347" dirty="0"/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F1A25035-B8A4-05CC-D7FB-FF2035489E21}"/>
              </a:ext>
            </a:extLst>
          </p:cNvPr>
          <p:cNvSpPr/>
          <p:nvPr/>
        </p:nvSpPr>
        <p:spPr>
          <a:xfrm>
            <a:off x="10869812" y="5459611"/>
            <a:ext cx="53402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3600"/>
              </a:lnSpc>
            </a:pPr>
            <a:r>
              <a:rPr lang="en-US" sz="3600" dirty="0">
                <a:solidFill>
                  <a:srgbClr val="00C6A7">
                    <a:alpha val="6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3600" dirty="0"/>
          </a:p>
        </p:txBody>
      </p:sp>
      <p:sp>
        <p:nvSpPr>
          <p:cNvPr id="44" name="Text 38">
            <a:extLst>
              <a:ext uri="{FF2B5EF4-FFF2-40B4-BE49-F238E27FC236}">
                <a16:creationId xmlns:a16="http://schemas.microsoft.com/office/drawing/2014/main" id="{A92A61AF-AC1E-8F31-A87B-850B7FC7A202}"/>
              </a:ext>
            </a:extLst>
          </p:cNvPr>
          <p:cNvSpPr/>
          <p:nvPr/>
        </p:nvSpPr>
        <p:spPr>
          <a:xfrm>
            <a:off x="622301" y="1577182"/>
            <a:ext cx="5375479" cy="28773"/>
          </a:xfrm>
          <a:custGeom>
            <a:avLst/>
            <a:gdLst/>
            <a:ahLst/>
            <a:cxnLst/>
            <a:rect l="l" t="t" r="r" b="b"/>
            <a:pathLst>
              <a:path w="4031609" h="21580">
                <a:moveTo>
                  <a:pt x="86360" y="0"/>
                </a:moveTo>
                <a:lnTo>
                  <a:pt x="3945249" y="0"/>
                </a:lnTo>
                <a:lnTo>
                  <a:pt x="3966664" y="2698"/>
                </a:lnTo>
                <a:lnTo>
                  <a:pt x="3975294" y="5395"/>
                </a:lnTo>
                <a:lnTo>
                  <a:pt x="3981749" y="8093"/>
                </a:lnTo>
                <a:lnTo>
                  <a:pt x="3987048" y="10790"/>
                </a:lnTo>
                <a:lnTo>
                  <a:pt x="3991591" y="13488"/>
                </a:lnTo>
                <a:lnTo>
                  <a:pt x="3995583" y="16185"/>
                </a:lnTo>
                <a:lnTo>
                  <a:pt x="3999145" y="18883"/>
                </a:lnTo>
                <a:lnTo>
                  <a:pt x="4002359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15A0FF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45" name="Text 39">
            <a:extLst>
              <a:ext uri="{FF2B5EF4-FFF2-40B4-BE49-F238E27FC236}">
                <a16:creationId xmlns:a16="http://schemas.microsoft.com/office/drawing/2014/main" id="{B851B13F-58BB-9026-C0E1-6D5D9EC6FD09}"/>
              </a:ext>
            </a:extLst>
          </p:cNvPr>
          <p:cNvSpPr/>
          <p:nvPr/>
        </p:nvSpPr>
        <p:spPr>
          <a:xfrm>
            <a:off x="6194028" y="1577182"/>
            <a:ext cx="5375669" cy="28773"/>
          </a:xfrm>
          <a:custGeom>
            <a:avLst/>
            <a:gdLst/>
            <a:ahLst/>
            <a:cxnLst/>
            <a:rect l="l" t="t" r="r" b="b"/>
            <a:pathLst>
              <a:path w="4031752" h="21580">
                <a:moveTo>
                  <a:pt x="86360" y="0"/>
                </a:moveTo>
                <a:lnTo>
                  <a:pt x="3945391" y="0"/>
                </a:lnTo>
                <a:lnTo>
                  <a:pt x="3966807" y="2698"/>
                </a:lnTo>
                <a:lnTo>
                  <a:pt x="3975437" y="5395"/>
                </a:lnTo>
                <a:lnTo>
                  <a:pt x="3981891" y="8093"/>
                </a:lnTo>
                <a:lnTo>
                  <a:pt x="3987191" y="10790"/>
                </a:lnTo>
                <a:lnTo>
                  <a:pt x="3991734" y="13488"/>
                </a:lnTo>
                <a:lnTo>
                  <a:pt x="3995726" y="16185"/>
                </a:lnTo>
                <a:lnTo>
                  <a:pt x="3999288" y="18883"/>
                </a:lnTo>
                <a:lnTo>
                  <a:pt x="4002502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15A0FF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46" name="Text 40">
            <a:extLst>
              <a:ext uri="{FF2B5EF4-FFF2-40B4-BE49-F238E27FC236}">
                <a16:creationId xmlns:a16="http://schemas.microsoft.com/office/drawing/2014/main" id="{8E34C5CB-610B-23F9-9EB1-570BE4D0A2BA}"/>
              </a:ext>
            </a:extLst>
          </p:cNvPr>
          <p:cNvSpPr/>
          <p:nvPr/>
        </p:nvSpPr>
        <p:spPr>
          <a:xfrm>
            <a:off x="622301" y="3921324"/>
            <a:ext cx="5375479" cy="28773"/>
          </a:xfrm>
          <a:custGeom>
            <a:avLst/>
            <a:gdLst/>
            <a:ahLst/>
            <a:cxnLst/>
            <a:rect l="l" t="t" r="r" b="b"/>
            <a:pathLst>
              <a:path w="4031609" h="21580">
                <a:moveTo>
                  <a:pt x="86360" y="0"/>
                </a:moveTo>
                <a:lnTo>
                  <a:pt x="3945249" y="0"/>
                </a:lnTo>
                <a:lnTo>
                  <a:pt x="3966664" y="2698"/>
                </a:lnTo>
                <a:lnTo>
                  <a:pt x="3975294" y="5395"/>
                </a:lnTo>
                <a:lnTo>
                  <a:pt x="3981749" y="8093"/>
                </a:lnTo>
                <a:lnTo>
                  <a:pt x="3987048" y="10790"/>
                </a:lnTo>
                <a:lnTo>
                  <a:pt x="3991591" y="13488"/>
                </a:lnTo>
                <a:lnTo>
                  <a:pt x="3995583" y="16185"/>
                </a:lnTo>
                <a:lnTo>
                  <a:pt x="3999145" y="18883"/>
                </a:lnTo>
                <a:lnTo>
                  <a:pt x="4002359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15A0FF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47" name="Text 41">
            <a:extLst>
              <a:ext uri="{FF2B5EF4-FFF2-40B4-BE49-F238E27FC236}">
                <a16:creationId xmlns:a16="http://schemas.microsoft.com/office/drawing/2014/main" id="{50857417-673A-4E85-DC6C-F89DA3037395}"/>
              </a:ext>
            </a:extLst>
          </p:cNvPr>
          <p:cNvSpPr/>
          <p:nvPr/>
        </p:nvSpPr>
        <p:spPr>
          <a:xfrm>
            <a:off x="6194028" y="3921324"/>
            <a:ext cx="5375669" cy="28773"/>
          </a:xfrm>
          <a:custGeom>
            <a:avLst/>
            <a:gdLst/>
            <a:ahLst/>
            <a:cxnLst/>
            <a:rect l="l" t="t" r="r" b="b"/>
            <a:pathLst>
              <a:path w="4031752" h="21580">
                <a:moveTo>
                  <a:pt x="86360" y="0"/>
                </a:moveTo>
                <a:lnTo>
                  <a:pt x="3945391" y="0"/>
                </a:lnTo>
                <a:lnTo>
                  <a:pt x="3966807" y="2698"/>
                </a:lnTo>
                <a:lnTo>
                  <a:pt x="3975437" y="5395"/>
                </a:lnTo>
                <a:lnTo>
                  <a:pt x="3981891" y="8093"/>
                </a:lnTo>
                <a:lnTo>
                  <a:pt x="3987191" y="10790"/>
                </a:lnTo>
                <a:lnTo>
                  <a:pt x="3991734" y="13488"/>
                </a:lnTo>
                <a:lnTo>
                  <a:pt x="3995726" y="16185"/>
                </a:lnTo>
                <a:lnTo>
                  <a:pt x="3999288" y="18883"/>
                </a:lnTo>
                <a:lnTo>
                  <a:pt x="4002502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15A0FF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58" name="Graphic 57" descr="Snow with solid fill">
            <a:extLst>
              <a:ext uri="{FF2B5EF4-FFF2-40B4-BE49-F238E27FC236}">
                <a16:creationId xmlns:a16="http://schemas.microsoft.com/office/drawing/2014/main" id="{AA23E8E0-FCF4-12E4-6CDD-1D4CD678C5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36293" y="1909449"/>
            <a:ext cx="376735" cy="376735"/>
          </a:xfrm>
          <a:prstGeom prst="rect">
            <a:avLst/>
          </a:prstGeom>
        </p:spPr>
      </p:pic>
      <p:pic>
        <p:nvPicPr>
          <p:cNvPr id="64" name="Graphic 63" descr="Umbrella outline">
            <a:extLst>
              <a:ext uri="{FF2B5EF4-FFF2-40B4-BE49-F238E27FC236}">
                <a16:creationId xmlns:a16="http://schemas.microsoft.com/office/drawing/2014/main" id="{043A1620-EAB7-AE89-081A-099BDFEFF6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5824" y="1847961"/>
            <a:ext cx="304185" cy="304185"/>
          </a:xfrm>
          <a:prstGeom prst="rect">
            <a:avLst/>
          </a:prstGeom>
        </p:spPr>
      </p:pic>
      <p:pic>
        <p:nvPicPr>
          <p:cNvPr id="68" name="Graphic 67" descr="Pandemic flattening curve line graph with solid fill">
            <a:extLst>
              <a:ext uri="{FF2B5EF4-FFF2-40B4-BE49-F238E27FC236}">
                <a16:creationId xmlns:a16="http://schemas.microsoft.com/office/drawing/2014/main" id="{15078B70-E628-8FAC-753D-07C04A878B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9834" y="4238066"/>
            <a:ext cx="360524" cy="360524"/>
          </a:xfrm>
          <a:prstGeom prst="rect">
            <a:avLst/>
          </a:prstGeom>
        </p:spPr>
      </p:pic>
      <p:pic>
        <p:nvPicPr>
          <p:cNvPr id="72" name="Graphic 71" descr="Target Audience with solid fill">
            <a:extLst>
              <a:ext uri="{FF2B5EF4-FFF2-40B4-BE49-F238E27FC236}">
                <a16:creationId xmlns:a16="http://schemas.microsoft.com/office/drawing/2014/main" id="{8AC2DFEE-9B98-A2AA-5702-6B5D9FEF34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55697" y="4266009"/>
            <a:ext cx="320808" cy="320808"/>
          </a:xfrm>
          <a:prstGeom prst="rect">
            <a:avLst/>
          </a:prstGeom>
        </p:spPr>
      </p:pic>
      <p:sp>
        <p:nvSpPr>
          <p:cNvPr id="79" name="Text 28">
            <a:extLst>
              <a:ext uri="{FF2B5EF4-FFF2-40B4-BE49-F238E27FC236}">
                <a16:creationId xmlns:a16="http://schemas.microsoft.com/office/drawing/2014/main" id="{AB859F9A-F924-32C0-13D7-5D07D7D93A9D}"/>
              </a:ext>
            </a:extLst>
          </p:cNvPr>
          <p:cNvSpPr/>
          <p:nvPr/>
        </p:nvSpPr>
        <p:spPr>
          <a:xfrm>
            <a:off x="914189" y="2828464"/>
            <a:ext cx="4756148" cy="660003"/>
          </a:xfrm>
          <a:prstGeom prst="roundRect">
            <a:avLst>
              <a:gd name="adj" fmla="val 14368"/>
            </a:avLst>
          </a:prstGeom>
          <a:solidFill>
            <a:schemeClr val="bg1">
              <a:alpha val="3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81" name="Text 29">
            <a:extLst>
              <a:ext uri="{FF2B5EF4-FFF2-40B4-BE49-F238E27FC236}">
                <a16:creationId xmlns:a16="http://schemas.microsoft.com/office/drawing/2014/main" id="{2DC2179C-2662-1BDA-270D-73E739429342}"/>
              </a:ext>
            </a:extLst>
          </p:cNvPr>
          <p:cNvSpPr/>
          <p:nvPr/>
        </p:nvSpPr>
        <p:spPr>
          <a:xfrm>
            <a:off x="1475080" y="2976279"/>
            <a:ext cx="3949867" cy="407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27"/>
              </a:lnSpc>
            </a:pPr>
            <a:r>
              <a:rPr lang="en-US" sz="1200" b="1" i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Quarter-based segmentation </a:t>
            </a:r>
            <a:r>
              <a:rPr lang="en-US" sz="1200" i="1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most appropriate.</a:t>
            </a:r>
          </a:p>
          <a:p>
            <a:pPr>
              <a:lnSpc>
                <a:spcPts val="1527"/>
              </a:lnSpc>
            </a:pPr>
            <a:r>
              <a:rPr lang="en-US" sz="933" i="1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Year-level cannot capture seasonal variation, and moth-level is too granular.</a:t>
            </a:r>
            <a:endParaRPr lang="en-US" sz="1200" i="1" dirty="0"/>
          </a:p>
        </p:txBody>
      </p:sp>
      <p:pic>
        <p:nvPicPr>
          <p:cNvPr id="76" name="Graphic 75" descr="Lightbulb and gear with solid fill">
            <a:extLst>
              <a:ext uri="{FF2B5EF4-FFF2-40B4-BE49-F238E27FC236}">
                <a16:creationId xmlns:a16="http://schemas.microsoft.com/office/drawing/2014/main" id="{375C70BC-91F9-1E3C-A7F3-6A2AFE8231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4146" y="3009039"/>
            <a:ext cx="340213" cy="340213"/>
          </a:xfrm>
          <a:prstGeom prst="rect">
            <a:avLst/>
          </a:prstGeom>
        </p:spPr>
      </p:pic>
      <p:sp>
        <p:nvSpPr>
          <p:cNvPr id="82" name="Text 28">
            <a:extLst>
              <a:ext uri="{FF2B5EF4-FFF2-40B4-BE49-F238E27FC236}">
                <a16:creationId xmlns:a16="http://schemas.microsoft.com/office/drawing/2014/main" id="{BF7FA36A-24FE-AFAA-3DEB-011EBFEE9C8F}"/>
              </a:ext>
            </a:extLst>
          </p:cNvPr>
          <p:cNvSpPr/>
          <p:nvPr/>
        </p:nvSpPr>
        <p:spPr>
          <a:xfrm>
            <a:off x="6480971" y="2812191"/>
            <a:ext cx="4756148" cy="660003"/>
          </a:xfrm>
          <a:prstGeom prst="roundRect">
            <a:avLst>
              <a:gd name="adj" fmla="val 14368"/>
            </a:avLst>
          </a:prstGeom>
          <a:solidFill>
            <a:schemeClr val="bg1">
              <a:alpha val="3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83" name="Text 29">
            <a:extLst>
              <a:ext uri="{FF2B5EF4-FFF2-40B4-BE49-F238E27FC236}">
                <a16:creationId xmlns:a16="http://schemas.microsoft.com/office/drawing/2014/main" id="{D6AE438A-8339-4B46-F29D-2733ED304F51}"/>
              </a:ext>
            </a:extLst>
          </p:cNvPr>
          <p:cNvSpPr/>
          <p:nvPr/>
        </p:nvSpPr>
        <p:spPr>
          <a:xfrm>
            <a:off x="7041863" y="2968473"/>
            <a:ext cx="3949867" cy="407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27"/>
              </a:lnSpc>
            </a:pPr>
            <a:r>
              <a:rPr lang="en-US" sz="1200" i="1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analysis focuses primarily on </a:t>
            </a:r>
            <a:r>
              <a:rPr lang="en-US" sz="1200" b="1" i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and Q3, especially Q3</a:t>
            </a:r>
            <a:r>
              <a:rPr lang="en-US" sz="1200" i="1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>
              <a:lnSpc>
                <a:spcPts val="1527"/>
              </a:lnSpc>
            </a:pPr>
            <a:r>
              <a:rPr lang="en-US" sz="933" i="1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When ridership is stable and weather effects are minimized.</a:t>
            </a:r>
            <a:endParaRPr lang="en-US" sz="1200" i="1" dirty="0"/>
          </a:p>
        </p:txBody>
      </p:sp>
      <p:pic>
        <p:nvPicPr>
          <p:cNvPr id="84" name="Graphic 83" descr="Lightbulb and gear with solid fill">
            <a:extLst>
              <a:ext uri="{FF2B5EF4-FFF2-40B4-BE49-F238E27FC236}">
                <a16:creationId xmlns:a16="http://schemas.microsoft.com/office/drawing/2014/main" id="{3C3C8FEC-F21D-4AE2-14DB-B7FCEEC63D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40928" y="2992766"/>
            <a:ext cx="340213" cy="340213"/>
          </a:xfrm>
          <a:prstGeom prst="rect">
            <a:avLst/>
          </a:prstGeom>
        </p:spPr>
      </p:pic>
      <p:sp>
        <p:nvSpPr>
          <p:cNvPr id="86" name="Text 28">
            <a:extLst>
              <a:ext uri="{FF2B5EF4-FFF2-40B4-BE49-F238E27FC236}">
                <a16:creationId xmlns:a16="http://schemas.microsoft.com/office/drawing/2014/main" id="{4D9BAE7C-479E-F72C-40BA-86B2C14B6B4D}"/>
              </a:ext>
            </a:extLst>
          </p:cNvPr>
          <p:cNvSpPr/>
          <p:nvPr/>
        </p:nvSpPr>
        <p:spPr>
          <a:xfrm>
            <a:off x="914189" y="5114429"/>
            <a:ext cx="4756148" cy="660003"/>
          </a:xfrm>
          <a:prstGeom prst="roundRect">
            <a:avLst>
              <a:gd name="adj" fmla="val 14368"/>
            </a:avLst>
          </a:prstGeom>
          <a:solidFill>
            <a:schemeClr val="bg1">
              <a:alpha val="3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88" name="Text 29">
            <a:extLst>
              <a:ext uri="{FF2B5EF4-FFF2-40B4-BE49-F238E27FC236}">
                <a16:creationId xmlns:a16="http://schemas.microsoft.com/office/drawing/2014/main" id="{009BAE14-4E7D-13E0-F450-1A1F4B8A8EB6}"/>
              </a:ext>
            </a:extLst>
          </p:cNvPr>
          <p:cNvSpPr/>
          <p:nvPr/>
        </p:nvSpPr>
        <p:spPr>
          <a:xfrm>
            <a:off x="1475080" y="5262245"/>
            <a:ext cx="4152923" cy="407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27"/>
              </a:lnSpc>
            </a:pPr>
            <a:r>
              <a:rPr lang="en-US" sz="1200" i="1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i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long-term trend analysis </a:t>
            </a:r>
            <a:r>
              <a:rPr lang="en-US" sz="1200" i="1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necessary.</a:t>
            </a:r>
          </a:p>
          <a:p>
            <a:pPr>
              <a:lnSpc>
                <a:spcPts val="1527"/>
              </a:lnSpc>
            </a:pPr>
            <a:r>
              <a:rPr lang="en-US" sz="933" i="1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to understand how rider behavior evolved before, during, and after the pandemic.</a:t>
            </a:r>
            <a:endParaRPr lang="en-US" sz="1200" i="1" dirty="0"/>
          </a:p>
        </p:txBody>
      </p:sp>
      <p:pic>
        <p:nvPicPr>
          <p:cNvPr id="90" name="Graphic 89" descr="Lightbulb and gear with solid fill">
            <a:extLst>
              <a:ext uri="{FF2B5EF4-FFF2-40B4-BE49-F238E27FC236}">
                <a16:creationId xmlns:a16="http://schemas.microsoft.com/office/drawing/2014/main" id="{99123D1C-6F4C-1055-C926-8262A802B1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4146" y="5295004"/>
            <a:ext cx="340213" cy="340213"/>
          </a:xfrm>
          <a:prstGeom prst="rect">
            <a:avLst/>
          </a:prstGeom>
        </p:spPr>
      </p:pic>
      <p:sp>
        <p:nvSpPr>
          <p:cNvPr id="91" name="Text 28">
            <a:extLst>
              <a:ext uri="{FF2B5EF4-FFF2-40B4-BE49-F238E27FC236}">
                <a16:creationId xmlns:a16="http://schemas.microsoft.com/office/drawing/2014/main" id="{DBE19ADC-E152-FC9D-4727-0758F88A348B}"/>
              </a:ext>
            </a:extLst>
          </p:cNvPr>
          <p:cNvSpPr/>
          <p:nvPr/>
        </p:nvSpPr>
        <p:spPr>
          <a:xfrm>
            <a:off x="6476335" y="5114429"/>
            <a:ext cx="4756148" cy="660003"/>
          </a:xfrm>
          <a:prstGeom prst="roundRect">
            <a:avLst>
              <a:gd name="adj" fmla="val 14368"/>
            </a:avLst>
          </a:prstGeom>
          <a:solidFill>
            <a:schemeClr val="bg1">
              <a:alpha val="3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92" name="Text 29">
            <a:extLst>
              <a:ext uri="{FF2B5EF4-FFF2-40B4-BE49-F238E27FC236}">
                <a16:creationId xmlns:a16="http://schemas.microsoft.com/office/drawing/2014/main" id="{901D04E7-6CA6-80F6-BEDB-1E05CE43A388}"/>
              </a:ext>
            </a:extLst>
          </p:cNvPr>
          <p:cNvSpPr/>
          <p:nvPr/>
        </p:nvSpPr>
        <p:spPr>
          <a:xfrm>
            <a:off x="7037227" y="5262245"/>
            <a:ext cx="4152923" cy="407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27"/>
              </a:lnSpc>
            </a:pPr>
            <a:r>
              <a:rPr lang="en-US" sz="1200" i="1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analysis must center on </a:t>
            </a:r>
            <a:r>
              <a:rPr lang="en-US" sz="1200" b="1" i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 differences</a:t>
            </a:r>
            <a:r>
              <a:rPr lang="en-US" sz="1200" i="1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>
              <a:lnSpc>
                <a:spcPts val="1527"/>
              </a:lnSpc>
            </a:pPr>
            <a:r>
              <a:rPr lang="en-US" sz="933" i="1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to identify conversion opportunities and support execute decision-making.</a:t>
            </a:r>
            <a:endParaRPr lang="en-US" sz="1200" i="1" dirty="0"/>
          </a:p>
        </p:txBody>
      </p:sp>
      <p:pic>
        <p:nvPicPr>
          <p:cNvPr id="93" name="Graphic 92" descr="Lightbulb and gear with solid fill">
            <a:extLst>
              <a:ext uri="{FF2B5EF4-FFF2-40B4-BE49-F238E27FC236}">
                <a16:creationId xmlns:a16="http://schemas.microsoft.com/office/drawing/2014/main" id="{2CFBE05B-1F93-3D86-0D80-F7EA26344C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36292" y="5295004"/>
            <a:ext cx="340213" cy="340213"/>
          </a:xfrm>
          <a:prstGeom prst="rect">
            <a:avLst/>
          </a:prstGeom>
        </p:spPr>
      </p:pic>
      <p:grpSp>
        <p:nvGrpSpPr>
          <p:cNvPr id="119" name="Group 118">
            <a:extLst>
              <a:ext uri="{FF2B5EF4-FFF2-40B4-BE49-F238E27FC236}">
                <a16:creationId xmlns:a16="http://schemas.microsoft.com/office/drawing/2014/main" id="{CA49359C-E4F8-6D37-6CD3-125975812B0F}"/>
              </a:ext>
            </a:extLst>
          </p:cNvPr>
          <p:cNvGrpSpPr/>
          <p:nvPr/>
        </p:nvGrpSpPr>
        <p:grpSpPr>
          <a:xfrm>
            <a:off x="10776745" y="1431260"/>
            <a:ext cx="986753" cy="1166161"/>
            <a:chOff x="8152358" y="1906137"/>
            <a:chExt cx="740065" cy="874621"/>
          </a:xfrm>
        </p:grpSpPr>
        <p:sp>
          <p:nvSpPr>
            <p:cNvPr id="19" name="Text 15">
              <a:extLst>
                <a:ext uri="{FF2B5EF4-FFF2-40B4-BE49-F238E27FC236}">
                  <a16:creationId xmlns:a16="http://schemas.microsoft.com/office/drawing/2014/main" id="{69392B54-935E-E7CC-2803-DEDE9CA49970}"/>
                </a:ext>
              </a:extLst>
            </p:cNvPr>
            <p:cNvSpPr/>
            <p:nvPr/>
          </p:nvSpPr>
          <p:spPr>
            <a:xfrm>
              <a:off x="8152358" y="2336602"/>
              <a:ext cx="400519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>
                <a:lnSpc>
                  <a:spcPts val="3600"/>
                </a:lnSpc>
              </a:pPr>
              <a:r>
                <a:rPr lang="en-US" sz="3600" dirty="0">
                  <a:solidFill>
                    <a:srgbClr val="00C6A7">
                      <a:alpha val="6000"/>
                    </a:srgbClr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02</a:t>
              </a:r>
              <a:endParaRPr lang="en-US" sz="3600" dirty="0"/>
            </a:p>
          </p:txBody>
        </p:sp>
        <p:sp>
          <p:nvSpPr>
            <p:cNvPr id="100" name="Text 35">
              <a:extLst>
                <a:ext uri="{FF2B5EF4-FFF2-40B4-BE49-F238E27FC236}">
                  <a16:creationId xmlns:a16="http://schemas.microsoft.com/office/drawing/2014/main" id="{D6A48F6F-4DDE-3630-EFB7-48A719EFE96B}"/>
                </a:ext>
              </a:extLst>
            </p:cNvPr>
            <p:cNvSpPr/>
            <p:nvPr/>
          </p:nvSpPr>
          <p:spPr>
            <a:xfrm>
              <a:off x="8165869" y="1906137"/>
              <a:ext cx="726210" cy="874621"/>
            </a:xfrm>
            <a:prstGeom prst="roundRect">
              <a:avLst>
                <a:gd name="adj" fmla="val 6691"/>
              </a:avLst>
            </a:prstGeom>
            <a:ln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rtlCol="0" anchor="t"/>
            <a:lstStyle/>
            <a:p>
              <a:endParaRPr lang="en-US" sz="2400" dirty="0"/>
            </a:p>
          </p:txBody>
        </p:sp>
        <p:sp>
          <p:nvSpPr>
            <p:cNvPr id="96" name="Text 46">
              <a:extLst>
                <a:ext uri="{FF2B5EF4-FFF2-40B4-BE49-F238E27FC236}">
                  <a16:creationId xmlns:a16="http://schemas.microsoft.com/office/drawing/2014/main" id="{0DFB2CFC-3557-F448-1E29-AB69B3C5DD11}"/>
                </a:ext>
              </a:extLst>
            </p:cNvPr>
            <p:cNvSpPr/>
            <p:nvPr/>
          </p:nvSpPr>
          <p:spPr>
            <a:xfrm>
              <a:off x="8586949" y="2102755"/>
              <a:ext cx="68418" cy="542756"/>
            </a:xfrm>
            <a:prstGeom prst="roundRect">
              <a:avLst>
                <a:gd name="adj" fmla="val 33349"/>
              </a:avLst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 anchor="t"/>
            <a:lstStyle/>
            <a:p>
              <a:endParaRPr lang="en-US" sz="800" dirty="0"/>
            </a:p>
          </p:txBody>
        </p:sp>
        <p:sp>
          <p:nvSpPr>
            <p:cNvPr id="101" name="Text 46">
              <a:extLst>
                <a:ext uri="{FF2B5EF4-FFF2-40B4-BE49-F238E27FC236}">
                  <a16:creationId xmlns:a16="http://schemas.microsoft.com/office/drawing/2014/main" id="{AADEA747-656B-2EAB-38C0-B43F926FFFE9}"/>
                </a:ext>
              </a:extLst>
            </p:cNvPr>
            <p:cNvSpPr/>
            <p:nvPr/>
          </p:nvSpPr>
          <p:spPr>
            <a:xfrm flipH="1">
              <a:off x="8735812" y="2317168"/>
              <a:ext cx="68418" cy="321564"/>
            </a:xfrm>
            <a:prstGeom prst="roundRect">
              <a:avLst>
                <a:gd name="adj" fmla="val 33349"/>
              </a:avLst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 anchor="t"/>
            <a:lstStyle/>
            <a:p>
              <a:endParaRPr lang="en-US" sz="2400" dirty="0"/>
            </a:p>
          </p:txBody>
        </p:sp>
        <p:sp>
          <p:nvSpPr>
            <p:cNvPr id="102" name="Text 46">
              <a:extLst>
                <a:ext uri="{FF2B5EF4-FFF2-40B4-BE49-F238E27FC236}">
                  <a16:creationId xmlns:a16="http://schemas.microsoft.com/office/drawing/2014/main" id="{3D70E509-D127-F53D-71D1-A26D4DCEF991}"/>
                </a:ext>
              </a:extLst>
            </p:cNvPr>
            <p:cNvSpPr/>
            <p:nvPr/>
          </p:nvSpPr>
          <p:spPr>
            <a:xfrm>
              <a:off x="8438086" y="2217185"/>
              <a:ext cx="68418" cy="428326"/>
            </a:xfrm>
            <a:prstGeom prst="roundRect">
              <a:avLst>
                <a:gd name="adj" fmla="val 33349"/>
              </a:avLst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 anchor="t"/>
            <a:lstStyle/>
            <a:p>
              <a:endParaRPr lang="en-US" sz="2400" dirty="0"/>
            </a:p>
          </p:txBody>
        </p:sp>
        <p:sp>
          <p:nvSpPr>
            <p:cNvPr id="103" name="Text 46">
              <a:extLst>
                <a:ext uri="{FF2B5EF4-FFF2-40B4-BE49-F238E27FC236}">
                  <a16:creationId xmlns:a16="http://schemas.microsoft.com/office/drawing/2014/main" id="{71E2A4D5-18FC-4A00-C787-123F96464FCD}"/>
                </a:ext>
              </a:extLst>
            </p:cNvPr>
            <p:cNvSpPr/>
            <p:nvPr/>
          </p:nvSpPr>
          <p:spPr>
            <a:xfrm>
              <a:off x="8289223" y="2447826"/>
              <a:ext cx="68418" cy="197685"/>
            </a:xfrm>
            <a:prstGeom prst="roundRect">
              <a:avLst>
                <a:gd name="adj" fmla="val 33349"/>
              </a:avLst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 anchor="t"/>
            <a:lstStyle/>
            <a:p>
              <a:endParaRPr lang="en-US" sz="2400" dirty="0"/>
            </a:p>
          </p:txBody>
        </p:sp>
        <p:sp>
          <p:nvSpPr>
            <p:cNvPr id="112" name="Text 42">
              <a:extLst>
                <a:ext uri="{FF2B5EF4-FFF2-40B4-BE49-F238E27FC236}">
                  <a16:creationId xmlns:a16="http://schemas.microsoft.com/office/drawing/2014/main" id="{1D49028E-EA0B-94DE-D1E0-FEF5D485EE4A}"/>
                </a:ext>
              </a:extLst>
            </p:cNvPr>
            <p:cNvSpPr/>
            <p:nvPr/>
          </p:nvSpPr>
          <p:spPr>
            <a:xfrm>
              <a:off x="8287002" y="2649380"/>
              <a:ext cx="138663" cy="9703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>
                <a:lnSpc>
                  <a:spcPts val="1020"/>
                </a:lnSpc>
              </a:pPr>
              <a:r>
                <a:rPr lang="en-US" sz="68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Q1</a:t>
              </a:r>
              <a:endParaRPr lang="en-US" sz="680" b="1" dirty="0">
                <a:solidFill>
                  <a:schemeClr val="bg1"/>
                </a:solidFill>
              </a:endParaRPr>
            </a:p>
          </p:txBody>
        </p:sp>
        <p:sp>
          <p:nvSpPr>
            <p:cNvPr id="114" name="Text 42">
              <a:extLst>
                <a:ext uri="{FF2B5EF4-FFF2-40B4-BE49-F238E27FC236}">
                  <a16:creationId xmlns:a16="http://schemas.microsoft.com/office/drawing/2014/main" id="{C4D88047-4BF3-AD2D-6430-6ECC827C71AC}"/>
                </a:ext>
              </a:extLst>
            </p:cNvPr>
            <p:cNvSpPr/>
            <p:nvPr/>
          </p:nvSpPr>
          <p:spPr>
            <a:xfrm>
              <a:off x="8434504" y="2649380"/>
              <a:ext cx="138663" cy="9703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>
                <a:lnSpc>
                  <a:spcPts val="1020"/>
                </a:lnSpc>
              </a:pPr>
              <a:r>
                <a:rPr lang="en-US" sz="68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Q2</a:t>
              </a:r>
              <a:endParaRPr lang="en-US" sz="680" b="1" dirty="0">
                <a:solidFill>
                  <a:schemeClr val="bg1"/>
                </a:solidFill>
              </a:endParaRPr>
            </a:p>
          </p:txBody>
        </p:sp>
        <p:sp>
          <p:nvSpPr>
            <p:cNvPr id="115" name="Text 42">
              <a:extLst>
                <a:ext uri="{FF2B5EF4-FFF2-40B4-BE49-F238E27FC236}">
                  <a16:creationId xmlns:a16="http://schemas.microsoft.com/office/drawing/2014/main" id="{A00C4B19-019D-D35D-6422-4B027F638DE7}"/>
                </a:ext>
              </a:extLst>
            </p:cNvPr>
            <p:cNvSpPr/>
            <p:nvPr/>
          </p:nvSpPr>
          <p:spPr>
            <a:xfrm>
              <a:off x="8577117" y="2649380"/>
              <a:ext cx="138663" cy="9703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>
                <a:lnSpc>
                  <a:spcPts val="1020"/>
                </a:lnSpc>
              </a:pPr>
              <a:r>
                <a:rPr lang="en-US" sz="68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Q3</a:t>
              </a:r>
              <a:endParaRPr lang="en-US" sz="680" b="1" dirty="0">
                <a:solidFill>
                  <a:schemeClr val="bg1"/>
                </a:solidFill>
              </a:endParaRPr>
            </a:p>
          </p:txBody>
        </p:sp>
        <p:sp>
          <p:nvSpPr>
            <p:cNvPr id="116" name="Text 42">
              <a:extLst>
                <a:ext uri="{FF2B5EF4-FFF2-40B4-BE49-F238E27FC236}">
                  <a16:creationId xmlns:a16="http://schemas.microsoft.com/office/drawing/2014/main" id="{515A52E2-EF9C-AC77-E1BE-D27CE3FAB95E}"/>
                </a:ext>
              </a:extLst>
            </p:cNvPr>
            <p:cNvSpPr/>
            <p:nvPr/>
          </p:nvSpPr>
          <p:spPr>
            <a:xfrm>
              <a:off x="8734253" y="2649380"/>
              <a:ext cx="138663" cy="9703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>
                <a:lnSpc>
                  <a:spcPts val="1020"/>
                </a:lnSpc>
              </a:pPr>
              <a:r>
                <a:rPr lang="en-US" sz="68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Q4</a:t>
              </a:r>
              <a:endParaRPr lang="en-US" sz="680" b="1" dirty="0">
                <a:solidFill>
                  <a:schemeClr val="bg1"/>
                </a:solidFill>
              </a:endParaRPr>
            </a:p>
          </p:txBody>
        </p:sp>
        <p:sp>
          <p:nvSpPr>
            <p:cNvPr id="118" name="Text 34">
              <a:extLst>
                <a:ext uri="{FF2B5EF4-FFF2-40B4-BE49-F238E27FC236}">
                  <a16:creationId xmlns:a16="http://schemas.microsoft.com/office/drawing/2014/main" id="{FFAD73D5-6D4C-442C-84C6-BB66304A402F}"/>
                </a:ext>
              </a:extLst>
            </p:cNvPr>
            <p:cNvSpPr/>
            <p:nvPr/>
          </p:nvSpPr>
          <p:spPr>
            <a:xfrm>
              <a:off x="8239145" y="1945146"/>
              <a:ext cx="653278" cy="1260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>
                <a:lnSpc>
                  <a:spcPts val="1580"/>
                </a:lnSpc>
              </a:pPr>
              <a:r>
                <a:rPr lang="en-US" sz="1053" b="1" kern="0" spc="21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Usage Volume</a:t>
              </a:r>
              <a:endParaRPr lang="en-US" sz="1053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140" name="Text 29">
            <a:extLst>
              <a:ext uri="{FF2B5EF4-FFF2-40B4-BE49-F238E27FC236}">
                <a16:creationId xmlns:a16="http://schemas.microsoft.com/office/drawing/2014/main" id="{6E847F78-5747-6A08-7605-9BC6B2E01CF4}"/>
              </a:ext>
            </a:extLst>
          </p:cNvPr>
          <p:cNvSpPr/>
          <p:nvPr/>
        </p:nvSpPr>
        <p:spPr>
          <a:xfrm>
            <a:off x="0" y="6343819"/>
            <a:ext cx="12192000" cy="514747"/>
          </a:xfrm>
          <a:prstGeom prst="rect">
            <a:avLst/>
          </a:prstGeom>
          <a:gradFill rotWithShape="1">
            <a:gsLst>
              <a:gs pos="0">
                <a:srgbClr val="16204A">
                  <a:alpha val="60000"/>
                </a:srgbClr>
              </a:gs>
              <a:gs pos="100000">
                <a:srgbClr val="0D1B2A">
                  <a:alpha val="6000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42" name="Text 30">
            <a:extLst>
              <a:ext uri="{FF2B5EF4-FFF2-40B4-BE49-F238E27FC236}">
                <a16:creationId xmlns:a16="http://schemas.microsoft.com/office/drawing/2014/main" id="{30593EC9-5B57-959B-3BB7-05A8F2EA9F97}"/>
              </a:ext>
            </a:extLst>
          </p:cNvPr>
          <p:cNvSpPr/>
          <p:nvPr/>
        </p:nvSpPr>
        <p:spPr>
          <a:xfrm>
            <a:off x="0" y="6343820"/>
            <a:ext cx="12192000" cy="12700"/>
          </a:xfrm>
          <a:prstGeom prst="rect">
            <a:avLst/>
          </a:prstGeom>
          <a:solidFill>
            <a:srgbClr val="00C6A7">
              <a:alpha val="2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144" name="Text 32">
            <a:extLst>
              <a:ext uri="{FF2B5EF4-FFF2-40B4-BE49-F238E27FC236}">
                <a16:creationId xmlns:a16="http://schemas.microsoft.com/office/drawing/2014/main" id="{1E2036F6-B19C-DEF5-B6F3-80C2D01E66CE}"/>
              </a:ext>
            </a:extLst>
          </p:cNvPr>
          <p:cNvSpPr/>
          <p:nvPr/>
        </p:nvSpPr>
        <p:spPr>
          <a:xfrm>
            <a:off x="5693172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6" name="Text 33">
            <a:extLst>
              <a:ext uri="{FF2B5EF4-FFF2-40B4-BE49-F238E27FC236}">
                <a16:creationId xmlns:a16="http://schemas.microsoft.com/office/drawing/2014/main" id="{1807E5EC-8B99-F251-F73A-F98CA1FC3C28}"/>
              </a:ext>
            </a:extLst>
          </p:cNvPr>
          <p:cNvSpPr/>
          <p:nvPr/>
        </p:nvSpPr>
        <p:spPr>
          <a:xfrm>
            <a:off x="5808265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8" name="Text 34">
            <a:extLst>
              <a:ext uri="{FF2B5EF4-FFF2-40B4-BE49-F238E27FC236}">
                <a16:creationId xmlns:a16="http://schemas.microsoft.com/office/drawing/2014/main" id="{CA12A976-B997-33DA-DD64-5A769A648600}"/>
              </a:ext>
            </a:extLst>
          </p:cNvPr>
          <p:cNvSpPr/>
          <p:nvPr/>
        </p:nvSpPr>
        <p:spPr>
          <a:xfrm>
            <a:off x="5923360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50" name="Text 35">
            <a:extLst>
              <a:ext uri="{FF2B5EF4-FFF2-40B4-BE49-F238E27FC236}">
                <a16:creationId xmlns:a16="http://schemas.microsoft.com/office/drawing/2014/main" id="{C3DFD961-9A32-1E11-8345-A75142AB7C71}"/>
              </a:ext>
            </a:extLst>
          </p:cNvPr>
          <p:cNvSpPr/>
          <p:nvPr/>
        </p:nvSpPr>
        <p:spPr>
          <a:xfrm>
            <a:off x="6038453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52" name="Text 36">
            <a:extLst>
              <a:ext uri="{FF2B5EF4-FFF2-40B4-BE49-F238E27FC236}">
                <a16:creationId xmlns:a16="http://schemas.microsoft.com/office/drawing/2014/main" id="{226A7100-7521-17C7-CCB0-E7CDFFF6534D}"/>
              </a:ext>
            </a:extLst>
          </p:cNvPr>
          <p:cNvSpPr/>
          <p:nvPr/>
        </p:nvSpPr>
        <p:spPr>
          <a:xfrm>
            <a:off x="6153547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54" name="Text 37">
            <a:extLst>
              <a:ext uri="{FF2B5EF4-FFF2-40B4-BE49-F238E27FC236}">
                <a16:creationId xmlns:a16="http://schemas.microsoft.com/office/drawing/2014/main" id="{CCFC4F1B-2406-96C3-7E31-BB00B64B7388}"/>
              </a:ext>
            </a:extLst>
          </p:cNvPr>
          <p:cNvSpPr/>
          <p:nvPr/>
        </p:nvSpPr>
        <p:spPr>
          <a:xfrm>
            <a:off x="6268640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56" name="Text 38">
            <a:extLst>
              <a:ext uri="{FF2B5EF4-FFF2-40B4-BE49-F238E27FC236}">
                <a16:creationId xmlns:a16="http://schemas.microsoft.com/office/drawing/2014/main" id="{A621BEF1-FAFC-7279-6B89-4967F8C035D1}"/>
              </a:ext>
            </a:extLst>
          </p:cNvPr>
          <p:cNvSpPr/>
          <p:nvPr/>
        </p:nvSpPr>
        <p:spPr>
          <a:xfrm>
            <a:off x="6383735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58" name="Text 39">
            <a:extLst>
              <a:ext uri="{FF2B5EF4-FFF2-40B4-BE49-F238E27FC236}">
                <a16:creationId xmlns:a16="http://schemas.microsoft.com/office/drawing/2014/main" id="{5640A0D8-2015-0BBE-4CAC-50AEC4D48151}"/>
              </a:ext>
            </a:extLst>
          </p:cNvPr>
          <p:cNvSpPr/>
          <p:nvPr/>
        </p:nvSpPr>
        <p:spPr>
          <a:xfrm>
            <a:off x="6498828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60" name="Text 40">
            <a:extLst>
              <a:ext uri="{FF2B5EF4-FFF2-40B4-BE49-F238E27FC236}">
                <a16:creationId xmlns:a16="http://schemas.microsoft.com/office/drawing/2014/main" id="{0C4566F5-8052-5844-4C01-D3EC605DCA98}"/>
              </a:ext>
            </a:extLst>
          </p:cNvPr>
          <p:cNvSpPr/>
          <p:nvPr/>
        </p:nvSpPr>
        <p:spPr>
          <a:xfrm>
            <a:off x="6613921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62" name="Text 41">
            <a:extLst>
              <a:ext uri="{FF2B5EF4-FFF2-40B4-BE49-F238E27FC236}">
                <a16:creationId xmlns:a16="http://schemas.microsoft.com/office/drawing/2014/main" id="{CBDD7594-FAB5-90F4-4FCB-E60DE5E2B3B1}"/>
              </a:ext>
            </a:extLst>
          </p:cNvPr>
          <p:cNvSpPr/>
          <p:nvPr/>
        </p:nvSpPr>
        <p:spPr>
          <a:xfrm>
            <a:off x="6729016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64" name="Text 42">
            <a:extLst>
              <a:ext uri="{FF2B5EF4-FFF2-40B4-BE49-F238E27FC236}">
                <a16:creationId xmlns:a16="http://schemas.microsoft.com/office/drawing/2014/main" id="{690B439B-CE0C-AC90-7FA5-724DD5241A93}"/>
              </a:ext>
            </a:extLst>
          </p:cNvPr>
          <p:cNvSpPr/>
          <p:nvPr/>
        </p:nvSpPr>
        <p:spPr>
          <a:xfrm>
            <a:off x="6844109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66" name="Text 43">
            <a:extLst>
              <a:ext uri="{FF2B5EF4-FFF2-40B4-BE49-F238E27FC236}">
                <a16:creationId xmlns:a16="http://schemas.microsoft.com/office/drawing/2014/main" id="{9471CF03-6D20-FF6E-50BB-95599CA2C2AE}"/>
              </a:ext>
            </a:extLst>
          </p:cNvPr>
          <p:cNvSpPr/>
          <p:nvPr/>
        </p:nvSpPr>
        <p:spPr>
          <a:xfrm>
            <a:off x="9235167" y="6504980"/>
            <a:ext cx="2451952" cy="13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ts val="1460"/>
              </a:lnSpc>
            </a:pPr>
            <a:r>
              <a:rPr lang="en-US" sz="973" kern="0" spc="49" dirty="0">
                <a:solidFill>
                  <a:schemeClr val="bg1">
                    <a:lumMod val="50000"/>
                  </a:scheme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Prepared by Younggi Kim </a:t>
            </a:r>
            <a:endParaRPr lang="en-US" sz="973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68" name="Image 3" descr="preencoded.png">
            <a:extLst>
              <a:ext uri="{FF2B5EF4-FFF2-40B4-BE49-F238E27FC236}">
                <a16:creationId xmlns:a16="http://schemas.microsoft.com/office/drawing/2014/main" id="{E9E9137A-F176-9376-0FE1-298C5AF3CED9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5088" y="6519150"/>
            <a:ext cx="176784" cy="176784"/>
          </a:xfrm>
          <a:prstGeom prst="rect">
            <a:avLst/>
          </a:prstGeom>
        </p:spPr>
      </p:pic>
      <p:sp>
        <p:nvSpPr>
          <p:cNvPr id="170" name="Text 16">
            <a:extLst>
              <a:ext uri="{FF2B5EF4-FFF2-40B4-BE49-F238E27FC236}">
                <a16:creationId xmlns:a16="http://schemas.microsoft.com/office/drawing/2014/main" id="{6317A51A-F056-1810-1868-C538951967C3}"/>
              </a:ext>
            </a:extLst>
          </p:cNvPr>
          <p:cNvSpPr/>
          <p:nvPr/>
        </p:nvSpPr>
        <p:spPr>
          <a:xfrm>
            <a:off x="892831" y="6519150"/>
            <a:ext cx="4319349" cy="172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360"/>
              </a:lnSpc>
            </a:pPr>
            <a:r>
              <a:rPr lang="en-US" sz="907" dirty="0">
                <a:solidFill>
                  <a:srgbClr val="6E8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CYCLISTIC BIKE-SHARE · GOOGLE DATA ANALYTICS CAPSTONE</a:t>
            </a:r>
            <a:endParaRPr lang="en-US" sz="907" dirty="0">
              <a:solidFill>
                <a:srgbClr val="6E809F"/>
              </a:solidFill>
            </a:endParaRPr>
          </a:p>
        </p:txBody>
      </p:sp>
      <p:sp>
        <p:nvSpPr>
          <p:cNvPr id="51" name="Text 0">
            <a:extLst>
              <a:ext uri="{FF2B5EF4-FFF2-40B4-BE49-F238E27FC236}">
                <a16:creationId xmlns:a16="http://schemas.microsoft.com/office/drawing/2014/main" id="{CD421B10-5B52-4A47-5B30-50AB99EFAAAE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E4002B">
              <a:alpha val="87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34699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01B35-2DB2-7772-C3E6-EDBAE8E62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0">
            <a:extLst>
              <a:ext uri="{FF2B5EF4-FFF2-40B4-BE49-F238E27FC236}">
                <a16:creationId xmlns:a16="http://schemas.microsoft.com/office/drawing/2014/main" id="{A6268DE8-BC48-382C-E5E5-D22BB3AF27A3}"/>
              </a:ext>
            </a:extLst>
          </p:cNvPr>
          <p:cNvSpPr/>
          <p:nvPr/>
        </p:nvSpPr>
        <p:spPr>
          <a:xfrm>
            <a:off x="-5160" y="-3868"/>
            <a:ext cx="12192000" cy="6858000"/>
          </a:xfrm>
          <a:prstGeom prst="rect">
            <a:avLst/>
          </a:prstGeom>
          <a:gradFill rotWithShape="1">
            <a:gsLst>
              <a:gs pos="0">
                <a:srgbClr val="0C122C">
                  <a:alpha val="96863"/>
                </a:srgbClr>
              </a:gs>
              <a:gs pos="50000">
                <a:srgbClr val="002060">
                  <a:alpha val="92000"/>
                </a:srgbClr>
              </a:gs>
              <a:gs pos="100000">
                <a:srgbClr val="15A0FF">
                  <a:alpha val="8000"/>
                </a:srgbClr>
              </a:gs>
            </a:gsLst>
            <a:lin ang="420000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334" name="Text 6">
            <a:extLst>
              <a:ext uri="{FF2B5EF4-FFF2-40B4-BE49-F238E27FC236}">
                <a16:creationId xmlns:a16="http://schemas.microsoft.com/office/drawing/2014/main" id="{E9CE1A45-7FF0-A1B0-0E59-954B414C74D9}"/>
              </a:ext>
            </a:extLst>
          </p:cNvPr>
          <p:cNvSpPr/>
          <p:nvPr/>
        </p:nvSpPr>
        <p:spPr>
          <a:xfrm>
            <a:off x="613456" y="4619003"/>
            <a:ext cx="10968945" cy="1922501"/>
          </a:xfrm>
          <a:prstGeom prst="roundRect">
            <a:avLst>
              <a:gd name="adj" fmla="val 2733"/>
            </a:avLst>
          </a:prstGeom>
          <a:solidFill>
            <a:srgbClr val="1A2E42">
              <a:alpha val="65000"/>
            </a:srgbClr>
          </a:solidFill>
          <a:ln w="9525">
            <a:solidFill>
              <a:srgbClr val="00C6A7">
                <a:alpha val="18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B0D4257A-E661-1740-910F-81A2DD3C852B}"/>
              </a:ext>
            </a:extLst>
          </p:cNvPr>
          <p:cNvSpPr/>
          <p:nvPr/>
        </p:nvSpPr>
        <p:spPr>
          <a:xfrm>
            <a:off x="241300" y="832247"/>
            <a:ext cx="1905000" cy="1905000"/>
          </a:xfrm>
          <a:prstGeom prst="rect">
            <a:avLst/>
          </a:prstGeom>
          <a:gradFill rotWithShape="1">
            <a:gsLst>
              <a:gs pos="0">
                <a:srgbClr val="00C6A7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E42693B-D594-FB4B-73F5-612386C9684B}"/>
              </a:ext>
            </a:extLst>
          </p:cNvPr>
          <p:cNvSpPr/>
          <p:nvPr/>
        </p:nvSpPr>
        <p:spPr>
          <a:xfrm>
            <a:off x="609600" y="286147"/>
            <a:ext cx="12070080" cy="172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60"/>
              </a:lnSpc>
            </a:pPr>
            <a:r>
              <a:rPr lang="en-US" sz="907" b="1" kern="0" spc="163" dirty="0">
                <a:solidFill>
                  <a:srgbClr val="15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ANALYSIS</a:t>
            </a:r>
            <a:endParaRPr lang="en-US" sz="907" dirty="0">
              <a:solidFill>
                <a:srgbClr val="15A0FF"/>
              </a:solidFill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CF375D4-611B-6439-6105-9C083EF8FCB0}"/>
              </a:ext>
            </a:extLst>
          </p:cNvPr>
          <p:cNvSpPr/>
          <p:nvPr/>
        </p:nvSpPr>
        <p:spPr>
          <a:xfrm>
            <a:off x="609600" y="497681"/>
            <a:ext cx="11740896" cy="371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29"/>
              </a:lnSpc>
            </a:pPr>
            <a:r>
              <a:rPr lang="en-US" sz="2547" kern="0" spc="-25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Rider Behavior in Q3 in Year </a:t>
            </a:r>
            <a:r>
              <a:rPr lang="en-US" sz="2547" b="1" kern="0" spc="-25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2016</a:t>
            </a:r>
            <a:endParaRPr lang="en-US" sz="2547" b="1" dirty="0">
              <a:solidFill>
                <a:srgbClr val="15A0FF"/>
              </a:solidFill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E0E944F-CB2E-3423-7047-20DE1F2EBD21}"/>
              </a:ext>
            </a:extLst>
          </p:cNvPr>
          <p:cNvSpPr/>
          <p:nvPr/>
        </p:nvSpPr>
        <p:spPr>
          <a:xfrm>
            <a:off x="609600" y="945754"/>
            <a:ext cx="496093" cy="28773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15A0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3430791-0413-8BED-5DAC-65F6F26CC7E0}"/>
              </a:ext>
            </a:extLst>
          </p:cNvPr>
          <p:cNvSpPr/>
          <p:nvPr/>
        </p:nvSpPr>
        <p:spPr>
          <a:xfrm>
            <a:off x="609601" y="1208199"/>
            <a:ext cx="5390753" cy="3360005"/>
          </a:xfrm>
          <a:prstGeom prst="roundRect">
            <a:avLst>
              <a:gd name="adj" fmla="val 2733"/>
            </a:avLst>
          </a:prstGeom>
          <a:solidFill>
            <a:srgbClr val="1A2E42">
              <a:alpha val="65000"/>
            </a:srgbClr>
          </a:solidFill>
          <a:ln w="9525">
            <a:solidFill>
              <a:srgbClr val="00C6A7">
                <a:alpha val="18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5948B60-2AF4-8237-1DAB-A75DB58BC379}"/>
              </a:ext>
            </a:extLst>
          </p:cNvPr>
          <p:cNvSpPr/>
          <p:nvPr/>
        </p:nvSpPr>
        <p:spPr>
          <a:xfrm>
            <a:off x="908447" y="1480741"/>
            <a:ext cx="47228" cy="399455"/>
          </a:xfrm>
          <a:prstGeom prst="roundRect">
            <a:avLst>
              <a:gd name="adj" fmla="val 60953"/>
            </a:avLst>
          </a:prstGeom>
          <a:solidFill>
            <a:srgbClr val="FF9D5B">
              <a:alpha val="80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7D742AA-7367-5B37-55C1-A0BF3AE93D0D}"/>
              </a:ext>
            </a:extLst>
          </p:cNvPr>
          <p:cNvSpPr/>
          <p:nvPr/>
        </p:nvSpPr>
        <p:spPr>
          <a:xfrm>
            <a:off x="1070770" y="1480741"/>
            <a:ext cx="399455" cy="399455"/>
          </a:xfrm>
          <a:prstGeom prst="roundRect">
            <a:avLst>
              <a:gd name="adj" fmla="val 23739"/>
            </a:avLst>
          </a:prstGeom>
          <a:solidFill>
            <a:srgbClr val="00C6A7">
              <a:alpha val="12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544E024A-9624-3964-47F3-75F71BBD9D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2104" y="1592076"/>
            <a:ext cx="176784" cy="176784"/>
          </a:xfrm>
          <a:prstGeom prst="rect">
            <a:avLst/>
          </a:prstGeom>
        </p:spPr>
      </p:pic>
      <p:sp>
        <p:nvSpPr>
          <p:cNvPr id="12" name="Text 9">
            <a:extLst>
              <a:ext uri="{FF2B5EF4-FFF2-40B4-BE49-F238E27FC236}">
                <a16:creationId xmlns:a16="http://schemas.microsoft.com/office/drawing/2014/main" id="{13A49A78-6AEE-4CDB-4D28-E048D180D51E}"/>
              </a:ext>
            </a:extLst>
          </p:cNvPr>
          <p:cNvSpPr/>
          <p:nvPr/>
        </p:nvSpPr>
        <p:spPr>
          <a:xfrm>
            <a:off x="1585318" y="1483916"/>
            <a:ext cx="2139375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57"/>
              </a:lnSpc>
            </a:pPr>
            <a:r>
              <a:rPr lang="en-US" sz="1507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Riders</a:t>
            </a:r>
            <a:endParaRPr lang="en-US" sz="1507" dirty="0">
              <a:solidFill>
                <a:srgbClr val="FF6600"/>
              </a:solidFill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7DBA9C1B-EA8F-D316-309F-A1F127ABBD4D}"/>
              </a:ext>
            </a:extLst>
          </p:cNvPr>
          <p:cNvSpPr/>
          <p:nvPr/>
        </p:nvSpPr>
        <p:spPr>
          <a:xfrm>
            <a:off x="1585318" y="1704380"/>
            <a:ext cx="2139375" cy="172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60"/>
              </a:lnSpc>
            </a:pPr>
            <a:r>
              <a:rPr lang="en-US" sz="907" kern="0" spc="72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LEISURE-ORIENTED SEGMENT</a:t>
            </a:r>
            <a:endParaRPr lang="en-US" sz="907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1755CA93-EC27-3A47-C6EB-E6885D667E41}"/>
              </a:ext>
            </a:extLst>
          </p:cNvPr>
          <p:cNvSpPr/>
          <p:nvPr/>
        </p:nvSpPr>
        <p:spPr>
          <a:xfrm>
            <a:off x="908447" y="2071489"/>
            <a:ext cx="4793060" cy="1012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1D436553-1879-7864-5D07-70CA9752E72F}"/>
              </a:ext>
            </a:extLst>
          </p:cNvPr>
          <p:cNvSpPr/>
          <p:nvPr/>
        </p:nvSpPr>
        <p:spPr>
          <a:xfrm>
            <a:off x="908447" y="2262584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00C6A7">
              <a:alpha val="1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16" name="Image 1" descr="preencoded.png">
            <a:extLst>
              <a:ext uri="{FF2B5EF4-FFF2-40B4-BE49-F238E27FC236}">
                <a16:creationId xmlns:a16="http://schemas.microsoft.com/office/drawing/2014/main" id="{72DE6728-7882-85B4-1816-62419C0C9F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2455" y="2326592"/>
            <a:ext cx="176784" cy="176784"/>
          </a:xfrm>
          <a:prstGeom prst="rect">
            <a:avLst/>
          </a:prstGeom>
        </p:spPr>
      </p:pic>
      <p:sp>
        <p:nvSpPr>
          <p:cNvPr id="18" name="Text 14">
            <a:extLst>
              <a:ext uri="{FF2B5EF4-FFF2-40B4-BE49-F238E27FC236}">
                <a16:creationId xmlns:a16="http://schemas.microsoft.com/office/drawing/2014/main" id="{DD3093C3-DFD3-A4EB-EA88-CF0CF5F08D5B}"/>
              </a:ext>
            </a:extLst>
          </p:cNvPr>
          <p:cNvSpPr/>
          <p:nvPr/>
        </p:nvSpPr>
        <p:spPr>
          <a:xfrm>
            <a:off x="908447" y="2715749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00C6A7">
              <a:alpha val="1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48CA6D79-3D70-137B-B051-380759CC16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2455" y="2790341"/>
            <a:ext cx="176784" cy="176784"/>
          </a:xfrm>
          <a:prstGeom prst="rect">
            <a:avLst/>
          </a:prstGeom>
        </p:spPr>
      </p:pic>
      <p:sp>
        <p:nvSpPr>
          <p:cNvPr id="20" name="Text 15">
            <a:extLst>
              <a:ext uri="{FF2B5EF4-FFF2-40B4-BE49-F238E27FC236}">
                <a16:creationId xmlns:a16="http://schemas.microsoft.com/office/drawing/2014/main" id="{0AC943C3-B2CA-46A3-B3F2-CFCF7981F64F}"/>
              </a:ext>
            </a:extLst>
          </p:cNvPr>
          <p:cNvSpPr/>
          <p:nvPr/>
        </p:nvSpPr>
        <p:spPr>
          <a:xfrm>
            <a:off x="1319911" y="4083809"/>
            <a:ext cx="3749853" cy="278408"/>
          </a:xfrm>
          <a:prstGeom prst="rect">
            <a:avLst/>
          </a:prstGeom>
          <a:noFill/>
          <a:ln/>
        </p:spPr>
        <p:txBody>
          <a:bodyPr wrap="none" lIns="0" tIns="57573" rIns="0" bIns="0" rtlCol="0" anchor="t"/>
          <a:lstStyle/>
          <a:p>
            <a:pPr>
              <a:lnSpc>
                <a:spcPts val="1740"/>
              </a:lnSpc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average ride duration – </a:t>
            </a:r>
            <a:r>
              <a:rPr lang="en-US" sz="1200" b="1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minutes per trip</a:t>
            </a:r>
            <a:endParaRPr lang="en-US" sz="1200" b="1" dirty="0">
              <a:solidFill>
                <a:srgbClr val="0087E2"/>
              </a:solidFill>
            </a:endParaRP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AF5E239C-AB91-ABE0-D37D-E7C806B37406}"/>
              </a:ext>
            </a:extLst>
          </p:cNvPr>
          <p:cNvSpPr/>
          <p:nvPr/>
        </p:nvSpPr>
        <p:spPr>
          <a:xfrm>
            <a:off x="908447" y="316891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00C6A7">
              <a:alpha val="1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22" name="Image 3" descr="preencoded.png">
            <a:extLst>
              <a:ext uri="{FF2B5EF4-FFF2-40B4-BE49-F238E27FC236}">
                <a16:creationId xmlns:a16="http://schemas.microsoft.com/office/drawing/2014/main" id="{E73F795A-91AD-7E1F-8A3A-1B836A9955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2455" y="3245623"/>
            <a:ext cx="176784" cy="176784"/>
          </a:xfrm>
          <a:prstGeom prst="rect">
            <a:avLst/>
          </a:prstGeom>
        </p:spPr>
      </p:pic>
      <p:sp>
        <p:nvSpPr>
          <p:cNvPr id="23" name="Text 17">
            <a:extLst>
              <a:ext uri="{FF2B5EF4-FFF2-40B4-BE49-F238E27FC236}">
                <a16:creationId xmlns:a16="http://schemas.microsoft.com/office/drawing/2014/main" id="{077D2539-4387-8D53-0BD8-17E970D4FE7A}"/>
              </a:ext>
            </a:extLst>
          </p:cNvPr>
          <p:cNvSpPr/>
          <p:nvPr/>
        </p:nvSpPr>
        <p:spPr>
          <a:xfrm>
            <a:off x="1319911" y="3179540"/>
            <a:ext cx="4257576" cy="278408"/>
          </a:xfrm>
          <a:prstGeom prst="rect">
            <a:avLst/>
          </a:prstGeom>
          <a:noFill/>
          <a:ln/>
        </p:spPr>
        <p:txBody>
          <a:bodyPr wrap="none" lIns="0" tIns="57573" rIns="0" bIns="0" rtlCol="0" anchor="t"/>
          <a:lstStyle/>
          <a:p>
            <a:pPr>
              <a:lnSpc>
                <a:spcPts val="1740"/>
              </a:lnSpc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riders start near tourist or lakeside locations</a:t>
            </a:r>
            <a:endParaRPr lang="en-US" sz="1200" dirty="0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E08BD7B2-9FBB-6C3A-890E-B4E64F26223D}"/>
              </a:ext>
            </a:extLst>
          </p:cNvPr>
          <p:cNvSpPr/>
          <p:nvPr/>
        </p:nvSpPr>
        <p:spPr>
          <a:xfrm>
            <a:off x="908447" y="362208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00C6A7">
              <a:alpha val="1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25" name="Image 4" descr="preencoded.png">
            <a:extLst>
              <a:ext uri="{FF2B5EF4-FFF2-40B4-BE49-F238E27FC236}">
                <a16:creationId xmlns:a16="http://schemas.microsoft.com/office/drawing/2014/main" id="{943C3E3D-17A5-E2A0-AAC1-D4E1E7CE73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2455" y="3700904"/>
            <a:ext cx="176784" cy="176784"/>
          </a:xfrm>
          <a:prstGeom prst="rect">
            <a:avLst/>
          </a:prstGeom>
        </p:spPr>
      </p:pic>
      <p:sp>
        <p:nvSpPr>
          <p:cNvPr id="26" name="Text 19">
            <a:extLst>
              <a:ext uri="{FF2B5EF4-FFF2-40B4-BE49-F238E27FC236}">
                <a16:creationId xmlns:a16="http://schemas.microsoft.com/office/drawing/2014/main" id="{4926A68A-00B5-87BF-AAF8-B7B52E95A115}"/>
              </a:ext>
            </a:extLst>
          </p:cNvPr>
          <p:cNvSpPr/>
          <p:nvPr/>
        </p:nvSpPr>
        <p:spPr>
          <a:xfrm>
            <a:off x="1319911" y="3622440"/>
            <a:ext cx="4285735" cy="278408"/>
          </a:xfrm>
          <a:prstGeom prst="rect">
            <a:avLst/>
          </a:prstGeom>
          <a:noFill/>
          <a:ln/>
        </p:spPr>
        <p:txBody>
          <a:bodyPr wrap="none" lIns="0" tIns="57573" rIns="0" bIns="0" rtlCol="0" anchor="t"/>
          <a:lstStyle/>
          <a:p>
            <a:pPr>
              <a:lnSpc>
                <a:spcPts val="1740"/>
              </a:lnSpc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pattern – </a:t>
            </a:r>
            <a:r>
              <a:rPr lang="en-US" sz="1200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trip started within the Top 10 stations</a:t>
            </a:r>
            <a:endParaRPr lang="en-US" sz="1200" dirty="0"/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A1EEB59D-DDD1-ABA2-041C-7A162718CF95}"/>
              </a:ext>
            </a:extLst>
          </p:cNvPr>
          <p:cNvSpPr/>
          <p:nvPr/>
        </p:nvSpPr>
        <p:spPr>
          <a:xfrm>
            <a:off x="908447" y="407524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00C6A7">
              <a:alpha val="1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52" name="Text 38">
            <a:extLst>
              <a:ext uri="{FF2B5EF4-FFF2-40B4-BE49-F238E27FC236}">
                <a16:creationId xmlns:a16="http://schemas.microsoft.com/office/drawing/2014/main" id="{1D1B8595-9693-58ED-B9FA-5F96C240FC9D}"/>
              </a:ext>
            </a:extLst>
          </p:cNvPr>
          <p:cNvSpPr/>
          <p:nvPr/>
        </p:nvSpPr>
        <p:spPr>
          <a:xfrm>
            <a:off x="609600" y="6568876"/>
            <a:ext cx="2689027" cy="1012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54" name="Text 40">
            <a:extLst>
              <a:ext uri="{FF2B5EF4-FFF2-40B4-BE49-F238E27FC236}">
                <a16:creationId xmlns:a16="http://schemas.microsoft.com/office/drawing/2014/main" id="{794168F5-7BE2-C79D-CE25-1C990427705F}"/>
              </a:ext>
            </a:extLst>
          </p:cNvPr>
          <p:cNvSpPr/>
          <p:nvPr/>
        </p:nvSpPr>
        <p:spPr>
          <a:xfrm>
            <a:off x="8893373" y="6568876"/>
            <a:ext cx="2689027" cy="1012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61" name="Text 0">
            <a:extLst>
              <a:ext uri="{FF2B5EF4-FFF2-40B4-BE49-F238E27FC236}">
                <a16:creationId xmlns:a16="http://schemas.microsoft.com/office/drawing/2014/main" id="{E425E431-5152-69A9-2425-A421DFB31C8D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E4002B">
              <a:alpha val="87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327" name="Text 9">
            <a:extLst>
              <a:ext uri="{FF2B5EF4-FFF2-40B4-BE49-F238E27FC236}">
                <a16:creationId xmlns:a16="http://schemas.microsoft.com/office/drawing/2014/main" id="{47C94F75-3CBC-2E87-7A2D-5C7E5FC83FFE}"/>
              </a:ext>
            </a:extLst>
          </p:cNvPr>
          <p:cNvSpPr/>
          <p:nvPr/>
        </p:nvSpPr>
        <p:spPr>
          <a:xfrm>
            <a:off x="3459191" y="4717730"/>
            <a:ext cx="2581284" cy="1697833"/>
          </a:xfrm>
          <a:prstGeom prst="roundRect">
            <a:avLst>
              <a:gd name="adj" fmla="val 4734"/>
            </a:avLst>
          </a:prstGeom>
          <a:solidFill>
            <a:srgbClr val="15A0FF">
              <a:alpha val="5000"/>
            </a:srgbClr>
          </a:solidFill>
          <a:ln w="9525">
            <a:solidFill>
              <a:schemeClr val="bg2">
                <a:lumMod val="75000"/>
                <a:alpha val="35000"/>
              </a:scheme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21023191-D736-1798-6818-416CA284611E}"/>
              </a:ext>
            </a:extLst>
          </p:cNvPr>
          <p:cNvGrpSpPr/>
          <p:nvPr/>
        </p:nvGrpSpPr>
        <p:grpSpPr>
          <a:xfrm>
            <a:off x="3550751" y="4900697"/>
            <a:ext cx="2400000" cy="1440000"/>
            <a:chOff x="2545563" y="3457172"/>
            <a:chExt cx="1800000" cy="1080000"/>
          </a:xfrm>
        </p:grpSpPr>
        <p:pic>
          <p:nvPicPr>
            <p:cNvPr id="304" name="Picture 303">
              <a:extLst>
                <a:ext uri="{FF2B5EF4-FFF2-40B4-BE49-F238E27FC236}">
                  <a16:creationId xmlns:a16="http://schemas.microsoft.com/office/drawing/2014/main" id="{B4263734-E612-7A5E-0488-A5365BD8EB12}"/>
                </a:ext>
              </a:extLst>
            </p:cNvPr>
            <p:cNvPicPr>
              <a:picLocks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545563" y="3457172"/>
              <a:ext cx="1800000" cy="1080000"/>
            </a:xfrm>
            <a:prstGeom prst="rect">
              <a:avLst/>
            </a:prstGeom>
            <a:ln w="12700">
              <a:solidFill>
                <a:srgbClr val="15A0FF"/>
              </a:solidFill>
            </a:ln>
          </p:spPr>
        </p:pic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D1D748E-68D6-D65A-3FBC-145F6D799868}"/>
                </a:ext>
              </a:extLst>
            </p:cNvPr>
            <p:cNvSpPr/>
            <p:nvPr/>
          </p:nvSpPr>
          <p:spPr>
            <a:xfrm>
              <a:off x="2958053" y="3504537"/>
              <a:ext cx="1322840" cy="956076"/>
            </a:xfrm>
            <a:custGeom>
              <a:avLst/>
              <a:gdLst>
                <a:gd name="csX0" fmla="*/ 0 w 981075"/>
                <a:gd name="csY0" fmla="*/ 571500 h 571500"/>
                <a:gd name="csX1" fmla="*/ 50006 w 981075"/>
                <a:gd name="csY1" fmla="*/ 564357 h 571500"/>
                <a:gd name="csX2" fmla="*/ 76200 w 981075"/>
                <a:gd name="csY2" fmla="*/ 554832 h 571500"/>
                <a:gd name="csX3" fmla="*/ 95250 w 981075"/>
                <a:gd name="csY3" fmla="*/ 538163 h 571500"/>
                <a:gd name="csX4" fmla="*/ 116681 w 981075"/>
                <a:gd name="csY4" fmla="*/ 495300 h 571500"/>
                <a:gd name="csX5" fmla="*/ 142875 w 981075"/>
                <a:gd name="csY5" fmla="*/ 400050 h 571500"/>
                <a:gd name="csX6" fmla="*/ 190500 w 981075"/>
                <a:gd name="csY6" fmla="*/ 219075 h 571500"/>
                <a:gd name="csX7" fmla="*/ 207168 w 981075"/>
                <a:gd name="csY7" fmla="*/ 180975 h 571500"/>
                <a:gd name="csX8" fmla="*/ 228600 w 981075"/>
                <a:gd name="csY8" fmla="*/ 164307 h 571500"/>
                <a:gd name="csX9" fmla="*/ 242887 w 981075"/>
                <a:gd name="csY9" fmla="*/ 161925 h 571500"/>
                <a:gd name="csX10" fmla="*/ 264318 w 981075"/>
                <a:gd name="csY10" fmla="*/ 192882 h 571500"/>
                <a:gd name="csX11" fmla="*/ 273843 w 981075"/>
                <a:gd name="csY11" fmla="*/ 264319 h 571500"/>
                <a:gd name="csX12" fmla="*/ 288131 w 981075"/>
                <a:gd name="csY12" fmla="*/ 400050 h 571500"/>
                <a:gd name="csX13" fmla="*/ 309562 w 981075"/>
                <a:gd name="csY13" fmla="*/ 454819 h 571500"/>
                <a:gd name="csX14" fmla="*/ 335756 w 981075"/>
                <a:gd name="csY14" fmla="*/ 469107 h 571500"/>
                <a:gd name="csX15" fmla="*/ 376237 w 981075"/>
                <a:gd name="csY15" fmla="*/ 438150 h 571500"/>
                <a:gd name="csX16" fmla="*/ 428625 w 981075"/>
                <a:gd name="csY16" fmla="*/ 409575 h 571500"/>
                <a:gd name="csX17" fmla="*/ 476250 w 981075"/>
                <a:gd name="csY17" fmla="*/ 407194 h 571500"/>
                <a:gd name="csX18" fmla="*/ 523875 w 981075"/>
                <a:gd name="csY18" fmla="*/ 421482 h 571500"/>
                <a:gd name="csX19" fmla="*/ 554831 w 981075"/>
                <a:gd name="csY19" fmla="*/ 411957 h 571500"/>
                <a:gd name="csX20" fmla="*/ 571500 w 981075"/>
                <a:gd name="csY20" fmla="*/ 381000 h 571500"/>
                <a:gd name="csX21" fmla="*/ 628650 w 981075"/>
                <a:gd name="csY21" fmla="*/ 190500 h 571500"/>
                <a:gd name="csX22" fmla="*/ 657225 w 981075"/>
                <a:gd name="csY22" fmla="*/ 11907 h 571500"/>
                <a:gd name="csX23" fmla="*/ 666750 w 981075"/>
                <a:gd name="csY23" fmla="*/ 0 h 571500"/>
                <a:gd name="csX24" fmla="*/ 683418 w 981075"/>
                <a:gd name="csY24" fmla="*/ 0 h 571500"/>
                <a:gd name="csX25" fmla="*/ 695325 w 981075"/>
                <a:gd name="csY25" fmla="*/ 26194 h 571500"/>
                <a:gd name="csX26" fmla="*/ 716756 w 981075"/>
                <a:gd name="csY26" fmla="*/ 173832 h 571500"/>
                <a:gd name="csX27" fmla="*/ 752475 w 981075"/>
                <a:gd name="csY27" fmla="*/ 292894 h 571500"/>
                <a:gd name="csX28" fmla="*/ 769143 w 981075"/>
                <a:gd name="csY28" fmla="*/ 319088 h 571500"/>
                <a:gd name="csX29" fmla="*/ 819150 w 981075"/>
                <a:gd name="csY29" fmla="*/ 404813 h 571500"/>
                <a:gd name="csX30" fmla="*/ 862012 w 981075"/>
                <a:gd name="csY30" fmla="*/ 457200 h 571500"/>
                <a:gd name="csX31" fmla="*/ 907256 w 981075"/>
                <a:gd name="csY31" fmla="*/ 490538 h 571500"/>
                <a:gd name="csX32" fmla="*/ 964406 w 981075"/>
                <a:gd name="csY32" fmla="*/ 533400 h 571500"/>
                <a:gd name="csX33" fmla="*/ 981075 w 981075"/>
                <a:gd name="csY33" fmla="*/ 542925 h 571500"/>
                <a:gd name="csX34" fmla="*/ 978693 w 981075"/>
                <a:gd name="csY34" fmla="*/ 571500 h 571500"/>
                <a:gd name="csX35" fmla="*/ 0 w 981075"/>
                <a:gd name="csY35" fmla="*/ 571500 h 5715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</a:cxnLst>
              <a:rect l="l" t="t" r="r" b="b"/>
              <a:pathLst>
                <a:path w="981075" h="571500">
                  <a:moveTo>
                    <a:pt x="0" y="571500"/>
                  </a:moveTo>
                  <a:lnTo>
                    <a:pt x="50006" y="564357"/>
                  </a:lnTo>
                  <a:lnTo>
                    <a:pt x="76200" y="554832"/>
                  </a:lnTo>
                  <a:lnTo>
                    <a:pt x="95250" y="538163"/>
                  </a:lnTo>
                  <a:lnTo>
                    <a:pt x="116681" y="495300"/>
                  </a:lnTo>
                  <a:lnTo>
                    <a:pt x="142875" y="400050"/>
                  </a:lnTo>
                  <a:lnTo>
                    <a:pt x="190500" y="219075"/>
                  </a:lnTo>
                  <a:lnTo>
                    <a:pt x="207168" y="180975"/>
                  </a:lnTo>
                  <a:lnTo>
                    <a:pt x="228600" y="164307"/>
                  </a:lnTo>
                  <a:lnTo>
                    <a:pt x="242887" y="161925"/>
                  </a:lnTo>
                  <a:lnTo>
                    <a:pt x="264318" y="192882"/>
                  </a:lnTo>
                  <a:lnTo>
                    <a:pt x="273843" y="264319"/>
                  </a:lnTo>
                  <a:lnTo>
                    <a:pt x="288131" y="400050"/>
                  </a:lnTo>
                  <a:lnTo>
                    <a:pt x="309562" y="454819"/>
                  </a:lnTo>
                  <a:lnTo>
                    <a:pt x="335756" y="469107"/>
                  </a:lnTo>
                  <a:lnTo>
                    <a:pt x="376237" y="438150"/>
                  </a:lnTo>
                  <a:lnTo>
                    <a:pt x="428625" y="409575"/>
                  </a:lnTo>
                  <a:lnTo>
                    <a:pt x="476250" y="407194"/>
                  </a:lnTo>
                  <a:lnTo>
                    <a:pt x="523875" y="421482"/>
                  </a:lnTo>
                  <a:lnTo>
                    <a:pt x="554831" y="411957"/>
                  </a:lnTo>
                  <a:lnTo>
                    <a:pt x="571500" y="381000"/>
                  </a:lnTo>
                  <a:lnTo>
                    <a:pt x="628650" y="190500"/>
                  </a:lnTo>
                  <a:lnTo>
                    <a:pt x="657225" y="11907"/>
                  </a:lnTo>
                  <a:lnTo>
                    <a:pt x="666750" y="0"/>
                  </a:lnTo>
                  <a:lnTo>
                    <a:pt x="683418" y="0"/>
                  </a:lnTo>
                  <a:lnTo>
                    <a:pt x="695325" y="26194"/>
                  </a:lnTo>
                  <a:lnTo>
                    <a:pt x="716756" y="173832"/>
                  </a:lnTo>
                  <a:lnTo>
                    <a:pt x="752475" y="292894"/>
                  </a:lnTo>
                  <a:lnTo>
                    <a:pt x="769143" y="319088"/>
                  </a:lnTo>
                  <a:lnTo>
                    <a:pt x="819150" y="404813"/>
                  </a:lnTo>
                  <a:lnTo>
                    <a:pt x="862012" y="457200"/>
                  </a:lnTo>
                  <a:lnTo>
                    <a:pt x="907256" y="490538"/>
                  </a:lnTo>
                  <a:lnTo>
                    <a:pt x="964406" y="533400"/>
                  </a:lnTo>
                  <a:lnTo>
                    <a:pt x="981075" y="542925"/>
                  </a:lnTo>
                  <a:lnTo>
                    <a:pt x="978693" y="5715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497658DF-24DF-DC65-834D-3A12486F4DA8}"/>
                </a:ext>
              </a:extLst>
            </p:cNvPr>
            <p:cNvSpPr/>
            <p:nvPr/>
          </p:nvSpPr>
          <p:spPr>
            <a:xfrm>
              <a:off x="3099866" y="4295425"/>
              <a:ext cx="1171934" cy="166419"/>
            </a:xfrm>
            <a:custGeom>
              <a:avLst/>
              <a:gdLst>
                <a:gd name="csX0" fmla="*/ 0 w 869157"/>
                <a:gd name="csY0" fmla="*/ 95250 h 100013"/>
                <a:gd name="csX1" fmla="*/ 52388 w 869157"/>
                <a:gd name="csY1" fmla="*/ 90488 h 100013"/>
                <a:gd name="csX2" fmla="*/ 104775 w 869157"/>
                <a:gd name="csY2" fmla="*/ 85725 h 100013"/>
                <a:gd name="csX3" fmla="*/ 126207 w 869157"/>
                <a:gd name="csY3" fmla="*/ 80963 h 100013"/>
                <a:gd name="csX4" fmla="*/ 171450 w 869157"/>
                <a:gd name="csY4" fmla="*/ 64294 h 100013"/>
                <a:gd name="csX5" fmla="*/ 214313 w 869157"/>
                <a:gd name="csY5" fmla="*/ 50007 h 100013"/>
                <a:gd name="csX6" fmla="*/ 235744 w 869157"/>
                <a:gd name="csY6" fmla="*/ 40482 h 100013"/>
                <a:gd name="csX7" fmla="*/ 271463 w 869157"/>
                <a:gd name="csY7" fmla="*/ 21432 h 100013"/>
                <a:gd name="csX8" fmla="*/ 311944 w 869157"/>
                <a:gd name="csY8" fmla="*/ 9525 h 100013"/>
                <a:gd name="csX9" fmla="*/ 364332 w 869157"/>
                <a:gd name="csY9" fmla="*/ 0 h 100013"/>
                <a:gd name="csX10" fmla="*/ 435769 w 869157"/>
                <a:gd name="csY10" fmla="*/ 0 h 100013"/>
                <a:gd name="csX11" fmla="*/ 519113 w 869157"/>
                <a:gd name="csY11" fmla="*/ 0 h 100013"/>
                <a:gd name="csX12" fmla="*/ 569119 w 869157"/>
                <a:gd name="csY12" fmla="*/ 7144 h 100013"/>
                <a:gd name="csX13" fmla="*/ 614363 w 869157"/>
                <a:gd name="csY13" fmla="*/ 23813 h 100013"/>
                <a:gd name="csX14" fmla="*/ 666750 w 869157"/>
                <a:gd name="csY14" fmla="*/ 38100 h 100013"/>
                <a:gd name="csX15" fmla="*/ 704850 w 869157"/>
                <a:gd name="csY15" fmla="*/ 57150 h 100013"/>
                <a:gd name="csX16" fmla="*/ 752475 w 869157"/>
                <a:gd name="csY16" fmla="*/ 69057 h 100013"/>
                <a:gd name="csX17" fmla="*/ 800100 w 869157"/>
                <a:gd name="csY17" fmla="*/ 73819 h 100013"/>
                <a:gd name="csX18" fmla="*/ 842963 w 869157"/>
                <a:gd name="csY18" fmla="*/ 90488 h 100013"/>
                <a:gd name="csX19" fmla="*/ 869157 w 869157"/>
                <a:gd name="csY19" fmla="*/ 100013 h 100013"/>
                <a:gd name="csX20" fmla="*/ 0 w 869157"/>
                <a:gd name="csY20" fmla="*/ 95250 h 1000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869157" h="100013">
                  <a:moveTo>
                    <a:pt x="0" y="95250"/>
                  </a:moveTo>
                  <a:lnTo>
                    <a:pt x="52388" y="90488"/>
                  </a:lnTo>
                  <a:lnTo>
                    <a:pt x="104775" y="85725"/>
                  </a:lnTo>
                  <a:lnTo>
                    <a:pt x="126207" y="80963"/>
                  </a:lnTo>
                  <a:lnTo>
                    <a:pt x="171450" y="64294"/>
                  </a:lnTo>
                  <a:lnTo>
                    <a:pt x="214313" y="50007"/>
                  </a:lnTo>
                  <a:lnTo>
                    <a:pt x="235744" y="40482"/>
                  </a:lnTo>
                  <a:lnTo>
                    <a:pt x="271463" y="21432"/>
                  </a:lnTo>
                  <a:lnTo>
                    <a:pt x="311944" y="9525"/>
                  </a:lnTo>
                  <a:lnTo>
                    <a:pt x="364332" y="0"/>
                  </a:lnTo>
                  <a:lnTo>
                    <a:pt x="435769" y="0"/>
                  </a:lnTo>
                  <a:lnTo>
                    <a:pt x="519113" y="0"/>
                  </a:lnTo>
                  <a:lnTo>
                    <a:pt x="569119" y="7144"/>
                  </a:lnTo>
                  <a:lnTo>
                    <a:pt x="614363" y="23813"/>
                  </a:lnTo>
                  <a:lnTo>
                    <a:pt x="666750" y="38100"/>
                  </a:lnTo>
                  <a:lnTo>
                    <a:pt x="704850" y="57150"/>
                  </a:lnTo>
                  <a:lnTo>
                    <a:pt x="752475" y="69057"/>
                  </a:lnTo>
                  <a:lnTo>
                    <a:pt x="800100" y="73819"/>
                  </a:lnTo>
                  <a:lnTo>
                    <a:pt x="842963" y="90488"/>
                  </a:lnTo>
                  <a:lnTo>
                    <a:pt x="869157" y="100013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</p:grpSp>
      <p:sp>
        <p:nvSpPr>
          <p:cNvPr id="317" name="Text 34">
            <a:extLst>
              <a:ext uri="{FF2B5EF4-FFF2-40B4-BE49-F238E27FC236}">
                <a16:creationId xmlns:a16="http://schemas.microsoft.com/office/drawing/2014/main" id="{3D35F202-3525-9592-8BAC-9D4A9AE76A4A}"/>
              </a:ext>
            </a:extLst>
          </p:cNvPr>
          <p:cNvSpPr/>
          <p:nvPr/>
        </p:nvSpPr>
        <p:spPr>
          <a:xfrm>
            <a:off x="3759474" y="4697036"/>
            <a:ext cx="871037" cy="1680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580"/>
              </a:lnSpc>
            </a:pPr>
            <a:r>
              <a:rPr lang="en-US" sz="933" b="1" kern="0" spc="21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Bike Usage by Time of Day(Weekday Only)</a:t>
            </a:r>
            <a:endParaRPr lang="en-US" sz="933" dirty="0">
              <a:solidFill>
                <a:schemeClr val="bg1"/>
              </a:solidFill>
            </a:endParaRPr>
          </a:p>
        </p:txBody>
      </p:sp>
      <p:sp>
        <p:nvSpPr>
          <p:cNvPr id="329" name="Text 32">
            <a:extLst>
              <a:ext uri="{FF2B5EF4-FFF2-40B4-BE49-F238E27FC236}">
                <a16:creationId xmlns:a16="http://schemas.microsoft.com/office/drawing/2014/main" id="{C1170F1F-3845-2782-22F2-840F1507160A}"/>
              </a:ext>
            </a:extLst>
          </p:cNvPr>
          <p:cNvSpPr/>
          <p:nvPr/>
        </p:nvSpPr>
        <p:spPr>
          <a:xfrm>
            <a:off x="746059" y="4693742"/>
            <a:ext cx="2581284" cy="1707535"/>
          </a:xfrm>
          <a:prstGeom prst="roundRect">
            <a:avLst>
              <a:gd name="adj" fmla="val 5862"/>
            </a:avLst>
          </a:prstGeom>
          <a:solidFill>
            <a:srgbClr val="15A0FF">
              <a:alpha val="5000"/>
            </a:srgbClr>
          </a:solidFill>
          <a:ln w="9525">
            <a:solidFill>
              <a:schemeClr val="bg2">
                <a:lumMod val="75000"/>
                <a:alpha val="35000"/>
              </a:scheme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83" name="Text 34">
            <a:extLst>
              <a:ext uri="{FF2B5EF4-FFF2-40B4-BE49-F238E27FC236}">
                <a16:creationId xmlns:a16="http://schemas.microsoft.com/office/drawing/2014/main" id="{2D13C2AC-E7DF-537E-AE4A-4E24DB019BDF}"/>
              </a:ext>
            </a:extLst>
          </p:cNvPr>
          <p:cNvSpPr/>
          <p:nvPr/>
        </p:nvSpPr>
        <p:spPr>
          <a:xfrm>
            <a:off x="1319562" y="4709690"/>
            <a:ext cx="871037" cy="1680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580"/>
              </a:lnSpc>
            </a:pPr>
            <a:r>
              <a:rPr lang="en-US" sz="1053" b="1" kern="0" spc="21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Bike Usage by Day of Week</a:t>
            </a:r>
            <a:endParaRPr lang="en-US" sz="1053" dirty="0">
              <a:solidFill>
                <a:schemeClr val="bg1"/>
              </a:solidFill>
            </a:endParaRPr>
          </a:p>
        </p:txBody>
      </p: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66463367-1588-EC7A-DA05-BFEDA6DBF05D}"/>
              </a:ext>
            </a:extLst>
          </p:cNvPr>
          <p:cNvGrpSpPr>
            <a:grpSpLocks/>
          </p:cNvGrpSpPr>
          <p:nvPr/>
        </p:nvGrpSpPr>
        <p:grpSpPr>
          <a:xfrm>
            <a:off x="843628" y="4920536"/>
            <a:ext cx="2400000" cy="1440000"/>
            <a:chOff x="3756889" y="1599730"/>
            <a:chExt cx="1363536" cy="628393"/>
          </a:xfrm>
        </p:grpSpPr>
        <p:sp>
          <p:nvSpPr>
            <p:cNvPr id="74" name="Text 35">
              <a:extLst>
                <a:ext uri="{FF2B5EF4-FFF2-40B4-BE49-F238E27FC236}">
                  <a16:creationId xmlns:a16="http://schemas.microsoft.com/office/drawing/2014/main" id="{A4B41E41-6577-7756-215F-C495546F2199}"/>
                </a:ext>
              </a:extLst>
            </p:cNvPr>
            <p:cNvSpPr/>
            <p:nvPr/>
          </p:nvSpPr>
          <p:spPr>
            <a:xfrm>
              <a:off x="3756889" y="1599730"/>
              <a:ext cx="1363536" cy="628393"/>
            </a:xfrm>
            <a:prstGeom prst="roundRect">
              <a:avLst>
                <a:gd name="adj" fmla="val 6691"/>
              </a:avLst>
            </a:prstGeom>
            <a:solidFill>
              <a:srgbClr val="0F2551">
                <a:alpha val="93000"/>
              </a:srgbClr>
            </a:solidFill>
            <a:ln>
              <a:solidFill>
                <a:srgbClr val="15A0FF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 anchor="t"/>
            <a:lstStyle/>
            <a:p>
              <a:endParaRPr lang="en-US" sz="2400" dirty="0"/>
            </a:p>
          </p:txBody>
        </p:sp>
        <p:sp>
          <p:nvSpPr>
            <p:cNvPr id="79" name="Text 42">
              <a:extLst>
                <a:ext uri="{FF2B5EF4-FFF2-40B4-BE49-F238E27FC236}">
                  <a16:creationId xmlns:a16="http://schemas.microsoft.com/office/drawing/2014/main" id="{F152C878-2AC4-7D95-C4CA-2C965A46DE8C}"/>
                </a:ext>
              </a:extLst>
            </p:cNvPr>
            <p:cNvSpPr/>
            <p:nvPr/>
          </p:nvSpPr>
          <p:spPr>
            <a:xfrm>
              <a:off x="3931565" y="2149860"/>
              <a:ext cx="106007" cy="6971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>
                <a:lnSpc>
                  <a:spcPts val="1020"/>
                </a:lnSpc>
              </a:pPr>
              <a:r>
                <a:rPr lang="en-US" sz="8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Mon</a:t>
              </a:r>
              <a:endParaRPr lang="en-US" sz="800" b="1" dirty="0">
                <a:solidFill>
                  <a:schemeClr val="bg1"/>
                </a:solidFill>
              </a:endParaRPr>
            </a:p>
          </p:txBody>
        </p:sp>
        <p:sp>
          <p:nvSpPr>
            <p:cNvPr id="80" name="Text 42">
              <a:extLst>
                <a:ext uri="{FF2B5EF4-FFF2-40B4-BE49-F238E27FC236}">
                  <a16:creationId xmlns:a16="http://schemas.microsoft.com/office/drawing/2014/main" id="{1F9DA9AB-8DED-218C-95D7-32200162EC54}"/>
                </a:ext>
              </a:extLst>
            </p:cNvPr>
            <p:cNvSpPr/>
            <p:nvPr/>
          </p:nvSpPr>
          <p:spPr>
            <a:xfrm>
              <a:off x="4102800" y="2149860"/>
              <a:ext cx="106007" cy="6971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>
                <a:lnSpc>
                  <a:spcPts val="1020"/>
                </a:lnSpc>
              </a:pPr>
              <a:r>
                <a:rPr lang="en-US" sz="8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Tue</a:t>
              </a:r>
              <a:endParaRPr lang="en-US" sz="800" b="1" dirty="0">
                <a:solidFill>
                  <a:schemeClr val="bg1"/>
                </a:solidFill>
              </a:endParaRPr>
            </a:p>
          </p:txBody>
        </p:sp>
        <p:sp>
          <p:nvSpPr>
            <p:cNvPr id="81" name="Text 42">
              <a:extLst>
                <a:ext uri="{FF2B5EF4-FFF2-40B4-BE49-F238E27FC236}">
                  <a16:creationId xmlns:a16="http://schemas.microsoft.com/office/drawing/2014/main" id="{63147E82-DE37-AF10-410A-CA729AC8C537}"/>
                </a:ext>
              </a:extLst>
            </p:cNvPr>
            <p:cNvSpPr/>
            <p:nvPr/>
          </p:nvSpPr>
          <p:spPr>
            <a:xfrm>
              <a:off x="4263392" y="2149860"/>
              <a:ext cx="106007" cy="6971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>
                <a:lnSpc>
                  <a:spcPts val="1020"/>
                </a:lnSpc>
              </a:pPr>
              <a:r>
                <a:rPr lang="en-US" sz="8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Wed</a:t>
              </a:r>
              <a:endParaRPr lang="en-US" sz="800" b="1" dirty="0">
                <a:solidFill>
                  <a:schemeClr val="bg1"/>
                </a:solidFill>
              </a:endParaRPr>
            </a:p>
          </p:txBody>
        </p:sp>
        <p:sp>
          <p:nvSpPr>
            <p:cNvPr id="82" name="Text 42">
              <a:extLst>
                <a:ext uri="{FF2B5EF4-FFF2-40B4-BE49-F238E27FC236}">
                  <a16:creationId xmlns:a16="http://schemas.microsoft.com/office/drawing/2014/main" id="{FCE23F37-887C-18CD-89C7-9ADB07DE617E}"/>
                </a:ext>
              </a:extLst>
            </p:cNvPr>
            <p:cNvSpPr/>
            <p:nvPr/>
          </p:nvSpPr>
          <p:spPr>
            <a:xfrm>
              <a:off x="4435027" y="2149860"/>
              <a:ext cx="106007" cy="6971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>
                <a:lnSpc>
                  <a:spcPts val="1020"/>
                </a:lnSpc>
              </a:pPr>
              <a:r>
                <a:rPr lang="en-US" sz="8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Thu</a:t>
              </a:r>
              <a:endParaRPr lang="en-US" sz="800" b="1" dirty="0">
                <a:solidFill>
                  <a:schemeClr val="bg1"/>
                </a:solidFill>
              </a:endParaRPr>
            </a:p>
          </p:txBody>
        </p:sp>
        <p:sp>
          <p:nvSpPr>
            <p:cNvPr id="99" name="Text 42">
              <a:extLst>
                <a:ext uri="{FF2B5EF4-FFF2-40B4-BE49-F238E27FC236}">
                  <a16:creationId xmlns:a16="http://schemas.microsoft.com/office/drawing/2014/main" id="{3ED40592-5860-9489-0C54-62897C63C440}"/>
                </a:ext>
              </a:extLst>
            </p:cNvPr>
            <p:cNvSpPr/>
            <p:nvPr/>
          </p:nvSpPr>
          <p:spPr>
            <a:xfrm>
              <a:off x="4602974" y="2149860"/>
              <a:ext cx="106007" cy="6971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>
                <a:lnSpc>
                  <a:spcPts val="1020"/>
                </a:lnSpc>
              </a:pPr>
              <a:r>
                <a:rPr lang="en-US" sz="8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Fri</a:t>
              </a:r>
              <a:endParaRPr lang="en-US" sz="800" b="1" dirty="0">
                <a:solidFill>
                  <a:schemeClr val="bg1"/>
                </a:solidFill>
              </a:endParaRPr>
            </a:p>
          </p:txBody>
        </p:sp>
        <p:sp>
          <p:nvSpPr>
            <p:cNvPr id="100" name="Text 42">
              <a:extLst>
                <a:ext uri="{FF2B5EF4-FFF2-40B4-BE49-F238E27FC236}">
                  <a16:creationId xmlns:a16="http://schemas.microsoft.com/office/drawing/2014/main" id="{672D91DB-AA9A-8627-5006-688B3C1FCC91}"/>
                </a:ext>
              </a:extLst>
            </p:cNvPr>
            <p:cNvSpPr/>
            <p:nvPr/>
          </p:nvSpPr>
          <p:spPr>
            <a:xfrm>
              <a:off x="4780773" y="2149860"/>
              <a:ext cx="106007" cy="6971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>
                <a:lnSpc>
                  <a:spcPts val="1020"/>
                </a:lnSpc>
              </a:pPr>
              <a:r>
                <a:rPr lang="en-US" sz="8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Sat</a:t>
              </a:r>
              <a:endParaRPr lang="en-US" sz="800" b="1" dirty="0">
                <a:solidFill>
                  <a:schemeClr val="bg1"/>
                </a:solidFill>
              </a:endParaRPr>
            </a:p>
          </p:txBody>
        </p:sp>
        <p:sp>
          <p:nvSpPr>
            <p:cNvPr id="101" name="Text 42">
              <a:extLst>
                <a:ext uri="{FF2B5EF4-FFF2-40B4-BE49-F238E27FC236}">
                  <a16:creationId xmlns:a16="http://schemas.microsoft.com/office/drawing/2014/main" id="{6E038F43-D6DE-1318-A446-F41EC07FBC43}"/>
                </a:ext>
              </a:extLst>
            </p:cNvPr>
            <p:cNvSpPr/>
            <p:nvPr/>
          </p:nvSpPr>
          <p:spPr>
            <a:xfrm>
              <a:off x="4945238" y="2149860"/>
              <a:ext cx="106007" cy="6971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>
                <a:lnSpc>
                  <a:spcPts val="1020"/>
                </a:lnSpc>
              </a:pPr>
              <a:r>
                <a:rPr lang="en-US" sz="8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Sun</a:t>
              </a:r>
              <a:endParaRPr lang="en-US" sz="800" b="1" dirty="0">
                <a:solidFill>
                  <a:schemeClr val="bg1"/>
                </a:solidFill>
              </a:endParaRPr>
            </a:p>
          </p:txBody>
        </p:sp>
        <p:sp>
          <p:nvSpPr>
            <p:cNvPr id="103" name="Text 39">
              <a:extLst>
                <a:ext uri="{FF2B5EF4-FFF2-40B4-BE49-F238E27FC236}">
                  <a16:creationId xmlns:a16="http://schemas.microsoft.com/office/drawing/2014/main" id="{07B8DC48-80CF-D657-6496-4A08B66913D7}"/>
                </a:ext>
              </a:extLst>
            </p:cNvPr>
            <p:cNvSpPr/>
            <p:nvPr/>
          </p:nvSpPr>
          <p:spPr>
            <a:xfrm>
              <a:off x="3805437" y="1720727"/>
              <a:ext cx="91683" cy="1390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67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High</a:t>
              </a:r>
            </a:p>
          </p:txBody>
        </p:sp>
        <p:sp>
          <p:nvSpPr>
            <p:cNvPr id="75" name="Text 46">
              <a:extLst>
                <a:ext uri="{FF2B5EF4-FFF2-40B4-BE49-F238E27FC236}">
                  <a16:creationId xmlns:a16="http://schemas.microsoft.com/office/drawing/2014/main" id="{1A5068B5-15FA-C493-74F2-E5DE56727369}"/>
                </a:ext>
              </a:extLst>
            </p:cNvPr>
            <p:cNvSpPr/>
            <p:nvPr/>
          </p:nvSpPr>
          <p:spPr>
            <a:xfrm>
              <a:off x="4939540" y="1852746"/>
              <a:ext cx="38531" cy="307742"/>
            </a:xfrm>
            <a:prstGeom prst="roundRect">
              <a:avLst>
                <a:gd name="adj" fmla="val 33349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 anchor="t"/>
            <a:lstStyle/>
            <a:p>
              <a:endParaRPr lang="en-US" sz="800" dirty="0"/>
            </a:p>
          </p:txBody>
        </p:sp>
        <p:sp>
          <p:nvSpPr>
            <p:cNvPr id="84" name="Text 46">
              <a:extLst>
                <a:ext uri="{FF2B5EF4-FFF2-40B4-BE49-F238E27FC236}">
                  <a16:creationId xmlns:a16="http://schemas.microsoft.com/office/drawing/2014/main" id="{347F7DE3-968C-1BA4-8AC2-6FFAAD65F885}"/>
                </a:ext>
              </a:extLst>
            </p:cNvPr>
            <p:cNvSpPr/>
            <p:nvPr/>
          </p:nvSpPr>
          <p:spPr>
            <a:xfrm>
              <a:off x="4769297" y="1867065"/>
              <a:ext cx="38531" cy="293423"/>
            </a:xfrm>
            <a:prstGeom prst="roundRect">
              <a:avLst>
                <a:gd name="adj" fmla="val 33349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 anchor="t"/>
            <a:lstStyle/>
            <a:p>
              <a:endParaRPr lang="en-US" sz="800" dirty="0"/>
            </a:p>
          </p:txBody>
        </p:sp>
        <p:sp>
          <p:nvSpPr>
            <p:cNvPr id="85" name="Text 46">
              <a:extLst>
                <a:ext uri="{FF2B5EF4-FFF2-40B4-BE49-F238E27FC236}">
                  <a16:creationId xmlns:a16="http://schemas.microsoft.com/office/drawing/2014/main" id="{D5F84264-3658-F1FB-7D04-B055DB53FD98}"/>
                </a:ext>
              </a:extLst>
            </p:cNvPr>
            <p:cNvSpPr/>
            <p:nvPr/>
          </p:nvSpPr>
          <p:spPr>
            <a:xfrm flipH="1">
              <a:off x="4980616" y="1852706"/>
              <a:ext cx="38531" cy="307782"/>
            </a:xfrm>
            <a:prstGeom prst="roundRect">
              <a:avLst>
                <a:gd name="adj" fmla="val 33349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 anchor="t"/>
            <a:lstStyle/>
            <a:p>
              <a:endParaRPr lang="en-US" sz="2400" dirty="0"/>
            </a:p>
          </p:txBody>
        </p:sp>
        <p:sp>
          <p:nvSpPr>
            <p:cNvPr id="86" name="Text 46">
              <a:extLst>
                <a:ext uri="{FF2B5EF4-FFF2-40B4-BE49-F238E27FC236}">
                  <a16:creationId xmlns:a16="http://schemas.microsoft.com/office/drawing/2014/main" id="{13D79D6D-4DED-9A89-15BD-CA680F3F3AD5}"/>
                </a:ext>
              </a:extLst>
            </p:cNvPr>
            <p:cNvSpPr/>
            <p:nvPr/>
          </p:nvSpPr>
          <p:spPr>
            <a:xfrm flipH="1">
              <a:off x="4810222" y="1852706"/>
              <a:ext cx="38531" cy="307782"/>
            </a:xfrm>
            <a:prstGeom prst="roundRect">
              <a:avLst>
                <a:gd name="adj" fmla="val 33349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 anchor="t"/>
            <a:lstStyle/>
            <a:p>
              <a:endParaRPr lang="en-US" sz="2400" dirty="0"/>
            </a:p>
          </p:txBody>
        </p:sp>
        <p:sp>
          <p:nvSpPr>
            <p:cNvPr id="87" name="Text 46">
              <a:extLst>
                <a:ext uri="{FF2B5EF4-FFF2-40B4-BE49-F238E27FC236}">
                  <a16:creationId xmlns:a16="http://schemas.microsoft.com/office/drawing/2014/main" id="{CC2FFFC4-847C-5E30-4E67-88B6D0188FB1}"/>
                </a:ext>
              </a:extLst>
            </p:cNvPr>
            <p:cNvSpPr/>
            <p:nvPr/>
          </p:nvSpPr>
          <p:spPr>
            <a:xfrm>
              <a:off x="4602204" y="2027943"/>
              <a:ext cx="38531" cy="132545"/>
            </a:xfrm>
            <a:prstGeom prst="roundRect">
              <a:avLst>
                <a:gd name="adj" fmla="val 33349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 anchor="t"/>
            <a:lstStyle/>
            <a:p>
              <a:endParaRPr lang="en-US" sz="800" dirty="0"/>
            </a:p>
          </p:txBody>
        </p:sp>
        <p:sp>
          <p:nvSpPr>
            <p:cNvPr id="88" name="Text 46">
              <a:extLst>
                <a:ext uri="{FF2B5EF4-FFF2-40B4-BE49-F238E27FC236}">
                  <a16:creationId xmlns:a16="http://schemas.microsoft.com/office/drawing/2014/main" id="{1D86E8AD-9F0E-7322-1E1B-0D082D6D09E5}"/>
                </a:ext>
              </a:extLst>
            </p:cNvPr>
            <p:cNvSpPr/>
            <p:nvPr/>
          </p:nvSpPr>
          <p:spPr>
            <a:xfrm>
              <a:off x="4429482" y="2068440"/>
              <a:ext cx="38531" cy="92048"/>
            </a:xfrm>
            <a:prstGeom prst="roundRect">
              <a:avLst>
                <a:gd name="adj" fmla="val 33349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 anchor="t"/>
            <a:lstStyle/>
            <a:p>
              <a:endParaRPr lang="en-US" sz="800" dirty="0"/>
            </a:p>
          </p:txBody>
        </p:sp>
        <p:sp>
          <p:nvSpPr>
            <p:cNvPr id="89" name="Text 46">
              <a:extLst>
                <a:ext uri="{FF2B5EF4-FFF2-40B4-BE49-F238E27FC236}">
                  <a16:creationId xmlns:a16="http://schemas.microsoft.com/office/drawing/2014/main" id="{1F765BCF-663B-2ACF-14EC-165C62A9283B}"/>
                </a:ext>
              </a:extLst>
            </p:cNvPr>
            <p:cNvSpPr/>
            <p:nvPr/>
          </p:nvSpPr>
          <p:spPr>
            <a:xfrm>
              <a:off x="4265974" y="2068440"/>
              <a:ext cx="38531" cy="92048"/>
            </a:xfrm>
            <a:prstGeom prst="roundRect">
              <a:avLst>
                <a:gd name="adj" fmla="val 33349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 anchor="t"/>
            <a:lstStyle/>
            <a:p>
              <a:endParaRPr lang="en-US" sz="800" dirty="0"/>
            </a:p>
          </p:txBody>
        </p:sp>
        <p:sp>
          <p:nvSpPr>
            <p:cNvPr id="90" name="Text 46">
              <a:extLst>
                <a:ext uri="{FF2B5EF4-FFF2-40B4-BE49-F238E27FC236}">
                  <a16:creationId xmlns:a16="http://schemas.microsoft.com/office/drawing/2014/main" id="{F85BBB6D-7C1E-FDC7-E73C-669711D32B2E}"/>
                </a:ext>
              </a:extLst>
            </p:cNvPr>
            <p:cNvSpPr/>
            <p:nvPr/>
          </p:nvSpPr>
          <p:spPr>
            <a:xfrm flipH="1">
              <a:off x="4641973" y="1692613"/>
              <a:ext cx="38531" cy="467875"/>
            </a:xfrm>
            <a:prstGeom prst="roundRect">
              <a:avLst>
                <a:gd name="adj" fmla="val 33349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 anchor="t"/>
            <a:lstStyle/>
            <a:p>
              <a:endParaRPr lang="en-US" sz="2400" dirty="0"/>
            </a:p>
          </p:txBody>
        </p:sp>
        <p:sp>
          <p:nvSpPr>
            <p:cNvPr id="91" name="Text 46">
              <a:extLst>
                <a:ext uri="{FF2B5EF4-FFF2-40B4-BE49-F238E27FC236}">
                  <a16:creationId xmlns:a16="http://schemas.microsoft.com/office/drawing/2014/main" id="{756B9A1A-8BC7-2EA6-5412-5F31C9F5A75D}"/>
                </a:ext>
              </a:extLst>
            </p:cNvPr>
            <p:cNvSpPr/>
            <p:nvPr/>
          </p:nvSpPr>
          <p:spPr>
            <a:xfrm flipH="1">
              <a:off x="4469493" y="1708570"/>
              <a:ext cx="38531" cy="451918"/>
            </a:xfrm>
            <a:prstGeom prst="roundRect">
              <a:avLst>
                <a:gd name="adj" fmla="val 33349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 anchor="t"/>
            <a:lstStyle/>
            <a:p>
              <a:endParaRPr lang="en-US" sz="2400" dirty="0"/>
            </a:p>
          </p:txBody>
        </p:sp>
        <p:sp>
          <p:nvSpPr>
            <p:cNvPr id="92" name="Text 46">
              <a:extLst>
                <a:ext uri="{FF2B5EF4-FFF2-40B4-BE49-F238E27FC236}">
                  <a16:creationId xmlns:a16="http://schemas.microsoft.com/office/drawing/2014/main" id="{A74D07C4-7C28-83AA-EDD0-43A5E2BC2BC0}"/>
                </a:ext>
              </a:extLst>
            </p:cNvPr>
            <p:cNvSpPr/>
            <p:nvPr/>
          </p:nvSpPr>
          <p:spPr>
            <a:xfrm flipH="1">
              <a:off x="4305466" y="1723352"/>
              <a:ext cx="38531" cy="437136"/>
            </a:xfrm>
            <a:prstGeom prst="roundRect">
              <a:avLst>
                <a:gd name="adj" fmla="val 33349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 anchor="t"/>
            <a:lstStyle/>
            <a:p>
              <a:endParaRPr lang="en-US" sz="2400" dirty="0"/>
            </a:p>
          </p:txBody>
        </p:sp>
        <p:sp>
          <p:nvSpPr>
            <p:cNvPr id="93" name="Text 46">
              <a:extLst>
                <a:ext uri="{FF2B5EF4-FFF2-40B4-BE49-F238E27FC236}">
                  <a16:creationId xmlns:a16="http://schemas.microsoft.com/office/drawing/2014/main" id="{A864FC78-0BCD-CD92-43C8-3852600EF0A4}"/>
                </a:ext>
              </a:extLst>
            </p:cNvPr>
            <p:cNvSpPr/>
            <p:nvPr/>
          </p:nvSpPr>
          <p:spPr>
            <a:xfrm>
              <a:off x="4099212" y="2052169"/>
              <a:ext cx="38531" cy="108319"/>
            </a:xfrm>
            <a:prstGeom prst="roundRect">
              <a:avLst>
                <a:gd name="adj" fmla="val 33349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 anchor="t"/>
            <a:lstStyle/>
            <a:p>
              <a:endParaRPr lang="en-US" sz="800" dirty="0"/>
            </a:p>
          </p:txBody>
        </p:sp>
        <p:sp>
          <p:nvSpPr>
            <p:cNvPr id="94" name="Text 46">
              <a:extLst>
                <a:ext uri="{FF2B5EF4-FFF2-40B4-BE49-F238E27FC236}">
                  <a16:creationId xmlns:a16="http://schemas.microsoft.com/office/drawing/2014/main" id="{EC209A58-04A3-B0CA-EB5D-6658D27938F8}"/>
                </a:ext>
              </a:extLst>
            </p:cNvPr>
            <p:cNvSpPr/>
            <p:nvPr/>
          </p:nvSpPr>
          <p:spPr>
            <a:xfrm>
              <a:off x="3930714" y="1990578"/>
              <a:ext cx="38531" cy="169910"/>
            </a:xfrm>
            <a:prstGeom prst="roundRect">
              <a:avLst>
                <a:gd name="adj" fmla="val 33349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 anchor="t"/>
            <a:lstStyle/>
            <a:p>
              <a:endParaRPr lang="en-US" sz="800" dirty="0"/>
            </a:p>
          </p:txBody>
        </p:sp>
        <p:sp>
          <p:nvSpPr>
            <p:cNvPr id="95" name="Text 46">
              <a:extLst>
                <a:ext uri="{FF2B5EF4-FFF2-40B4-BE49-F238E27FC236}">
                  <a16:creationId xmlns:a16="http://schemas.microsoft.com/office/drawing/2014/main" id="{921FA857-E2A5-9F02-1CC6-92F286C228D1}"/>
                </a:ext>
              </a:extLst>
            </p:cNvPr>
            <p:cNvSpPr/>
            <p:nvPr/>
          </p:nvSpPr>
          <p:spPr>
            <a:xfrm flipH="1">
              <a:off x="4141374" y="1672686"/>
              <a:ext cx="38531" cy="487802"/>
            </a:xfrm>
            <a:prstGeom prst="roundRect">
              <a:avLst>
                <a:gd name="adj" fmla="val 33349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 anchor="t"/>
            <a:lstStyle/>
            <a:p>
              <a:endParaRPr lang="en-US" sz="2400" dirty="0"/>
            </a:p>
          </p:txBody>
        </p:sp>
        <p:sp>
          <p:nvSpPr>
            <p:cNvPr id="96" name="Text 46">
              <a:extLst>
                <a:ext uri="{FF2B5EF4-FFF2-40B4-BE49-F238E27FC236}">
                  <a16:creationId xmlns:a16="http://schemas.microsoft.com/office/drawing/2014/main" id="{1C45A8F6-FE6E-24F9-4D2B-1FD6FF9ABFD0}"/>
                </a:ext>
              </a:extLst>
            </p:cNvPr>
            <p:cNvSpPr/>
            <p:nvPr/>
          </p:nvSpPr>
          <p:spPr>
            <a:xfrm flipH="1">
              <a:off x="3971498" y="1719423"/>
              <a:ext cx="38531" cy="441065"/>
            </a:xfrm>
            <a:prstGeom prst="roundRect">
              <a:avLst>
                <a:gd name="adj" fmla="val 33349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 anchor="t"/>
            <a:lstStyle/>
            <a:p>
              <a:endParaRPr lang="en-US" sz="2400" dirty="0"/>
            </a:p>
          </p:txBody>
        </p:sp>
        <p:sp>
          <p:nvSpPr>
            <p:cNvPr id="172" name="Text 39">
              <a:extLst>
                <a:ext uri="{FF2B5EF4-FFF2-40B4-BE49-F238E27FC236}">
                  <a16:creationId xmlns:a16="http://schemas.microsoft.com/office/drawing/2014/main" id="{6364E504-ABA9-06CA-A4B5-DFB7E74433D9}"/>
                </a:ext>
              </a:extLst>
            </p:cNvPr>
            <p:cNvSpPr/>
            <p:nvPr/>
          </p:nvSpPr>
          <p:spPr>
            <a:xfrm>
              <a:off x="3805437" y="1887620"/>
              <a:ext cx="91683" cy="1390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67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Mid</a:t>
              </a:r>
            </a:p>
          </p:txBody>
        </p:sp>
        <p:sp>
          <p:nvSpPr>
            <p:cNvPr id="173" name="Text 39">
              <a:extLst>
                <a:ext uri="{FF2B5EF4-FFF2-40B4-BE49-F238E27FC236}">
                  <a16:creationId xmlns:a16="http://schemas.microsoft.com/office/drawing/2014/main" id="{0B85F7DF-CB25-6059-11B7-8C35B4411A9F}"/>
                </a:ext>
              </a:extLst>
            </p:cNvPr>
            <p:cNvSpPr/>
            <p:nvPr/>
          </p:nvSpPr>
          <p:spPr>
            <a:xfrm>
              <a:off x="3805437" y="2049337"/>
              <a:ext cx="91683" cy="1390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67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Low</a:t>
              </a:r>
            </a:p>
          </p:txBody>
        </p:sp>
      </p:grpSp>
      <p:pic>
        <p:nvPicPr>
          <p:cNvPr id="320" name="Image 2" descr="preencoded.png">
            <a:extLst>
              <a:ext uri="{FF2B5EF4-FFF2-40B4-BE49-F238E27FC236}">
                <a16:creationId xmlns:a16="http://schemas.microsoft.com/office/drawing/2014/main" id="{E465C12F-89AF-38BA-CDA6-B476A5A94E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24048" y="4720820"/>
            <a:ext cx="176784" cy="176784"/>
          </a:xfrm>
          <a:prstGeom prst="rect">
            <a:avLst/>
          </a:prstGeom>
        </p:spPr>
      </p:pic>
      <p:sp>
        <p:nvSpPr>
          <p:cNvPr id="338" name="Freeform: Shape 337">
            <a:extLst>
              <a:ext uri="{FF2B5EF4-FFF2-40B4-BE49-F238E27FC236}">
                <a16:creationId xmlns:a16="http://schemas.microsoft.com/office/drawing/2014/main" id="{50A237EF-9CB8-30D4-7D4F-F901802F7B8F}"/>
              </a:ext>
            </a:extLst>
          </p:cNvPr>
          <p:cNvSpPr/>
          <p:nvPr/>
        </p:nvSpPr>
        <p:spPr>
          <a:xfrm>
            <a:off x="3595817" y="4734891"/>
            <a:ext cx="131064" cy="111063"/>
          </a:xfrm>
          <a:custGeom>
            <a:avLst/>
            <a:gdLst>
              <a:gd name="csX0" fmla="*/ 1157288 w 1159669"/>
              <a:gd name="csY0" fmla="*/ 535781 h 542925"/>
              <a:gd name="csX1" fmla="*/ 1159669 w 1159669"/>
              <a:gd name="csY1" fmla="*/ 485775 h 542925"/>
              <a:gd name="csX2" fmla="*/ 1102519 w 1159669"/>
              <a:gd name="csY2" fmla="*/ 433387 h 542925"/>
              <a:gd name="csX3" fmla="*/ 1040606 w 1159669"/>
              <a:gd name="csY3" fmla="*/ 378618 h 542925"/>
              <a:gd name="csX4" fmla="*/ 1007269 w 1159669"/>
              <a:gd name="csY4" fmla="*/ 338137 h 542925"/>
              <a:gd name="csX5" fmla="*/ 952500 w 1159669"/>
              <a:gd name="csY5" fmla="*/ 238125 h 542925"/>
              <a:gd name="csX6" fmla="*/ 902494 w 1159669"/>
              <a:gd name="csY6" fmla="*/ 119062 h 542925"/>
              <a:gd name="csX7" fmla="*/ 873919 w 1159669"/>
              <a:gd name="csY7" fmla="*/ 9525 h 542925"/>
              <a:gd name="csX8" fmla="*/ 864394 w 1159669"/>
              <a:gd name="csY8" fmla="*/ 0 h 542925"/>
              <a:gd name="csX9" fmla="*/ 845344 w 1159669"/>
              <a:gd name="csY9" fmla="*/ 14287 h 542925"/>
              <a:gd name="csX10" fmla="*/ 802481 w 1159669"/>
              <a:gd name="csY10" fmla="*/ 116681 h 542925"/>
              <a:gd name="csX11" fmla="*/ 757238 w 1159669"/>
              <a:gd name="csY11" fmla="*/ 278606 h 542925"/>
              <a:gd name="csX12" fmla="*/ 709613 w 1159669"/>
              <a:gd name="csY12" fmla="*/ 347662 h 542925"/>
              <a:gd name="csX13" fmla="*/ 657225 w 1159669"/>
              <a:gd name="csY13" fmla="*/ 352425 h 542925"/>
              <a:gd name="csX14" fmla="*/ 609600 w 1159669"/>
              <a:gd name="csY14" fmla="*/ 335756 h 542925"/>
              <a:gd name="csX15" fmla="*/ 557213 w 1159669"/>
              <a:gd name="csY15" fmla="*/ 373856 h 542925"/>
              <a:gd name="csX16" fmla="*/ 509588 w 1159669"/>
              <a:gd name="csY16" fmla="*/ 397668 h 542925"/>
              <a:gd name="csX17" fmla="*/ 492919 w 1159669"/>
              <a:gd name="csY17" fmla="*/ 392906 h 542925"/>
              <a:gd name="csX18" fmla="*/ 461963 w 1159669"/>
              <a:gd name="csY18" fmla="*/ 347662 h 542925"/>
              <a:gd name="csX19" fmla="*/ 428625 w 1159669"/>
              <a:gd name="csY19" fmla="*/ 185737 h 542925"/>
              <a:gd name="csX20" fmla="*/ 416719 w 1159669"/>
              <a:gd name="csY20" fmla="*/ 171450 h 542925"/>
              <a:gd name="csX21" fmla="*/ 397669 w 1159669"/>
              <a:gd name="csY21" fmla="*/ 183356 h 542925"/>
              <a:gd name="csX22" fmla="*/ 364331 w 1159669"/>
              <a:gd name="csY22" fmla="*/ 240506 h 542925"/>
              <a:gd name="csX23" fmla="*/ 347663 w 1159669"/>
              <a:gd name="csY23" fmla="*/ 269081 h 542925"/>
              <a:gd name="csX24" fmla="*/ 333375 w 1159669"/>
              <a:gd name="csY24" fmla="*/ 323850 h 542925"/>
              <a:gd name="csX25" fmla="*/ 314325 w 1159669"/>
              <a:gd name="csY25" fmla="*/ 385762 h 542925"/>
              <a:gd name="csX26" fmla="*/ 269081 w 1159669"/>
              <a:gd name="csY26" fmla="*/ 495300 h 542925"/>
              <a:gd name="csX27" fmla="*/ 207169 w 1159669"/>
              <a:gd name="csY27" fmla="*/ 531018 h 542925"/>
              <a:gd name="csX28" fmla="*/ 161925 w 1159669"/>
              <a:gd name="csY28" fmla="*/ 528637 h 542925"/>
              <a:gd name="csX29" fmla="*/ 69056 w 1159669"/>
              <a:gd name="csY29" fmla="*/ 526256 h 542925"/>
              <a:gd name="csX30" fmla="*/ 11906 w 1159669"/>
              <a:gd name="csY30" fmla="*/ 523875 h 542925"/>
              <a:gd name="csX31" fmla="*/ 2381 w 1159669"/>
              <a:gd name="csY31" fmla="*/ 521493 h 542925"/>
              <a:gd name="csX32" fmla="*/ 0 w 1159669"/>
              <a:gd name="csY32" fmla="*/ 542925 h 542925"/>
              <a:gd name="csX33" fmla="*/ 1157288 w 1159669"/>
              <a:gd name="csY33" fmla="*/ 535781 h 5429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1159669" h="542925">
                <a:moveTo>
                  <a:pt x="1157288" y="535781"/>
                </a:moveTo>
                <a:lnTo>
                  <a:pt x="1159669" y="485775"/>
                </a:lnTo>
                <a:lnTo>
                  <a:pt x="1102519" y="433387"/>
                </a:lnTo>
                <a:lnTo>
                  <a:pt x="1040606" y="378618"/>
                </a:lnTo>
                <a:lnTo>
                  <a:pt x="1007269" y="338137"/>
                </a:lnTo>
                <a:lnTo>
                  <a:pt x="952500" y="238125"/>
                </a:lnTo>
                <a:lnTo>
                  <a:pt x="902494" y="119062"/>
                </a:lnTo>
                <a:lnTo>
                  <a:pt x="873919" y="9525"/>
                </a:lnTo>
                <a:lnTo>
                  <a:pt x="864394" y="0"/>
                </a:lnTo>
                <a:lnTo>
                  <a:pt x="845344" y="14287"/>
                </a:lnTo>
                <a:lnTo>
                  <a:pt x="802481" y="116681"/>
                </a:lnTo>
                <a:lnTo>
                  <a:pt x="757238" y="278606"/>
                </a:lnTo>
                <a:lnTo>
                  <a:pt x="709613" y="347662"/>
                </a:lnTo>
                <a:lnTo>
                  <a:pt x="657225" y="352425"/>
                </a:lnTo>
                <a:lnTo>
                  <a:pt x="609600" y="335756"/>
                </a:lnTo>
                <a:lnTo>
                  <a:pt x="557213" y="373856"/>
                </a:lnTo>
                <a:lnTo>
                  <a:pt x="509588" y="397668"/>
                </a:lnTo>
                <a:lnTo>
                  <a:pt x="492919" y="392906"/>
                </a:lnTo>
                <a:lnTo>
                  <a:pt x="461963" y="347662"/>
                </a:lnTo>
                <a:lnTo>
                  <a:pt x="428625" y="185737"/>
                </a:lnTo>
                <a:lnTo>
                  <a:pt x="416719" y="171450"/>
                </a:lnTo>
                <a:lnTo>
                  <a:pt x="397669" y="183356"/>
                </a:lnTo>
                <a:lnTo>
                  <a:pt x="364331" y="240506"/>
                </a:lnTo>
                <a:lnTo>
                  <a:pt x="347663" y="269081"/>
                </a:lnTo>
                <a:lnTo>
                  <a:pt x="333375" y="323850"/>
                </a:lnTo>
                <a:lnTo>
                  <a:pt x="314325" y="385762"/>
                </a:lnTo>
                <a:lnTo>
                  <a:pt x="269081" y="495300"/>
                </a:lnTo>
                <a:lnTo>
                  <a:pt x="207169" y="531018"/>
                </a:lnTo>
                <a:lnTo>
                  <a:pt x="161925" y="528637"/>
                </a:lnTo>
                <a:lnTo>
                  <a:pt x="69056" y="526256"/>
                </a:lnTo>
                <a:lnTo>
                  <a:pt x="11906" y="523875"/>
                </a:lnTo>
                <a:lnTo>
                  <a:pt x="2381" y="521493"/>
                </a:lnTo>
                <a:lnTo>
                  <a:pt x="0" y="542925"/>
                </a:lnTo>
                <a:lnTo>
                  <a:pt x="1157288" y="535781"/>
                </a:lnTo>
                <a:close/>
              </a:path>
            </a:pathLst>
          </a:custGeom>
          <a:solidFill>
            <a:srgbClr val="15A0FF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400"/>
          </a:p>
        </p:txBody>
      </p:sp>
      <p:sp>
        <p:nvSpPr>
          <p:cNvPr id="339" name="Text 9">
            <a:extLst>
              <a:ext uri="{FF2B5EF4-FFF2-40B4-BE49-F238E27FC236}">
                <a16:creationId xmlns:a16="http://schemas.microsoft.com/office/drawing/2014/main" id="{CCD2FA7A-BA9D-D7B5-EBF1-66DE94A94F79}"/>
              </a:ext>
            </a:extLst>
          </p:cNvPr>
          <p:cNvSpPr/>
          <p:nvPr/>
        </p:nvSpPr>
        <p:spPr>
          <a:xfrm>
            <a:off x="6172323" y="4725425"/>
            <a:ext cx="2581284" cy="1697833"/>
          </a:xfrm>
          <a:prstGeom prst="roundRect">
            <a:avLst>
              <a:gd name="adj" fmla="val 4734"/>
            </a:avLst>
          </a:prstGeom>
          <a:solidFill>
            <a:srgbClr val="15A0FF">
              <a:alpha val="5000"/>
            </a:srgbClr>
          </a:solidFill>
          <a:ln w="9525">
            <a:solidFill>
              <a:schemeClr val="bg2">
                <a:lumMod val="75000"/>
                <a:alpha val="35000"/>
              </a:scheme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340" name="Text 9">
            <a:extLst>
              <a:ext uri="{FF2B5EF4-FFF2-40B4-BE49-F238E27FC236}">
                <a16:creationId xmlns:a16="http://schemas.microsoft.com/office/drawing/2014/main" id="{5DF89481-07EF-2676-FFA5-509CDF696BEA}"/>
              </a:ext>
            </a:extLst>
          </p:cNvPr>
          <p:cNvSpPr/>
          <p:nvPr/>
        </p:nvSpPr>
        <p:spPr>
          <a:xfrm>
            <a:off x="8885454" y="4717729"/>
            <a:ext cx="2581284" cy="1697833"/>
          </a:xfrm>
          <a:prstGeom prst="roundRect">
            <a:avLst>
              <a:gd name="adj" fmla="val 4734"/>
            </a:avLst>
          </a:prstGeom>
          <a:solidFill>
            <a:srgbClr val="15A0FF">
              <a:alpha val="5000"/>
            </a:srgbClr>
          </a:solidFill>
          <a:ln w="9525">
            <a:solidFill>
              <a:schemeClr val="bg2">
                <a:lumMod val="75000"/>
                <a:alpha val="35000"/>
              </a:scheme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275" name="Picture 274">
            <a:extLst>
              <a:ext uri="{FF2B5EF4-FFF2-40B4-BE49-F238E27FC236}">
                <a16:creationId xmlns:a16="http://schemas.microsoft.com/office/drawing/2014/main" id="{B4EBB55E-8873-D151-874C-228B360E687B}"/>
              </a:ext>
            </a:extLst>
          </p:cNvPr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8976421" y="4875544"/>
            <a:ext cx="2400000" cy="1440000"/>
          </a:xfrm>
          <a:prstGeom prst="rect">
            <a:avLst/>
          </a:prstGeom>
          <a:ln w="12700">
            <a:solidFill>
              <a:srgbClr val="15A0FF"/>
            </a:solidFill>
          </a:ln>
        </p:spPr>
      </p:pic>
      <p:grpSp>
        <p:nvGrpSpPr>
          <p:cNvPr id="314" name="Group 313">
            <a:extLst>
              <a:ext uri="{FF2B5EF4-FFF2-40B4-BE49-F238E27FC236}">
                <a16:creationId xmlns:a16="http://schemas.microsoft.com/office/drawing/2014/main" id="{2C9264D2-889F-EB4E-2087-CEE81F149588}"/>
              </a:ext>
            </a:extLst>
          </p:cNvPr>
          <p:cNvGrpSpPr/>
          <p:nvPr/>
        </p:nvGrpSpPr>
        <p:grpSpPr>
          <a:xfrm>
            <a:off x="6259223" y="4900955"/>
            <a:ext cx="2400000" cy="1440000"/>
            <a:chOff x="2373666" y="2292548"/>
            <a:chExt cx="1800000" cy="1080000"/>
          </a:xfrm>
        </p:grpSpPr>
        <p:pic>
          <p:nvPicPr>
            <p:cNvPr id="308" name="Picture 307">
              <a:extLst>
                <a:ext uri="{FF2B5EF4-FFF2-40B4-BE49-F238E27FC236}">
                  <a16:creationId xmlns:a16="http://schemas.microsoft.com/office/drawing/2014/main" id="{7CD82605-4202-A039-0881-784E3862825B}"/>
                </a:ext>
              </a:extLst>
            </p:cNvPr>
            <p:cNvPicPr>
              <a:picLocks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373666" y="2292548"/>
              <a:ext cx="1800000" cy="1080000"/>
            </a:xfrm>
            <a:prstGeom prst="rect">
              <a:avLst/>
            </a:prstGeom>
            <a:ln w="12700">
              <a:solidFill>
                <a:srgbClr val="15A0FF"/>
              </a:solidFill>
            </a:ln>
          </p:spPr>
        </p:pic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9A837F7D-5961-A89D-2F5C-F68384C00767}"/>
                </a:ext>
              </a:extLst>
            </p:cNvPr>
            <p:cNvSpPr/>
            <p:nvPr/>
          </p:nvSpPr>
          <p:spPr>
            <a:xfrm>
              <a:off x="2511958" y="2328585"/>
              <a:ext cx="1622420" cy="1008290"/>
            </a:xfrm>
            <a:custGeom>
              <a:avLst/>
              <a:gdLst>
                <a:gd name="csX0" fmla="*/ 0 w 1195387"/>
                <a:gd name="csY0" fmla="*/ 588169 h 588169"/>
                <a:gd name="csX1" fmla="*/ 0 w 1195387"/>
                <a:gd name="csY1" fmla="*/ 0 h 588169"/>
                <a:gd name="csX2" fmla="*/ 50006 w 1195387"/>
                <a:gd name="csY2" fmla="*/ 295275 h 588169"/>
                <a:gd name="csX3" fmla="*/ 64294 w 1195387"/>
                <a:gd name="csY3" fmla="*/ 342900 h 588169"/>
                <a:gd name="csX4" fmla="*/ 88106 w 1195387"/>
                <a:gd name="csY4" fmla="*/ 366712 h 588169"/>
                <a:gd name="csX5" fmla="*/ 126206 w 1195387"/>
                <a:gd name="csY5" fmla="*/ 373856 h 588169"/>
                <a:gd name="csX6" fmla="*/ 159544 w 1195387"/>
                <a:gd name="csY6" fmla="*/ 381000 h 588169"/>
                <a:gd name="csX7" fmla="*/ 173831 w 1195387"/>
                <a:gd name="csY7" fmla="*/ 390525 h 588169"/>
                <a:gd name="csX8" fmla="*/ 207169 w 1195387"/>
                <a:gd name="csY8" fmla="*/ 397669 h 588169"/>
                <a:gd name="csX9" fmla="*/ 254794 w 1195387"/>
                <a:gd name="csY9" fmla="*/ 414337 h 588169"/>
                <a:gd name="csX10" fmla="*/ 300037 w 1195387"/>
                <a:gd name="csY10" fmla="*/ 471487 h 588169"/>
                <a:gd name="csX11" fmla="*/ 335756 w 1195387"/>
                <a:gd name="csY11" fmla="*/ 476250 h 588169"/>
                <a:gd name="csX12" fmla="*/ 395287 w 1195387"/>
                <a:gd name="csY12" fmla="*/ 497681 h 588169"/>
                <a:gd name="csX13" fmla="*/ 445294 w 1195387"/>
                <a:gd name="csY13" fmla="*/ 509587 h 588169"/>
                <a:gd name="csX14" fmla="*/ 471487 w 1195387"/>
                <a:gd name="csY14" fmla="*/ 509587 h 588169"/>
                <a:gd name="csX15" fmla="*/ 576262 w 1195387"/>
                <a:gd name="csY15" fmla="*/ 519112 h 588169"/>
                <a:gd name="csX16" fmla="*/ 678656 w 1195387"/>
                <a:gd name="csY16" fmla="*/ 531019 h 588169"/>
                <a:gd name="csX17" fmla="*/ 742950 w 1195387"/>
                <a:gd name="csY17" fmla="*/ 531019 h 588169"/>
                <a:gd name="csX18" fmla="*/ 866775 w 1195387"/>
                <a:gd name="csY18" fmla="*/ 535781 h 588169"/>
                <a:gd name="csX19" fmla="*/ 1107281 w 1195387"/>
                <a:gd name="csY19" fmla="*/ 538162 h 588169"/>
                <a:gd name="csX20" fmla="*/ 1195387 w 1195387"/>
                <a:gd name="csY20" fmla="*/ 540544 h 588169"/>
                <a:gd name="csX21" fmla="*/ 1195387 w 1195387"/>
                <a:gd name="csY21" fmla="*/ 581025 h 588169"/>
                <a:gd name="csX22" fmla="*/ 0 w 1195387"/>
                <a:gd name="csY22" fmla="*/ 588169 h 5881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195387" h="588169">
                  <a:moveTo>
                    <a:pt x="0" y="588169"/>
                  </a:moveTo>
                  <a:lnTo>
                    <a:pt x="0" y="0"/>
                  </a:lnTo>
                  <a:lnTo>
                    <a:pt x="50006" y="295275"/>
                  </a:lnTo>
                  <a:lnTo>
                    <a:pt x="64294" y="342900"/>
                  </a:lnTo>
                  <a:lnTo>
                    <a:pt x="88106" y="366712"/>
                  </a:lnTo>
                  <a:lnTo>
                    <a:pt x="126206" y="373856"/>
                  </a:lnTo>
                  <a:lnTo>
                    <a:pt x="159544" y="381000"/>
                  </a:lnTo>
                  <a:lnTo>
                    <a:pt x="173831" y="390525"/>
                  </a:lnTo>
                  <a:lnTo>
                    <a:pt x="207169" y="397669"/>
                  </a:lnTo>
                  <a:lnTo>
                    <a:pt x="254794" y="414337"/>
                  </a:lnTo>
                  <a:lnTo>
                    <a:pt x="300037" y="471487"/>
                  </a:lnTo>
                  <a:lnTo>
                    <a:pt x="335756" y="476250"/>
                  </a:lnTo>
                  <a:lnTo>
                    <a:pt x="395287" y="497681"/>
                  </a:lnTo>
                  <a:lnTo>
                    <a:pt x="445294" y="509587"/>
                  </a:lnTo>
                  <a:lnTo>
                    <a:pt x="471487" y="509587"/>
                  </a:lnTo>
                  <a:lnTo>
                    <a:pt x="576262" y="519112"/>
                  </a:lnTo>
                  <a:lnTo>
                    <a:pt x="678656" y="531019"/>
                  </a:lnTo>
                  <a:lnTo>
                    <a:pt x="742950" y="531019"/>
                  </a:lnTo>
                  <a:lnTo>
                    <a:pt x="866775" y="535781"/>
                  </a:lnTo>
                  <a:lnTo>
                    <a:pt x="1107281" y="538162"/>
                  </a:lnTo>
                  <a:lnTo>
                    <a:pt x="1195387" y="540544"/>
                  </a:lnTo>
                  <a:lnTo>
                    <a:pt x="1195387" y="581025"/>
                  </a:lnTo>
                  <a:lnTo>
                    <a:pt x="0" y="588169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7185468C-2E05-B322-D938-E6B91653156C}"/>
                </a:ext>
              </a:extLst>
            </p:cNvPr>
            <p:cNvSpPr/>
            <p:nvPr/>
          </p:nvSpPr>
          <p:spPr>
            <a:xfrm>
              <a:off x="2491071" y="3170867"/>
              <a:ext cx="1633254" cy="171451"/>
            </a:xfrm>
            <a:custGeom>
              <a:avLst/>
              <a:gdLst>
                <a:gd name="csX0" fmla="*/ 0 w 1197769"/>
                <a:gd name="csY0" fmla="*/ 100013 h 100013"/>
                <a:gd name="csX1" fmla="*/ 2381 w 1197769"/>
                <a:gd name="csY1" fmla="*/ 0 h 100013"/>
                <a:gd name="csX2" fmla="*/ 66675 w 1197769"/>
                <a:gd name="csY2" fmla="*/ 19050 h 100013"/>
                <a:gd name="csX3" fmla="*/ 90487 w 1197769"/>
                <a:gd name="csY3" fmla="*/ 23813 h 100013"/>
                <a:gd name="csX4" fmla="*/ 126206 w 1197769"/>
                <a:gd name="csY4" fmla="*/ 28575 h 100013"/>
                <a:gd name="csX5" fmla="*/ 173831 w 1197769"/>
                <a:gd name="csY5" fmla="*/ 35719 h 100013"/>
                <a:gd name="csX6" fmla="*/ 223837 w 1197769"/>
                <a:gd name="csY6" fmla="*/ 33338 h 100013"/>
                <a:gd name="csX7" fmla="*/ 278606 w 1197769"/>
                <a:gd name="csY7" fmla="*/ 42863 h 100013"/>
                <a:gd name="csX8" fmla="*/ 328612 w 1197769"/>
                <a:gd name="csY8" fmla="*/ 47625 h 100013"/>
                <a:gd name="csX9" fmla="*/ 464344 w 1197769"/>
                <a:gd name="csY9" fmla="*/ 52388 h 100013"/>
                <a:gd name="csX10" fmla="*/ 581025 w 1197769"/>
                <a:gd name="csY10" fmla="*/ 57150 h 100013"/>
                <a:gd name="csX11" fmla="*/ 633412 w 1197769"/>
                <a:gd name="csY11" fmla="*/ 59531 h 100013"/>
                <a:gd name="csX12" fmla="*/ 1064419 w 1197769"/>
                <a:gd name="csY12" fmla="*/ 66675 h 100013"/>
                <a:gd name="csX13" fmla="*/ 1197769 w 1197769"/>
                <a:gd name="csY13" fmla="*/ 66675 h 100013"/>
                <a:gd name="csX14" fmla="*/ 1195387 w 1197769"/>
                <a:gd name="csY14" fmla="*/ 95250 h 100013"/>
                <a:gd name="csX15" fmla="*/ 0 w 1197769"/>
                <a:gd name="csY15" fmla="*/ 100013 h 1000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197769" h="100013">
                  <a:moveTo>
                    <a:pt x="0" y="100013"/>
                  </a:moveTo>
                  <a:cubicBezTo>
                    <a:pt x="794" y="66675"/>
                    <a:pt x="1587" y="33338"/>
                    <a:pt x="2381" y="0"/>
                  </a:cubicBezTo>
                  <a:lnTo>
                    <a:pt x="66675" y="19050"/>
                  </a:lnTo>
                  <a:lnTo>
                    <a:pt x="90487" y="23813"/>
                  </a:lnTo>
                  <a:lnTo>
                    <a:pt x="126206" y="28575"/>
                  </a:lnTo>
                  <a:lnTo>
                    <a:pt x="173831" y="35719"/>
                  </a:lnTo>
                  <a:lnTo>
                    <a:pt x="223837" y="33338"/>
                  </a:lnTo>
                  <a:lnTo>
                    <a:pt x="278606" y="42863"/>
                  </a:lnTo>
                  <a:lnTo>
                    <a:pt x="328612" y="47625"/>
                  </a:lnTo>
                  <a:lnTo>
                    <a:pt x="464344" y="52388"/>
                  </a:lnTo>
                  <a:lnTo>
                    <a:pt x="581025" y="57150"/>
                  </a:lnTo>
                  <a:lnTo>
                    <a:pt x="633412" y="59531"/>
                  </a:lnTo>
                  <a:lnTo>
                    <a:pt x="1064419" y="66675"/>
                  </a:lnTo>
                  <a:lnTo>
                    <a:pt x="1197769" y="66675"/>
                  </a:lnTo>
                  <a:lnTo>
                    <a:pt x="1195387" y="95250"/>
                  </a:lnTo>
                  <a:lnTo>
                    <a:pt x="0" y="100013"/>
                  </a:ln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</p:grpSp>
      <p:sp>
        <p:nvSpPr>
          <p:cNvPr id="344" name="Text 34">
            <a:extLst>
              <a:ext uri="{FF2B5EF4-FFF2-40B4-BE49-F238E27FC236}">
                <a16:creationId xmlns:a16="http://schemas.microsoft.com/office/drawing/2014/main" id="{092F9198-F4E8-3851-C242-1589331943FC}"/>
              </a:ext>
            </a:extLst>
          </p:cNvPr>
          <p:cNvSpPr/>
          <p:nvPr/>
        </p:nvSpPr>
        <p:spPr>
          <a:xfrm>
            <a:off x="6597268" y="4710642"/>
            <a:ext cx="871037" cy="1680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580"/>
              </a:lnSpc>
            </a:pPr>
            <a:r>
              <a:rPr lang="en-US" sz="933" b="1" kern="0" spc="21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Top 30 Starting Station(Proportion %)</a:t>
            </a:r>
            <a:endParaRPr lang="en-US" sz="933" dirty="0">
              <a:solidFill>
                <a:schemeClr val="bg1"/>
              </a:solidFill>
            </a:endParaRPr>
          </a:p>
        </p:txBody>
      </p:sp>
      <p:pic>
        <p:nvPicPr>
          <p:cNvPr id="324" name="Image 4" descr="preencoded.png">
            <a:extLst>
              <a:ext uri="{FF2B5EF4-FFF2-40B4-BE49-F238E27FC236}">
                <a16:creationId xmlns:a16="http://schemas.microsoft.com/office/drawing/2014/main" id="{CEE9C702-A745-771D-D424-3AA7009FE7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71044" y="4747358"/>
            <a:ext cx="166277" cy="135908"/>
          </a:xfrm>
          <a:prstGeom prst="rect">
            <a:avLst/>
          </a:prstGeom>
        </p:spPr>
      </p:pic>
      <p:sp>
        <p:nvSpPr>
          <p:cNvPr id="348" name="Text 34">
            <a:extLst>
              <a:ext uri="{FF2B5EF4-FFF2-40B4-BE49-F238E27FC236}">
                <a16:creationId xmlns:a16="http://schemas.microsoft.com/office/drawing/2014/main" id="{0CFAAFA1-32F4-3FB8-5425-00909EC7DDA5}"/>
              </a:ext>
            </a:extLst>
          </p:cNvPr>
          <p:cNvSpPr/>
          <p:nvPr/>
        </p:nvSpPr>
        <p:spPr>
          <a:xfrm>
            <a:off x="9327599" y="4697036"/>
            <a:ext cx="871037" cy="1680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580"/>
              </a:lnSpc>
            </a:pPr>
            <a:r>
              <a:rPr lang="en-US" sz="933" b="1" kern="0" spc="21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Ride Duration Distribution with Average</a:t>
            </a:r>
            <a:endParaRPr lang="en-US" sz="933" dirty="0">
              <a:solidFill>
                <a:schemeClr val="bg1"/>
              </a:solidFill>
            </a:endParaRPr>
          </a:p>
        </p:txBody>
      </p: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2BB49BE7-E4E9-BCD6-4734-F162C165FF49}"/>
              </a:ext>
            </a:extLst>
          </p:cNvPr>
          <p:cNvGrpSpPr/>
          <p:nvPr/>
        </p:nvGrpSpPr>
        <p:grpSpPr>
          <a:xfrm>
            <a:off x="9132324" y="4743345"/>
            <a:ext cx="158845" cy="103763"/>
            <a:chOff x="6892925" y="3736975"/>
            <a:chExt cx="1219200" cy="940747"/>
          </a:xfrm>
        </p:grpSpPr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C175827-CF81-46B8-2712-53D386285467}"/>
                </a:ext>
              </a:extLst>
            </p:cNvPr>
            <p:cNvSpPr/>
            <p:nvPr/>
          </p:nvSpPr>
          <p:spPr>
            <a:xfrm>
              <a:off x="6892925" y="3736975"/>
              <a:ext cx="1219200" cy="930275"/>
            </a:xfrm>
            <a:custGeom>
              <a:avLst/>
              <a:gdLst>
                <a:gd name="csX0" fmla="*/ 0 w 1219200"/>
                <a:gd name="csY0" fmla="*/ 930275 h 930275"/>
                <a:gd name="csX1" fmla="*/ 53975 w 1219200"/>
                <a:gd name="csY1" fmla="*/ 676275 h 930275"/>
                <a:gd name="csX2" fmla="*/ 82550 w 1219200"/>
                <a:gd name="csY2" fmla="*/ 517525 h 930275"/>
                <a:gd name="csX3" fmla="*/ 107950 w 1219200"/>
                <a:gd name="csY3" fmla="*/ 288925 h 930275"/>
                <a:gd name="csX4" fmla="*/ 149225 w 1219200"/>
                <a:gd name="csY4" fmla="*/ 117475 h 930275"/>
                <a:gd name="csX5" fmla="*/ 174625 w 1219200"/>
                <a:gd name="csY5" fmla="*/ 31750 h 930275"/>
                <a:gd name="csX6" fmla="*/ 222250 w 1219200"/>
                <a:gd name="csY6" fmla="*/ 0 h 930275"/>
                <a:gd name="csX7" fmla="*/ 301625 w 1219200"/>
                <a:gd name="csY7" fmla="*/ 34925 h 930275"/>
                <a:gd name="csX8" fmla="*/ 377825 w 1219200"/>
                <a:gd name="csY8" fmla="*/ 123825 h 930275"/>
                <a:gd name="csX9" fmla="*/ 434975 w 1219200"/>
                <a:gd name="csY9" fmla="*/ 323850 h 930275"/>
                <a:gd name="csX10" fmla="*/ 508000 w 1219200"/>
                <a:gd name="csY10" fmla="*/ 542925 h 930275"/>
                <a:gd name="csX11" fmla="*/ 606425 w 1219200"/>
                <a:gd name="csY11" fmla="*/ 749300 h 930275"/>
                <a:gd name="csX12" fmla="*/ 787400 w 1219200"/>
                <a:gd name="csY12" fmla="*/ 895350 h 930275"/>
                <a:gd name="csX13" fmla="*/ 1219200 w 1219200"/>
                <a:gd name="csY13" fmla="*/ 927100 h 930275"/>
                <a:gd name="csX14" fmla="*/ 0 w 1219200"/>
                <a:gd name="csY14" fmla="*/ 930275 h 9302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219200" h="930275">
                  <a:moveTo>
                    <a:pt x="0" y="930275"/>
                  </a:moveTo>
                  <a:lnTo>
                    <a:pt x="53975" y="676275"/>
                  </a:lnTo>
                  <a:lnTo>
                    <a:pt x="82550" y="517525"/>
                  </a:lnTo>
                  <a:lnTo>
                    <a:pt x="107950" y="288925"/>
                  </a:lnTo>
                  <a:lnTo>
                    <a:pt x="149225" y="117475"/>
                  </a:lnTo>
                  <a:lnTo>
                    <a:pt x="174625" y="31750"/>
                  </a:lnTo>
                  <a:lnTo>
                    <a:pt x="222250" y="0"/>
                  </a:lnTo>
                  <a:lnTo>
                    <a:pt x="301625" y="34925"/>
                  </a:lnTo>
                  <a:lnTo>
                    <a:pt x="377825" y="123825"/>
                  </a:lnTo>
                  <a:lnTo>
                    <a:pt x="434975" y="323850"/>
                  </a:lnTo>
                  <a:lnTo>
                    <a:pt x="508000" y="542925"/>
                  </a:lnTo>
                  <a:lnTo>
                    <a:pt x="606425" y="749300"/>
                  </a:lnTo>
                  <a:lnTo>
                    <a:pt x="787400" y="895350"/>
                  </a:lnTo>
                  <a:lnTo>
                    <a:pt x="1219200" y="927100"/>
                  </a:lnTo>
                  <a:lnTo>
                    <a:pt x="0" y="930275"/>
                  </a:lnTo>
                  <a:close/>
                </a:path>
              </a:pathLst>
            </a:custGeom>
            <a:solidFill>
              <a:srgbClr val="15A0FF">
                <a:alpha val="65000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24BA1DAF-C605-3B53-4B9B-387D06AFAE6C}"/>
                </a:ext>
              </a:extLst>
            </p:cNvPr>
            <p:cNvSpPr/>
            <p:nvPr/>
          </p:nvSpPr>
          <p:spPr>
            <a:xfrm flipH="1">
              <a:off x="6893238" y="4000841"/>
              <a:ext cx="1175733" cy="676881"/>
            </a:xfrm>
            <a:custGeom>
              <a:avLst/>
              <a:gdLst>
                <a:gd name="csX0" fmla="*/ 0 w 1473200"/>
                <a:gd name="csY0" fmla="*/ 517525 h 517525"/>
                <a:gd name="csX1" fmla="*/ 53975 w 1473200"/>
                <a:gd name="csY1" fmla="*/ 428625 h 517525"/>
                <a:gd name="csX2" fmla="*/ 168275 w 1473200"/>
                <a:gd name="csY2" fmla="*/ 288925 h 517525"/>
                <a:gd name="csX3" fmla="*/ 327025 w 1473200"/>
                <a:gd name="csY3" fmla="*/ 92075 h 517525"/>
                <a:gd name="csX4" fmla="*/ 454025 w 1473200"/>
                <a:gd name="csY4" fmla="*/ 15875 h 517525"/>
                <a:gd name="csX5" fmla="*/ 501650 w 1473200"/>
                <a:gd name="csY5" fmla="*/ 0 h 517525"/>
                <a:gd name="csX6" fmla="*/ 593725 w 1473200"/>
                <a:gd name="csY6" fmla="*/ 31750 h 517525"/>
                <a:gd name="csX7" fmla="*/ 644525 w 1473200"/>
                <a:gd name="csY7" fmla="*/ 88900 h 517525"/>
                <a:gd name="csX8" fmla="*/ 742950 w 1473200"/>
                <a:gd name="csY8" fmla="*/ 234950 h 517525"/>
                <a:gd name="csX9" fmla="*/ 835025 w 1473200"/>
                <a:gd name="csY9" fmla="*/ 352425 h 517525"/>
                <a:gd name="csX10" fmla="*/ 1006475 w 1473200"/>
                <a:gd name="csY10" fmla="*/ 425450 h 517525"/>
                <a:gd name="csX11" fmla="*/ 1193800 w 1473200"/>
                <a:gd name="csY11" fmla="*/ 447675 h 517525"/>
                <a:gd name="csX12" fmla="*/ 1339850 w 1473200"/>
                <a:gd name="csY12" fmla="*/ 463550 h 517525"/>
                <a:gd name="csX13" fmla="*/ 1447800 w 1473200"/>
                <a:gd name="csY13" fmla="*/ 482600 h 517525"/>
                <a:gd name="csX14" fmla="*/ 1473200 w 1473200"/>
                <a:gd name="csY14" fmla="*/ 508000 h 517525"/>
                <a:gd name="csX15" fmla="*/ 0 w 1473200"/>
                <a:gd name="csY15" fmla="*/ 517525 h 517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473200" h="517525">
                  <a:moveTo>
                    <a:pt x="0" y="517525"/>
                  </a:moveTo>
                  <a:lnTo>
                    <a:pt x="53975" y="428625"/>
                  </a:lnTo>
                  <a:lnTo>
                    <a:pt x="168275" y="288925"/>
                  </a:lnTo>
                  <a:lnTo>
                    <a:pt x="327025" y="92075"/>
                  </a:lnTo>
                  <a:lnTo>
                    <a:pt x="454025" y="15875"/>
                  </a:lnTo>
                  <a:lnTo>
                    <a:pt x="501650" y="0"/>
                  </a:lnTo>
                  <a:lnTo>
                    <a:pt x="593725" y="31750"/>
                  </a:lnTo>
                  <a:lnTo>
                    <a:pt x="644525" y="88900"/>
                  </a:lnTo>
                  <a:lnTo>
                    <a:pt x="742950" y="234950"/>
                  </a:lnTo>
                  <a:lnTo>
                    <a:pt x="835025" y="352425"/>
                  </a:lnTo>
                  <a:lnTo>
                    <a:pt x="1006475" y="425450"/>
                  </a:lnTo>
                  <a:lnTo>
                    <a:pt x="1193800" y="447675"/>
                  </a:lnTo>
                  <a:lnTo>
                    <a:pt x="1339850" y="463550"/>
                  </a:lnTo>
                  <a:lnTo>
                    <a:pt x="1447800" y="482600"/>
                  </a:lnTo>
                  <a:lnTo>
                    <a:pt x="1473200" y="508000"/>
                  </a:lnTo>
                  <a:lnTo>
                    <a:pt x="0" y="517525"/>
                  </a:lnTo>
                  <a:close/>
                </a:path>
              </a:pathLst>
            </a:custGeom>
            <a:solidFill>
              <a:srgbClr val="ED7D31">
                <a:alpha val="82000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</p:grpSp>
      <p:sp>
        <p:nvSpPr>
          <p:cNvPr id="364" name="Text 1">
            <a:extLst>
              <a:ext uri="{FF2B5EF4-FFF2-40B4-BE49-F238E27FC236}">
                <a16:creationId xmlns:a16="http://schemas.microsoft.com/office/drawing/2014/main" id="{83812888-87A2-3274-400A-5CB3891EDF0D}"/>
              </a:ext>
            </a:extLst>
          </p:cNvPr>
          <p:cNvSpPr/>
          <p:nvPr/>
        </p:nvSpPr>
        <p:spPr>
          <a:xfrm>
            <a:off x="10045703" y="832247"/>
            <a:ext cx="1905000" cy="1905000"/>
          </a:xfrm>
          <a:prstGeom prst="rect">
            <a:avLst/>
          </a:prstGeom>
          <a:gradFill rotWithShape="1">
            <a:gsLst>
              <a:gs pos="0">
                <a:srgbClr val="7EB8D4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366" name="Text 22">
            <a:extLst>
              <a:ext uri="{FF2B5EF4-FFF2-40B4-BE49-F238E27FC236}">
                <a16:creationId xmlns:a16="http://schemas.microsoft.com/office/drawing/2014/main" id="{A6536A07-D5D0-FBA2-91DF-FD589FFDC09A}"/>
              </a:ext>
            </a:extLst>
          </p:cNvPr>
          <p:cNvSpPr/>
          <p:nvPr/>
        </p:nvSpPr>
        <p:spPr>
          <a:xfrm>
            <a:off x="6191648" y="1200547"/>
            <a:ext cx="5390753" cy="3364147"/>
          </a:xfrm>
          <a:prstGeom prst="roundRect">
            <a:avLst>
              <a:gd name="adj" fmla="val 2733"/>
            </a:avLst>
          </a:prstGeom>
          <a:solidFill>
            <a:srgbClr val="1A2E42">
              <a:alpha val="65000"/>
            </a:srgbClr>
          </a:solidFill>
          <a:ln w="9525">
            <a:solidFill>
              <a:srgbClr val="00C6A7">
                <a:alpha val="18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368" name="Text 23">
            <a:extLst>
              <a:ext uri="{FF2B5EF4-FFF2-40B4-BE49-F238E27FC236}">
                <a16:creationId xmlns:a16="http://schemas.microsoft.com/office/drawing/2014/main" id="{A7166CD5-2EFD-37F9-4F2F-CE4F09857903}"/>
              </a:ext>
            </a:extLst>
          </p:cNvPr>
          <p:cNvSpPr/>
          <p:nvPr/>
        </p:nvSpPr>
        <p:spPr>
          <a:xfrm>
            <a:off x="6490494" y="1480741"/>
            <a:ext cx="47228" cy="399455"/>
          </a:xfrm>
          <a:prstGeom prst="roundRect">
            <a:avLst>
              <a:gd name="adj" fmla="val 60953"/>
            </a:avLst>
          </a:prstGeom>
          <a:solidFill>
            <a:srgbClr val="7EB8D4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370" name="Text 24">
            <a:extLst>
              <a:ext uri="{FF2B5EF4-FFF2-40B4-BE49-F238E27FC236}">
                <a16:creationId xmlns:a16="http://schemas.microsoft.com/office/drawing/2014/main" id="{BD036154-D826-9A20-722A-B7A2A2590533}"/>
              </a:ext>
            </a:extLst>
          </p:cNvPr>
          <p:cNvSpPr/>
          <p:nvPr/>
        </p:nvSpPr>
        <p:spPr>
          <a:xfrm>
            <a:off x="6652817" y="1480741"/>
            <a:ext cx="399455" cy="399455"/>
          </a:xfrm>
          <a:prstGeom prst="roundRect">
            <a:avLst>
              <a:gd name="adj" fmla="val 23739"/>
            </a:avLst>
          </a:prstGeom>
          <a:solidFill>
            <a:srgbClr val="7EB8D4">
              <a:alpha val="10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372" name="Image 6" descr="preencoded.png">
            <a:extLst>
              <a:ext uri="{FF2B5EF4-FFF2-40B4-BE49-F238E27FC236}">
                <a16:creationId xmlns:a16="http://schemas.microsoft.com/office/drawing/2014/main" id="{B05D67D2-B18C-33AF-DBB0-1C46E56A0E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764151" y="1592076"/>
            <a:ext cx="176784" cy="176784"/>
          </a:xfrm>
          <a:prstGeom prst="rect">
            <a:avLst/>
          </a:prstGeom>
        </p:spPr>
      </p:pic>
      <p:sp>
        <p:nvSpPr>
          <p:cNvPr id="374" name="Text 25">
            <a:extLst>
              <a:ext uri="{FF2B5EF4-FFF2-40B4-BE49-F238E27FC236}">
                <a16:creationId xmlns:a16="http://schemas.microsoft.com/office/drawing/2014/main" id="{E7BEDD21-F78B-2090-1214-FFF59A43C07E}"/>
              </a:ext>
            </a:extLst>
          </p:cNvPr>
          <p:cNvSpPr/>
          <p:nvPr/>
        </p:nvSpPr>
        <p:spPr>
          <a:xfrm>
            <a:off x="7167364" y="1483916"/>
            <a:ext cx="2352853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57"/>
              </a:lnSpc>
            </a:pPr>
            <a:r>
              <a:rPr lang="en-US" sz="1507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Members</a:t>
            </a:r>
            <a:endParaRPr lang="en-US" sz="1507" dirty="0">
              <a:solidFill>
                <a:srgbClr val="0070C0"/>
              </a:solidFill>
            </a:endParaRPr>
          </a:p>
        </p:txBody>
      </p:sp>
      <p:sp>
        <p:nvSpPr>
          <p:cNvPr id="376" name="Text 26">
            <a:extLst>
              <a:ext uri="{FF2B5EF4-FFF2-40B4-BE49-F238E27FC236}">
                <a16:creationId xmlns:a16="http://schemas.microsoft.com/office/drawing/2014/main" id="{F92D8244-03E4-C326-2108-98C1208584B6}"/>
              </a:ext>
            </a:extLst>
          </p:cNvPr>
          <p:cNvSpPr/>
          <p:nvPr/>
        </p:nvSpPr>
        <p:spPr>
          <a:xfrm>
            <a:off x="7167364" y="1704380"/>
            <a:ext cx="2352853" cy="172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60"/>
              </a:lnSpc>
            </a:pPr>
            <a:r>
              <a:rPr lang="en-US" sz="907" kern="0" spc="72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COMMUTER-ORIENTED SEGMENT</a:t>
            </a:r>
            <a:endParaRPr lang="en-US" sz="907" dirty="0"/>
          </a:p>
        </p:txBody>
      </p:sp>
      <p:sp>
        <p:nvSpPr>
          <p:cNvPr id="378" name="Text 27">
            <a:extLst>
              <a:ext uri="{FF2B5EF4-FFF2-40B4-BE49-F238E27FC236}">
                <a16:creationId xmlns:a16="http://schemas.microsoft.com/office/drawing/2014/main" id="{CCABBDCF-EF74-C158-736C-F2300C708F51}"/>
              </a:ext>
            </a:extLst>
          </p:cNvPr>
          <p:cNvSpPr/>
          <p:nvPr/>
        </p:nvSpPr>
        <p:spPr>
          <a:xfrm>
            <a:off x="6490494" y="2071489"/>
            <a:ext cx="4793060" cy="1012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380" name="Text 28">
            <a:extLst>
              <a:ext uri="{FF2B5EF4-FFF2-40B4-BE49-F238E27FC236}">
                <a16:creationId xmlns:a16="http://schemas.microsoft.com/office/drawing/2014/main" id="{9004C857-16DC-33FA-3673-AC889C897175}"/>
              </a:ext>
            </a:extLst>
          </p:cNvPr>
          <p:cNvSpPr/>
          <p:nvPr/>
        </p:nvSpPr>
        <p:spPr>
          <a:xfrm>
            <a:off x="6481637" y="2262584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7EB8D4">
              <a:alpha val="1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382" name="Image 7" descr="preencoded.png">
            <a:extLst>
              <a:ext uri="{FF2B5EF4-FFF2-40B4-BE49-F238E27FC236}">
                <a16:creationId xmlns:a16="http://schemas.microsoft.com/office/drawing/2014/main" id="{93C222CE-61EC-B041-B8EB-FB64CB2844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554501" y="2326592"/>
            <a:ext cx="176784" cy="176784"/>
          </a:xfrm>
          <a:prstGeom prst="rect">
            <a:avLst/>
          </a:prstGeom>
        </p:spPr>
      </p:pic>
      <p:sp>
        <p:nvSpPr>
          <p:cNvPr id="384" name="Text 29">
            <a:extLst>
              <a:ext uri="{FF2B5EF4-FFF2-40B4-BE49-F238E27FC236}">
                <a16:creationId xmlns:a16="http://schemas.microsoft.com/office/drawing/2014/main" id="{139509E7-BDEC-0880-81F3-45AA5ABC3AD4}"/>
              </a:ext>
            </a:extLst>
          </p:cNvPr>
          <p:cNvSpPr/>
          <p:nvPr/>
        </p:nvSpPr>
        <p:spPr>
          <a:xfrm>
            <a:off x="6929976" y="2247426"/>
            <a:ext cx="4460629" cy="329273"/>
          </a:xfrm>
          <a:prstGeom prst="rect">
            <a:avLst/>
          </a:prstGeom>
          <a:noFill/>
          <a:ln/>
        </p:spPr>
        <p:txBody>
          <a:bodyPr wrap="square" lIns="0" tIns="57573" rIns="0" bIns="0" rtlCol="0" anchor="t"/>
          <a:lstStyle/>
          <a:p>
            <a:pPr>
              <a:lnSpc>
                <a:spcPts val="1740"/>
              </a:lnSpc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show stable weekday usage</a:t>
            </a:r>
            <a:endParaRPr lang="en-US" sz="1200" dirty="0"/>
          </a:p>
        </p:txBody>
      </p:sp>
      <p:sp>
        <p:nvSpPr>
          <p:cNvPr id="386" name="Text 30">
            <a:extLst>
              <a:ext uri="{FF2B5EF4-FFF2-40B4-BE49-F238E27FC236}">
                <a16:creationId xmlns:a16="http://schemas.microsoft.com/office/drawing/2014/main" id="{C934742B-51B6-F9D1-6C23-0DF5DB69E0F5}"/>
              </a:ext>
            </a:extLst>
          </p:cNvPr>
          <p:cNvSpPr/>
          <p:nvPr/>
        </p:nvSpPr>
        <p:spPr>
          <a:xfrm>
            <a:off x="6481637" y="2715749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7EB8D4">
              <a:alpha val="1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388" name="Image 8" descr="preencoded.png">
            <a:extLst>
              <a:ext uri="{FF2B5EF4-FFF2-40B4-BE49-F238E27FC236}">
                <a16:creationId xmlns:a16="http://schemas.microsoft.com/office/drawing/2014/main" id="{3C50E637-8F6E-4C4B-8852-3AA22134FE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54501" y="2805356"/>
            <a:ext cx="176784" cy="176784"/>
          </a:xfrm>
          <a:prstGeom prst="rect">
            <a:avLst/>
          </a:prstGeom>
        </p:spPr>
      </p:pic>
      <p:sp>
        <p:nvSpPr>
          <p:cNvPr id="392" name="Text 32">
            <a:extLst>
              <a:ext uri="{FF2B5EF4-FFF2-40B4-BE49-F238E27FC236}">
                <a16:creationId xmlns:a16="http://schemas.microsoft.com/office/drawing/2014/main" id="{71E55D40-4592-0E54-8F1F-247BF4C9E743}"/>
              </a:ext>
            </a:extLst>
          </p:cNvPr>
          <p:cNvSpPr/>
          <p:nvPr/>
        </p:nvSpPr>
        <p:spPr>
          <a:xfrm>
            <a:off x="6481637" y="316891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7EB8D4">
              <a:alpha val="1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394" name="Image 9" descr="preencoded.png">
            <a:extLst>
              <a:ext uri="{FF2B5EF4-FFF2-40B4-BE49-F238E27FC236}">
                <a16:creationId xmlns:a16="http://schemas.microsoft.com/office/drawing/2014/main" id="{A83647EB-669F-7948-C25E-FF9E04B617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54501" y="3235237"/>
            <a:ext cx="176784" cy="176784"/>
          </a:xfrm>
          <a:prstGeom prst="rect">
            <a:avLst/>
          </a:prstGeom>
        </p:spPr>
      </p:pic>
      <p:sp>
        <p:nvSpPr>
          <p:cNvPr id="396" name="Text 33">
            <a:extLst>
              <a:ext uri="{FF2B5EF4-FFF2-40B4-BE49-F238E27FC236}">
                <a16:creationId xmlns:a16="http://schemas.microsoft.com/office/drawing/2014/main" id="{E52B8383-9936-45C2-3621-489304BFD209}"/>
              </a:ext>
            </a:extLst>
          </p:cNvPr>
          <p:cNvSpPr/>
          <p:nvPr/>
        </p:nvSpPr>
        <p:spPr>
          <a:xfrm>
            <a:off x="6929977" y="3631676"/>
            <a:ext cx="4114383" cy="278408"/>
          </a:xfrm>
          <a:prstGeom prst="rect">
            <a:avLst/>
          </a:prstGeom>
          <a:noFill/>
          <a:ln/>
        </p:spPr>
        <p:txBody>
          <a:bodyPr wrap="none" lIns="0" tIns="57573" rIns="0" bIns="0" rtlCol="0" anchor="t"/>
          <a:lstStyle/>
          <a:p>
            <a:pPr>
              <a:lnSpc>
                <a:spcPts val="1740"/>
              </a:lnSpc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usage pattern – </a:t>
            </a:r>
            <a:r>
              <a:rPr lang="en-US" sz="1200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trip started within the Top 10 stations</a:t>
            </a:r>
            <a:endParaRPr lang="en-US" sz="1200" dirty="0"/>
          </a:p>
        </p:txBody>
      </p:sp>
      <p:sp>
        <p:nvSpPr>
          <p:cNvPr id="398" name="Text 34">
            <a:extLst>
              <a:ext uri="{FF2B5EF4-FFF2-40B4-BE49-F238E27FC236}">
                <a16:creationId xmlns:a16="http://schemas.microsoft.com/office/drawing/2014/main" id="{4EA8AD2D-B450-BFF0-5A18-73F38B5371DD}"/>
              </a:ext>
            </a:extLst>
          </p:cNvPr>
          <p:cNvSpPr/>
          <p:nvPr/>
        </p:nvSpPr>
        <p:spPr>
          <a:xfrm>
            <a:off x="6481637" y="362208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7EB8D4">
              <a:alpha val="1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400" name="Image 10" descr="preencoded.png">
            <a:extLst>
              <a:ext uri="{FF2B5EF4-FFF2-40B4-BE49-F238E27FC236}">
                <a16:creationId xmlns:a16="http://schemas.microsoft.com/office/drawing/2014/main" id="{F92A8FBB-D74F-A724-0F67-0E6ED4071A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554501" y="3690520"/>
            <a:ext cx="176784" cy="176784"/>
          </a:xfrm>
          <a:prstGeom prst="rect">
            <a:avLst/>
          </a:prstGeom>
        </p:spPr>
      </p:pic>
      <p:sp>
        <p:nvSpPr>
          <p:cNvPr id="404" name="Text 36">
            <a:extLst>
              <a:ext uri="{FF2B5EF4-FFF2-40B4-BE49-F238E27FC236}">
                <a16:creationId xmlns:a16="http://schemas.microsoft.com/office/drawing/2014/main" id="{8465E2A0-1179-06EC-3043-0C75727DED51}"/>
              </a:ext>
            </a:extLst>
          </p:cNvPr>
          <p:cNvSpPr/>
          <p:nvPr/>
        </p:nvSpPr>
        <p:spPr>
          <a:xfrm>
            <a:off x="6481637" y="407524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7EB8D4">
              <a:alpha val="1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406" name="Image 11" descr="preencoded.png">
            <a:extLst>
              <a:ext uri="{FF2B5EF4-FFF2-40B4-BE49-F238E27FC236}">
                <a16:creationId xmlns:a16="http://schemas.microsoft.com/office/drawing/2014/main" id="{40607655-08B8-91E1-C97F-CF2476C716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74296" y="4155700"/>
            <a:ext cx="176784" cy="176784"/>
          </a:xfrm>
          <a:prstGeom prst="rect">
            <a:avLst/>
          </a:prstGeom>
        </p:spPr>
      </p:pic>
      <p:sp>
        <p:nvSpPr>
          <p:cNvPr id="416" name="Text 41">
            <a:extLst>
              <a:ext uri="{FF2B5EF4-FFF2-40B4-BE49-F238E27FC236}">
                <a16:creationId xmlns:a16="http://schemas.microsoft.com/office/drawing/2014/main" id="{33E8FF74-CE41-89A5-8E19-4F892D3439B7}"/>
              </a:ext>
            </a:extLst>
          </p:cNvPr>
          <p:cNvSpPr/>
          <p:nvPr/>
        </p:nvSpPr>
        <p:spPr>
          <a:xfrm>
            <a:off x="6090840" y="2202174"/>
            <a:ext cx="10120" cy="572293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FFFFFF">
                  <a:alpha val="15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418" name="Text 42">
            <a:extLst>
              <a:ext uri="{FF2B5EF4-FFF2-40B4-BE49-F238E27FC236}">
                <a16:creationId xmlns:a16="http://schemas.microsoft.com/office/drawing/2014/main" id="{3683576B-2ECF-21FC-248D-3E675B0D6EAD}"/>
              </a:ext>
            </a:extLst>
          </p:cNvPr>
          <p:cNvSpPr/>
          <p:nvPr/>
        </p:nvSpPr>
        <p:spPr>
          <a:xfrm>
            <a:off x="5924154" y="2774467"/>
            <a:ext cx="343693" cy="378063"/>
          </a:xfrm>
          <a:prstGeom prst="ellipse">
            <a:avLst/>
          </a:prstGeom>
          <a:solidFill>
            <a:srgbClr val="0D1B2A"/>
          </a:solidFill>
          <a:ln w="9525">
            <a:solidFill>
              <a:srgbClr val="FFFFFF">
                <a:alpha val="1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/>
            <a:r>
              <a:rPr lang="en-US" sz="827" b="1" kern="0" spc="4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827" dirty="0"/>
          </a:p>
        </p:txBody>
      </p:sp>
      <p:sp>
        <p:nvSpPr>
          <p:cNvPr id="420" name="Text 43">
            <a:extLst>
              <a:ext uri="{FF2B5EF4-FFF2-40B4-BE49-F238E27FC236}">
                <a16:creationId xmlns:a16="http://schemas.microsoft.com/office/drawing/2014/main" id="{4A2C034B-DFE6-A3DE-B68A-17992D6595AC}"/>
              </a:ext>
            </a:extLst>
          </p:cNvPr>
          <p:cNvSpPr/>
          <p:nvPr/>
        </p:nvSpPr>
        <p:spPr>
          <a:xfrm>
            <a:off x="6090840" y="3118160"/>
            <a:ext cx="10120" cy="572293"/>
          </a:xfrm>
          <a:prstGeom prst="rect">
            <a:avLst/>
          </a:prstGeom>
          <a:gradFill rotWithShape="1">
            <a:gsLst>
              <a:gs pos="0">
                <a:srgbClr val="FFFF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421" name="Text 29">
            <a:extLst>
              <a:ext uri="{FF2B5EF4-FFF2-40B4-BE49-F238E27FC236}">
                <a16:creationId xmlns:a16="http://schemas.microsoft.com/office/drawing/2014/main" id="{92641885-F630-6C3A-F05D-D8FA81C368EC}"/>
              </a:ext>
            </a:extLst>
          </p:cNvPr>
          <p:cNvSpPr/>
          <p:nvPr/>
        </p:nvSpPr>
        <p:spPr>
          <a:xfrm>
            <a:off x="6929976" y="2722720"/>
            <a:ext cx="4460629" cy="329273"/>
          </a:xfrm>
          <a:prstGeom prst="rect">
            <a:avLst/>
          </a:prstGeom>
          <a:noFill/>
          <a:ln/>
        </p:spPr>
        <p:txBody>
          <a:bodyPr wrap="square" lIns="0" tIns="57573" rIns="0" bIns="0" rtlCol="0" anchor="t"/>
          <a:lstStyle/>
          <a:p>
            <a:pPr>
              <a:lnSpc>
                <a:spcPts val="1740"/>
              </a:lnSpc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peak at </a:t>
            </a:r>
            <a:r>
              <a:rPr lang="en-US" sz="1200" b="1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6-9 AM </a:t>
            </a: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sz="1200" b="1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 PM </a:t>
            </a: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Commute hours</a:t>
            </a:r>
            <a:endParaRPr lang="en-US" sz="1200" dirty="0"/>
          </a:p>
        </p:txBody>
      </p:sp>
      <p:sp>
        <p:nvSpPr>
          <p:cNvPr id="423" name="Text 29">
            <a:extLst>
              <a:ext uri="{FF2B5EF4-FFF2-40B4-BE49-F238E27FC236}">
                <a16:creationId xmlns:a16="http://schemas.microsoft.com/office/drawing/2014/main" id="{E8900AEE-BD4B-5009-5FF6-539AD0B8F751}"/>
              </a:ext>
            </a:extLst>
          </p:cNvPr>
          <p:cNvSpPr/>
          <p:nvPr/>
        </p:nvSpPr>
        <p:spPr>
          <a:xfrm>
            <a:off x="1319911" y="2731956"/>
            <a:ext cx="4460629" cy="329273"/>
          </a:xfrm>
          <a:prstGeom prst="rect">
            <a:avLst/>
          </a:prstGeom>
          <a:noFill/>
          <a:ln/>
        </p:spPr>
        <p:txBody>
          <a:bodyPr wrap="square" lIns="0" tIns="57573" rIns="0" bIns="0" rtlCol="0" anchor="t"/>
          <a:lstStyle/>
          <a:p>
            <a:pPr>
              <a:lnSpc>
                <a:spcPts val="1740"/>
              </a:lnSpc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riders peak in afternoon</a:t>
            </a:r>
            <a:endParaRPr lang="en-US" sz="1200" dirty="0"/>
          </a:p>
        </p:txBody>
      </p:sp>
      <p:sp>
        <p:nvSpPr>
          <p:cNvPr id="424" name="Text 29">
            <a:extLst>
              <a:ext uri="{FF2B5EF4-FFF2-40B4-BE49-F238E27FC236}">
                <a16:creationId xmlns:a16="http://schemas.microsoft.com/office/drawing/2014/main" id="{A27C7C7F-2A01-A323-2F94-B288D720BA5A}"/>
              </a:ext>
            </a:extLst>
          </p:cNvPr>
          <p:cNvSpPr/>
          <p:nvPr/>
        </p:nvSpPr>
        <p:spPr>
          <a:xfrm>
            <a:off x="1319911" y="2247426"/>
            <a:ext cx="4460629" cy="329273"/>
          </a:xfrm>
          <a:prstGeom prst="rect">
            <a:avLst/>
          </a:prstGeom>
          <a:noFill/>
          <a:ln/>
        </p:spPr>
        <p:txBody>
          <a:bodyPr wrap="square" lIns="0" tIns="57573" rIns="0" bIns="0" rtlCol="0" anchor="t"/>
          <a:lstStyle/>
          <a:p>
            <a:pPr>
              <a:lnSpc>
                <a:spcPts val="1740"/>
              </a:lnSpc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riders spike on weekends</a:t>
            </a:r>
            <a:endParaRPr lang="en-US" sz="1200" dirty="0"/>
          </a:p>
        </p:txBody>
      </p:sp>
      <p:sp>
        <p:nvSpPr>
          <p:cNvPr id="426" name="Text 31">
            <a:extLst>
              <a:ext uri="{FF2B5EF4-FFF2-40B4-BE49-F238E27FC236}">
                <a16:creationId xmlns:a16="http://schemas.microsoft.com/office/drawing/2014/main" id="{7FC6B195-DDAC-6236-F25E-844D95576A5D}"/>
              </a:ext>
            </a:extLst>
          </p:cNvPr>
          <p:cNvSpPr/>
          <p:nvPr/>
        </p:nvSpPr>
        <p:spPr>
          <a:xfrm>
            <a:off x="6929976" y="4083809"/>
            <a:ext cx="4085352" cy="278408"/>
          </a:xfrm>
          <a:prstGeom prst="rect">
            <a:avLst/>
          </a:prstGeom>
          <a:noFill/>
          <a:ln/>
        </p:spPr>
        <p:txBody>
          <a:bodyPr wrap="none" lIns="0" tIns="57573" rIns="0" bIns="0" rtlCol="0" anchor="t"/>
          <a:lstStyle/>
          <a:p>
            <a:pPr>
              <a:lnSpc>
                <a:spcPts val="1740"/>
              </a:lnSpc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average ride duration – </a:t>
            </a:r>
            <a:r>
              <a:rPr lang="en-US" sz="1200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min average per ride</a:t>
            </a:r>
            <a:endParaRPr lang="en-US" sz="1200" dirty="0">
              <a:solidFill>
                <a:srgbClr val="0087E2"/>
              </a:solidFill>
            </a:endParaRPr>
          </a:p>
        </p:txBody>
      </p:sp>
      <p:sp>
        <p:nvSpPr>
          <p:cNvPr id="428" name="Text 34">
            <a:extLst>
              <a:ext uri="{FF2B5EF4-FFF2-40B4-BE49-F238E27FC236}">
                <a16:creationId xmlns:a16="http://schemas.microsoft.com/office/drawing/2014/main" id="{1CC345C8-C270-3ACF-000B-BEC2F37C1275}"/>
              </a:ext>
            </a:extLst>
          </p:cNvPr>
          <p:cNvSpPr/>
          <p:nvPr/>
        </p:nvSpPr>
        <p:spPr>
          <a:xfrm>
            <a:off x="9812797" y="4816910"/>
            <a:ext cx="359652" cy="1680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580"/>
              </a:lnSpc>
            </a:pPr>
            <a:r>
              <a:rPr lang="en-US" sz="533" b="1" kern="0" spc="21" dirty="0">
                <a:solidFill>
                  <a:srgbClr val="4472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(13mins)</a:t>
            </a:r>
            <a:endParaRPr lang="en-US" sz="533" b="1" dirty="0">
              <a:solidFill>
                <a:srgbClr val="4472C4"/>
              </a:solidFill>
            </a:endParaRPr>
          </a:p>
        </p:txBody>
      </p:sp>
      <p:sp>
        <p:nvSpPr>
          <p:cNvPr id="429" name="Text 34">
            <a:extLst>
              <a:ext uri="{FF2B5EF4-FFF2-40B4-BE49-F238E27FC236}">
                <a16:creationId xmlns:a16="http://schemas.microsoft.com/office/drawing/2014/main" id="{CE0CD632-DCD8-4599-6732-3DCB7AE7820D}"/>
              </a:ext>
            </a:extLst>
          </p:cNvPr>
          <p:cNvSpPr/>
          <p:nvPr/>
        </p:nvSpPr>
        <p:spPr>
          <a:xfrm>
            <a:off x="10459941" y="4816910"/>
            <a:ext cx="359652" cy="1680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580"/>
              </a:lnSpc>
            </a:pPr>
            <a:r>
              <a:rPr lang="en-US" sz="533" b="1" kern="0" spc="21" dirty="0">
                <a:solidFill>
                  <a:srgbClr val="ED7D3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(31mins)</a:t>
            </a:r>
            <a:endParaRPr lang="en-US" sz="533" b="1" dirty="0">
              <a:solidFill>
                <a:srgbClr val="ED7D31"/>
              </a:solidFill>
            </a:endParaRPr>
          </a:p>
        </p:txBody>
      </p:sp>
      <p:sp>
        <p:nvSpPr>
          <p:cNvPr id="430" name="Text 34">
            <a:extLst>
              <a:ext uri="{FF2B5EF4-FFF2-40B4-BE49-F238E27FC236}">
                <a16:creationId xmlns:a16="http://schemas.microsoft.com/office/drawing/2014/main" id="{808177C4-4DCB-CA5A-D4EE-000AE1CD28D4}"/>
              </a:ext>
            </a:extLst>
          </p:cNvPr>
          <p:cNvSpPr/>
          <p:nvPr/>
        </p:nvSpPr>
        <p:spPr>
          <a:xfrm>
            <a:off x="6480048" y="5043997"/>
            <a:ext cx="683741" cy="1991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33" b="1" kern="0" spc="21" dirty="0"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Top 10 Starting Station</a:t>
            </a:r>
          </a:p>
          <a:p>
            <a:r>
              <a:rPr lang="en-US" sz="533" b="1" kern="0" spc="21" dirty="0">
                <a:solidFill>
                  <a:srgbClr val="4472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Member : 10.6%</a:t>
            </a:r>
          </a:p>
          <a:p>
            <a:r>
              <a:rPr lang="en-US" sz="533" b="1" kern="0" spc="21" dirty="0">
                <a:solidFill>
                  <a:srgbClr val="ED7D3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Casual  : 33.8%</a:t>
            </a:r>
          </a:p>
        </p:txBody>
      </p:sp>
      <p:cxnSp>
        <p:nvCxnSpPr>
          <p:cNvPr id="431" name="Straight Arrow Connector 430">
            <a:extLst>
              <a:ext uri="{FF2B5EF4-FFF2-40B4-BE49-F238E27FC236}">
                <a16:creationId xmlns:a16="http://schemas.microsoft.com/office/drawing/2014/main" id="{7188DCC1-76A0-3ABB-D40D-3EE9C35296D3}"/>
              </a:ext>
            </a:extLst>
          </p:cNvPr>
          <p:cNvCxnSpPr>
            <a:cxnSpLocks/>
          </p:cNvCxnSpPr>
          <p:nvPr/>
        </p:nvCxnSpPr>
        <p:spPr>
          <a:xfrm flipV="1">
            <a:off x="6443613" y="5296354"/>
            <a:ext cx="668719" cy="4535"/>
          </a:xfrm>
          <a:prstGeom prst="straightConnector1">
            <a:avLst/>
          </a:prstGeom>
          <a:ln>
            <a:solidFill>
              <a:srgbClr val="4472C4"/>
            </a:solidFill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2" name="Straight Connector 431">
            <a:extLst>
              <a:ext uri="{FF2B5EF4-FFF2-40B4-BE49-F238E27FC236}">
                <a16:creationId xmlns:a16="http://schemas.microsoft.com/office/drawing/2014/main" id="{AF4DEB99-9F98-A22C-5C90-6C5BF556A44F}"/>
              </a:ext>
            </a:extLst>
          </p:cNvPr>
          <p:cNvCxnSpPr>
            <a:cxnSpLocks/>
          </p:cNvCxnSpPr>
          <p:nvPr/>
        </p:nvCxnSpPr>
        <p:spPr>
          <a:xfrm>
            <a:off x="7112331" y="4936839"/>
            <a:ext cx="0" cy="137504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1" name="Picture 440">
            <a:extLst>
              <a:ext uri="{FF2B5EF4-FFF2-40B4-BE49-F238E27FC236}">
                <a16:creationId xmlns:a16="http://schemas.microsoft.com/office/drawing/2014/main" id="{0515151B-16AF-52D0-2A79-404F3F289E4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646281" y="4968695"/>
            <a:ext cx="557931" cy="470256"/>
          </a:xfrm>
          <a:prstGeom prst="rect">
            <a:avLst/>
          </a:prstGeom>
        </p:spPr>
      </p:pic>
      <p:sp>
        <p:nvSpPr>
          <p:cNvPr id="443" name="Text 17">
            <a:extLst>
              <a:ext uri="{FF2B5EF4-FFF2-40B4-BE49-F238E27FC236}">
                <a16:creationId xmlns:a16="http://schemas.microsoft.com/office/drawing/2014/main" id="{8E60F1A8-97BE-D0AC-D061-D5D9D66F5FE3}"/>
              </a:ext>
            </a:extLst>
          </p:cNvPr>
          <p:cNvSpPr/>
          <p:nvPr/>
        </p:nvSpPr>
        <p:spPr>
          <a:xfrm>
            <a:off x="6929976" y="3188776"/>
            <a:ext cx="4257576" cy="278408"/>
          </a:xfrm>
          <a:prstGeom prst="rect">
            <a:avLst/>
          </a:prstGeom>
          <a:noFill/>
          <a:ln/>
        </p:spPr>
        <p:txBody>
          <a:bodyPr wrap="none" lIns="0" tIns="57573" rIns="0" bIns="0" rtlCol="0" anchor="t"/>
          <a:lstStyle/>
          <a:p>
            <a:pPr>
              <a:lnSpc>
                <a:spcPts val="1740"/>
              </a:lnSpc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start office-dense areas</a:t>
            </a:r>
            <a:endParaRPr lang="en-US" sz="1200" dirty="0"/>
          </a:p>
        </p:txBody>
      </p:sp>
      <p:pic>
        <p:nvPicPr>
          <p:cNvPr id="28" name="Image 5" descr="preencoded.png">
            <a:extLst>
              <a:ext uri="{FF2B5EF4-FFF2-40B4-BE49-F238E27FC236}">
                <a16:creationId xmlns:a16="http://schemas.microsoft.com/office/drawing/2014/main" id="{A40CA556-86E8-140A-5B7E-F78ADEDCED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554501" y="4151009"/>
            <a:ext cx="176784" cy="176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639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0785B-8531-922B-7D7A-97306111C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0">
            <a:extLst>
              <a:ext uri="{FF2B5EF4-FFF2-40B4-BE49-F238E27FC236}">
                <a16:creationId xmlns:a16="http://schemas.microsoft.com/office/drawing/2014/main" id="{4E7DD7D5-5F42-79B6-05DF-9C98B33D6068}"/>
              </a:ext>
            </a:extLst>
          </p:cNvPr>
          <p:cNvSpPr/>
          <p:nvPr/>
        </p:nvSpPr>
        <p:spPr>
          <a:xfrm>
            <a:off x="-5160" y="-3868"/>
            <a:ext cx="12192000" cy="6858000"/>
          </a:xfrm>
          <a:prstGeom prst="rect">
            <a:avLst/>
          </a:prstGeom>
          <a:gradFill rotWithShape="1">
            <a:gsLst>
              <a:gs pos="0">
                <a:srgbClr val="0C122C">
                  <a:alpha val="96863"/>
                </a:srgbClr>
              </a:gs>
              <a:gs pos="50000">
                <a:srgbClr val="002060">
                  <a:alpha val="92000"/>
                </a:srgbClr>
              </a:gs>
              <a:gs pos="100000">
                <a:srgbClr val="15A0FF">
                  <a:alpha val="8000"/>
                </a:srgbClr>
              </a:gs>
            </a:gsLst>
            <a:lin ang="420000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1B0AC3F4-F1C8-74F1-9E62-09F50A4C1490}"/>
              </a:ext>
            </a:extLst>
          </p:cNvPr>
          <p:cNvSpPr/>
          <p:nvPr/>
        </p:nvSpPr>
        <p:spPr>
          <a:xfrm>
            <a:off x="241300" y="832247"/>
            <a:ext cx="1905000" cy="1905000"/>
          </a:xfrm>
          <a:prstGeom prst="rect">
            <a:avLst/>
          </a:prstGeom>
          <a:gradFill rotWithShape="1">
            <a:gsLst>
              <a:gs pos="0">
                <a:srgbClr val="00C6A7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F4A3231-C996-783A-DF1B-20CB3308CA29}"/>
              </a:ext>
            </a:extLst>
          </p:cNvPr>
          <p:cNvSpPr/>
          <p:nvPr/>
        </p:nvSpPr>
        <p:spPr>
          <a:xfrm>
            <a:off x="10045703" y="832247"/>
            <a:ext cx="1905000" cy="1905000"/>
          </a:xfrm>
          <a:prstGeom prst="rect">
            <a:avLst/>
          </a:prstGeom>
          <a:gradFill rotWithShape="1">
            <a:gsLst>
              <a:gs pos="0">
                <a:srgbClr val="7EB8D4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56D40C4-CE6E-7CE7-5ECF-D7BF66AE3E7A}"/>
              </a:ext>
            </a:extLst>
          </p:cNvPr>
          <p:cNvSpPr/>
          <p:nvPr/>
        </p:nvSpPr>
        <p:spPr>
          <a:xfrm>
            <a:off x="609600" y="286147"/>
            <a:ext cx="12070080" cy="172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60"/>
              </a:lnSpc>
            </a:pPr>
            <a:r>
              <a:rPr lang="en-US" sz="907" b="1" kern="0" spc="163" dirty="0">
                <a:solidFill>
                  <a:srgbClr val="15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ANALYSIS</a:t>
            </a:r>
            <a:endParaRPr lang="en-US" sz="907" dirty="0">
              <a:solidFill>
                <a:srgbClr val="15A0FF"/>
              </a:solidFill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517A394-3577-709D-FABF-42736814004E}"/>
              </a:ext>
            </a:extLst>
          </p:cNvPr>
          <p:cNvSpPr/>
          <p:nvPr/>
        </p:nvSpPr>
        <p:spPr>
          <a:xfrm>
            <a:off x="609600" y="497681"/>
            <a:ext cx="11740896" cy="371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29"/>
              </a:lnSpc>
            </a:pPr>
            <a:r>
              <a:rPr lang="en-US" sz="2547" kern="0" spc="-25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Rider Behavior in Q3 in Year </a:t>
            </a:r>
            <a:r>
              <a:rPr lang="en-US" sz="2547" b="1" kern="0" spc="-25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2025</a:t>
            </a:r>
            <a:endParaRPr lang="en-US" sz="2547" b="1" dirty="0">
              <a:solidFill>
                <a:srgbClr val="15A0FF"/>
              </a:solidFill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06C890A-8A49-7A22-3ECB-D83BF84C5EC2}"/>
              </a:ext>
            </a:extLst>
          </p:cNvPr>
          <p:cNvSpPr/>
          <p:nvPr/>
        </p:nvSpPr>
        <p:spPr>
          <a:xfrm>
            <a:off x="609600" y="945754"/>
            <a:ext cx="496093" cy="28773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15A0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52" name="Text 38">
            <a:extLst>
              <a:ext uri="{FF2B5EF4-FFF2-40B4-BE49-F238E27FC236}">
                <a16:creationId xmlns:a16="http://schemas.microsoft.com/office/drawing/2014/main" id="{19140368-751D-B7FA-7FE6-8174C0072449}"/>
              </a:ext>
            </a:extLst>
          </p:cNvPr>
          <p:cNvSpPr/>
          <p:nvPr/>
        </p:nvSpPr>
        <p:spPr>
          <a:xfrm>
            <a:off x="609600" y="6568876"/>
            <a:ext cx="2689027" cy="1012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54" name="Text 40">
            <a:extLst>
              <a:ext uri="{FF2B5EF4-FFF2-40B4-BE49-F238E27FC236}">
                <a16:creationId xmlns:a16="http://schemas.microsoft.com/office/drawing/2014/main" id="{F089FBB9-3F59-2630-D198-2F4BD5FAF038}"/>
              </a:ext>
            </a:extLst>
          </p:cNvPr>
          <p:cNvSpPr/>
          <p:nvPr/>
        </p:nvSpPr>
        <p:spPr>
          <a:xfrm>
            <a:off x="8893373" y="6568876"/>
            <a:ext cx="2689027" cy="1012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61" name="Text 0">
            <a:extLst>
              <a:ext uri="{FF2B5EF4-FFF2-40B4-BE49-F238E27FC236}">
                <a16:creationId xmlns:a16="http://schemas.microsoft.com/office/drawing/2014/main" id="{419FE7CE-8F15-ACB4-0FE8-1C8C0339D714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E4002B">
              <a:alpha val="87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23" name="Text 6">
            <a:extLst>
              <a:ext uri="{FF2B5EF4-FFF2-40B4-BE49-F238E27FC236}">
                <a16:creationId xmlns:a16="http://schemas.microsoft.com/office/drawing/2014/main" id="{1A1AA9C1-F7AC-EC5D-3030-0C3408332DE2}"/>
              </a:ext>
            </a:extLst>
          </p:cNvPr>
          <p:cNvSpPr/>
          <p:nvPr/>
        </p:nvSpPr>
        <p:spPr>
          <a:xfrm>
            <a:off x="613456" y="4619003"/>
            <a:ext cx="10968945" cy="1922501"/>
          </a:xfrm>
          <a:prstGeom prst="roundRect">
            <a:avLst>
              <a:gd name="adj" fmla="val 2733"/>
            </a:avLst>
          </a:prstGeom>
          <a:solidFill>
            <a:srgbClr val="1A2E42">
              <a:alpha val="65000"/>
            </a:srgbClr>
          </a:solidFill>
          <a:ln w="9525">
            <a:solidFill>
              <a:srgbClr val="00C6A7">
                <a:alpha val="18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24" name="Text 9">
            <a:extLst>
              <a:ext uri="{FF2B5EF4-FFF2-40B4-BE49-F238E27FC236}">
                <a16:creationId xmlns:a16="http://schemas.microsoft.com/office/drawing/2014/main" id="{09C83889-7927-A1CB-E9ED-0A51AD957B20}"/>
              </a:ext>
            </a:extLst>
          </p:cNvPr>
          <p:cNvSpPr/>
          <p:nvPr/>
        </p:nvSpPr>
        <p:spPr>
          <a:xfrm>
            <a:off x="3459191" y="4717730"/>
            <a:ext cx="2581284" cy="1697833"/>
          </a:xfrm>
          <a:prstGeom prst="roundRect">
            <a:avLst>
              <a:gd name="adj" fmla="val 4734"/>
            </a:avLst>
          </a:prstGeom>
          <a:solidFill>
            <a:srgbClr val="15A0FF">
              <a:alpha val="5000"/>
            </a:srgbClr>
          </a:solidFill>
          <a:ln w="9525">
            <a:solidFill>
              <a:schemeClr val="bg2">
                <a:lumMod val="75000"/>
                <a:alpha val="35000"/>
              </a:scheme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25" name="Text 32">
            <a:extLst>
              <a:ext uri="{FF2B5EF4-FFF2-40B4-BE49-F238E27FC236}">
                <a16:creationId xmlns:a16="http://schemas.microsoft.com/office/drawing/2014/main" id="{AF9F0C82-3001-4071-8BB3-A72E9158B090}"/>
              </a:ext>
            </a:extLst>
          </p:cNvPr>
          <p:cNvSpPr/>
          <p:nvPr/>
        </p:nvSpPr>
        <p:spPr>
          <a:xfrm>
            <a:off x="746059" y="4693742"/>
            <a:ext cx="2581284" cy="1707535"/>
          </a:xfrm>
          <a:prstGeom prst="roundRect">
            <a:avLst>
              <a:gd name="adj" fmla="val 5862"/>
            </a:avLst>
          </a:prstGeom>
          <a:solidFill>
            <a:srgbClr val="15A0FF">
              <a:alpha val="5000"/>
            </a:srgbClr>
          </a:solidFill>
          <a:ln w="9525">
            <a:solidFill>
              <a:schemeClr val="bg2">
                <a:lumMod val="75000"/>
                <a:alpha val="35000"/>
              </a:scheme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26" name="Text 34">
            <a:extLst>
              <a:ext uri="{FF2B5EF4-FFF2-40B4-BE49-F238E27FC236}">
                <a16:creationId xmlns:a16="http://schemas.microsoft.com/office/drawing/2014/main" id="{29FD397B-09DC-C8A4-11F5-21750C70C650}"/>
              </a:ext>
            </a:extLst>
          </p:cNvPr>
          <p:cNvSpPr/>
          <p:nvPr/>
        </p:nvSpPr>
        <p:spPr>
          <a:xfrm>
            <a:off x="1319562" y="4709690"/>
            <a:ext cx="871037" cy="1680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580"/>
              </a:lnSpc>
            </a:pPr>
            <a:r>
              <a:rPr lang="en-US" sz="1053" b="1" kern="0" spc="21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Bike Usage by Day of Week</a:t>
            </a:r>
            <a:endParaRPr lang="en-US" sz="1053" dirty="0">
              <a:solidFill>
                <a:schemeClr val="bg1"/>
              </a:solidFill>
            </a:endParaRPr>
          </a:p>
        </p:txBody>
      </p:sp>
      <p:pic>
        <p:nvPicPr>
          <p:cNvPr id="127" name="Image 2" descr="preencoded.png">
            <a:extLst>
              <a:ext uri="{FF2B5EF4-FFF2-40B4-BE49-F238E27FC236}">
                <a16:creationId xmlns:a16="http://schemas.microsoft.com/office/drawing/2014/main" id="{5F23FE40-3B42-E28A-6E15-437A4897F2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4048" y="4720820"/>
            <a:ext cx="162000" cy="162000"/>
          </a:xfrm>
          <a:prstGeom prst="rect">
            <a:avLst/>
          </a:prstGeom>
        </p:spPr>
      </p:pic>
      <p:sp>
        <p:nvSpPr>
          <p:cNvPr id="128" name="Freeform: Shape 127">
            <a:extLst>
              <a:ext uri="{FF2B5EF4-FFF2-40B4-BE49-F238E27FC236}">
                <a16:creationId xmlns:a16="http://schemas.microsoft.com/office/drawing/2014/main" id="{1D34402F-1B93-E4AB-327A-10632EA1F7B9}"/>
              </a:ext>
            </a:extLst>
          </p:cNvPr>
          <p:cNvSpPr/>
          <p:nvPr/>
        </p:nvSpPr>
        <p:spPr>
          <a:xfrm>
            <a:off x="3549637" y="4734891"/>
            <a:ext cx="131064" cy="111063"/>
          </a:xfrm>
          <a:custGeom>
            <a:avLst/>
            <a:gdLst>
              <a:gd name="csX0" fmla="*/ 1157288 w 1159669"/>
              <a:gd name="csY0" fmla="*/ 535781 h 542925"/>
              <a:gd name="csX1" fmla="*/ 1159669 w 1159669"/>
              <a:gd name="csY1" fmla="*/ 485775 h 542925"/>
              <a:gd name="csX2" fmla="*/ 1102519 w 1159669"/>
              <a:gd name="csY2" fmla="*/ 433387 h 542925"/>
              <a:gd name="csX3" fmla="*/ 1040606 w 1159669"/>
              <a:gd name="csY3" fmla="*/ 378618 h 542925"/>
              <a:gd name="csX4" fmla="*/ 1007269 w 1159669"/>
              <a:gd name="csY4" fmla="*/ 338137 h 542925"/>
              <a:gd name="csX5" fmla="*/ 952500 w 1159669"/>
              <a:gd name="csY5" fmla="*/ 238125 h 542925"/>
              <a:gd name="csX6" fmla="*/ 902494 w 1159669"/>
              <a:gd name="csY6" fmla="*/ 119062 h 542925"/>
              <a:gd name="csX7" fmla="*/ 873919 w 1159669"/>
              <a:gd name="csY7" fmla="*/ 9525 h 542925"/>
              <a:gd name="csX8" fmla="*/ 864394 w 1159669"/>
              <a:gd name="csY8" fmla="*/ 0 h 542925"/>
              <a:gd name="csX9" fmla="*/ 845344 w 1159669"/>
              <a:gd name="csY9" fmla="*/ 14287 h 542925"/>
              <a:gd name="csX10" fmla="*/ 802481 w 1159669"/>
              <a:gd name="csY10" fmla="*/ 116681 h 542925"/>
              <a:gd name="csX11" fmla="*/ 757238 w 1159669"/>
              <a:gd name="csY11" fmla="*/ 278606 h 542925"/>
              <a:gd name="csX12" fmla="*/ 709613 w 1159669"/>
              <a:gd name="csY12" fmla="*/ 347662 h 542925"/>
              <a:gd name="csX13" fmla="*/ 657225 w 1159669"/>
              <a:gd name="csY13" fmla="*/ 352425 h 542925"/>
              <a:gd name="csX14" fmla="*/ 609600 w 1159669"/>
              <a:gd name="csY14" fmla="*/ 335756 h 542925"/>
              <a:gd name="csX15" fmla="*/ 557213 w 1159669"/>
              <a:gd name="csY15" fmla="*/ 373856 h 542925"/>
              <a:gd name="csX16" fmla="*/ 509588 w 1159669"/>
              <a:gd name="csY16" fmla="*/ 397668 h 542925"/>
              <a:gd name="csX17" fmla="*/ 492919 w 1159669"/>
              <a:gd name="csY17" fmla="*/ 392906 h 542925"/>
              <a:gd name="csX18" fmla="*/ 461963 w 1159669"/>
              <a:gd name="csY18" fmla="*/ 347662 h 542925"/>
              <a:gd name="csX19" fmla="*/ 428625 w 1159669"/>
              <a:gd name="csY19" fmla="*/ 185737 h 542925"/>
              <a:gd name="csX20" fmla="*/ 416719 w 1159669"/>
              <a:gd name="csY20" fmla="*/ 171450 h 542925"/>
              <a:gd name="csX21" fmla="*/ 397669 w 1159669"/>
              <a:gd name="csY21" fmla="*/ 183356 h 542925"/>
              <a:gd name="csX22" fmla="*/ 364331 w 1159669"/>
              <a:gd name="csY22" fmla="*/ 240506 h 542925"/>
              <a:gd name="csX23" fmla="*/ 347663 w 1159669"/>
              <a:gd name="csY23" fmla="*/ 269081 h 542925"/>
              <a:gd name="csX24" fmla="*/ 333375 w 1159669"/>
              <a:gd name="csY24" fmla="*/ 323850 h 542925"/>
              <a:gd name="csX25" fmla="*/ 314325 w 1159669"/>
              <a:gd name="csY25" fmla="*/ 385762 h 542925"/>
              <a:gd name="csX26" fmla="*/ 269081 w 1159669"/>
              <a:gd name="csY26" fmla="*/ 495300 h 542925"/>
              <a:gd name="csX27" fmla="*/ 207169 w 1159669"/>
              <a:gd name="csY27" fmla="*/ 531018 h 542925"/>
              <a:gd name="csX28" fmla="*/ 161925 w 1159669"/>
              <a:gd name="csY28" fmla="*/ 528637 h 542925"/>
              <a:gd name="csX29" fmla="*/ 69056 w 1159669"/>
              <a:gd name="csY29" fmla="*/ 526256 h 542925"/>
              <a:gd name="csX30" fmla="*/ 11906 w 1159669"/>
              <a:gd name="csY30" fmla="*/ 523875 h 542925"/>
              <a:gd name="csX31" fmla="*/ 2381 w 1159669"/>
              <a:gd name="csY31" fmla="*/ 521493 h 542925"/>
              <a:gd name="csX32" fmla="*/ 0 w 1159669"/>
              <a:gd name="csY32" fmla="*/ 542925 h 542925"/>
              <a:gd name="csX33" fmla="*/ 1157288 w 1159669"/>
              <a:gd name="csY33" fmla="*/ 535781 h 5429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1159669" h="542925">
                <a:moveTo>
                  <a:pt x="1157288" y="535781"/>
                </a:moveTo>
                <a:lnTo>
                  <a:pt x="1159669" y="485775"/>
                </a:lnTo>
                <a:lnTo>
                  <a:pt x="1102519" y="433387"/>
                </a:lnTo>
                <a:lnTo>
                  <a:pt x="1040606" y="378618"/>
                </a:lnTo>
                <a:lnTo>
                  <a:pt x="1007269" y="338137"/>
                </a:lnTo>
                <a:lnTo>
                  <a:pt x="952500" y="238125"/>
                </a:lnTo>
                <a:lnTo>
                  <a:pt x="902494" y="119062"/>
                </a:lnTo>
                <a:lnTo>
                  <a:pt x="873919" y="9525"/>
                </a:lnTo>
                <a:lnTo>
                  <a:pt x="864394" y="0"/>
                </a:lnTo>
                <a:lnTo>
                  <a:pt x="845344" y="14287"/>
                </a:lnTo>
                <a:lnTo>
                  <a:pt x="802481" y="116681"/>
                </a:lnTo>
                <a:lnTo>
                  <a:pt x="757238" y="278606"/>
                </a:lnTo>
                <a:lnTo>
                  <a:pt x="709613" y="347662"/>
                </a:lnTo>
                <a:lnTo>
                  <a:pt x="657225" y="352425"/>
                </a:lnTo>
                <a:lnTo>
                  <a:pt x="609600" y="335756"/>
                </a:lnTo>
                <a:lnTo>
                  <a:pt x="557213" y="373856"/>
                </a:lnTo>
                <a:lnTo>
                  <a:pt x="509588" y="397668"/>
                </a:lnTo>
                <a:lnTo>
                  <a:pt x="492919" y="392906"/>
                </a:lnTo>
                <a:lnTo>
                  <a:pt x="461963" y="347662"/>
                </a:lnTo>
                <a:lnTo>
                  <a:pt x="428625" y="185737"/>
                </a:lnTo>
                <a:lnTo>
                  <a:pt x="416719" y="171450"/>
                </a:lnTo>
                <a:lnTo>
                  <a:pt x="397669" y="183356"/>
                </a:lnTo>
                <a:lnTo>
                  <a:pt x="364331" y="240506"/>
                </a:lnTo>
                <a:lnTo>
                  <a:pt x="347663" y="269081"/>
                </a:lnTo>
                <a:lnTo>
                  <a:pt x="333375" y="323850"/>
                </a:lnTo>
                <a:lnTo>
                  <a:pt x="314325" y="385762"/>
                </a:lnTo>
                <a:lnTo>
                  <a:pt x="269081" y="495300"/>
                </a:lnTo>
                <a:lnTo>
                  <a:pt x="207169" y="531018"/>
                </a:lnTo>
                <a:lnTo>
                  <a:pt x="161925" y="528637"/>
                </a:lnTo>
                <a:lnTo>
                  <a:pt x="69056" y="526256"/>
                </a:lnTo>
                <a:lnTo>
                  <a:pt x="11906" y="523875"/>
                </a:lnTo>
                <a:lnTo>
                  <a:pt x="2381" y="521493"/>
                </a:lnTo>
                <a:lnTo>
                  <a:pt x="0" y="542925"/>
                </a:lnTo>
                <a:lnTo>
                  <a:pt x="1157288" y="535781"/>
                </a:lnTo>
                <a:close/>
              </a:path>
            </a:pathLst>
          </a:custGeom>
          <a:solidFill>
            <a:srgbClr val="15A0FF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400"/>
          </a:p>
        </p:txBody>
      </p:sp>
      <p:sp>
        <p:nvSpPr>
          <p:cNvPr id="129" name="Text 9">
            <a:extLst>
              <a:ext uri="{FF2B5EF4-FFF2-40B4-BE49-F238E27FC236}">
                <a16:creationId xmlns:a16="http://schemas.microsoft.com/office/drawing/2014/main" id="{96559B78-89EA-5B9A-6C14-46BBCA3426A2}"/>
              </a:ext>
            </a:extLst>
          </p:cNvPr>
          <p:cNvSpPr/>
          <p:nvPr/>
        </p:nvSpPr>
        <p:spPr>
          <a:xfrm>
            <a:off x="6172323" y="4725425"/>
            <a:ext cx="2581284" cy="1697833"/>
          </a:xfrm>
          <a:prstGeom prst="roundRect">
            <a:avLst>
              <a:gd name="adj" fmla="val 4734"/>
            </a:avLst>
          </a:prstGeom>
          <a:solidFill>
            <a:srgbClr val="15A0FF">
              <a:alpha val="5000"/>
            </a:srgbClr>
          </a:solidFill>
          <a:ln w="9525">
            <a:solidFill>
              <a:schemeClr val="bg2">
                <a:lumMod val="75000"/>
                <a:alpha val="35000"/>
              </a:scheme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30" name="Text 9">
            <a:extLst>
              <a:ext uri="{FF2B5EF4-FFF2-40B4-BE49-F238E27FC236}">
                <a16:creationId xmlns:a16="http://schemas.microsoft.com/office/drawing/2014/main" id="{F6ED3982-3ABE-FE35-09C4-F929162CA931}"/>
              </a:ext>
            </a:extLst>
          </p:cNvPr>
          <p:cNvSpPr/>
          <p:nvPr/>
        </p:nvSpPr>
        <p:spPr>
          <a:xfrm>
            <a:off x="8885454" y="4717729"/>
            <a:ext cx="2581284" cy="1697833"/>
          </a:xfrm>
          <a:prstGeom prst="roundRect">
            <a:avLst>
              <a:gd name="adj" fmla="val 4734"/>
            </a:avLst>
          </a:prstGeom>
          <a:solidFill>
            <a:srgbClr val="15A0FF">
              <a:alpha val="5000"/>
            </a:srgbClr>
          </a:solidFill>
          <a:ln w="9525">
            <a:solidFill>
              <a:schemeClr val="bg2">
                <a:lumMod val="75000"/>
                <a:alpha val="35000"/>
              </a:scheme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31" name="Text 34">
            <a:extLst>
              <a:ext uri="{FF2B5EF4-FFF2-40B4-BE49-F238E27FC236}">
                <a16:creationId xmlns:a16="http://schemas.microsoft.com/office/drawing/2014/main" id="{55BB4EAB-912A-74B2-98FE-763E1065D8A8}"/>
              </a:ext>
            </a:extLst>
          </p:cNvPr>
          <p:cNvSpPr/>
          <p:nvPr/>
        </p:nvSpPr>
        <p:spPr>
          <a:xfrm>
            <a:off x="6551088" y="4710642"/>
            <a:ext cx="871037" cy="1680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580"/>
              </a:lnSpc>
            </a:pPr>
            <a:r>
              <a:rPr lang="en-US" sz="933" b="1" kern="0" spc="21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Top 30 Starting Station(Proportion %)</a:t>
            </a:r>
            <a:endParaRPr lang="en-US" sz="933" dirty="0">
              <a:solidFill>
                <a:schemeClr val="bg1"/>
              </a:solidFill>
            </a:endParaRPr>
          </a:p>
        </p:txBody>
      </p:sp>
      <p:pic>
        <p:nvPicPr>
          <p:cNvPr id="132" name="Image 4" descr="preencoded.png">
            <a:extLst>
              <a:ext uri="{FF2B5EF4-FFF2-40B4-BE49-F238E27FC236}">
                <a16:creationId xmlns:a16="http://schemas.microsoft.com/office/drawing/2014/main" id="{CA46168E-5CE0-48BF-0B63-7623169C07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4864" y="4747358"/>
            <a:ext cx="166277" cy="135908"/>
          </a:xfrm>
          <a:prstGeom prst="rect">
            <a:avLst/>
          </a:prstGeom>
        </p:spPr>
      </p:pic>
      <p:sp>
        <p:nvSpPr>
          <p:cNvPr id="133" name="Text 34">
            <a:extLst>
              <a:ext uri="{FF2B5EF4-FFF2-40B4-BE49-F238E27FC236}">
                <a16:creationId xmlns:a16="http://schemas.microsoft.com/office/drawing/2014/main" id="{58E877B3-894B-720A-2243-D1137804017C}"/>
              </a:ext>
            </a:extLst>
          </p:cNvPr>
          <p:cNvSpPr/>
          <p:nvPr/>
        </p:nvSpPr>
        <p:spPr>
          <a:xfrm>
            <a:off x="9327599" y="4697036"/>
            <a:ext cx="871037" cy="1680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580"/>
              </a:lnSpc>
            </a:pPr>
            <a:r>
              <a:rPr lang="en-US" sz="933" b="1" kern="0" spc="21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Ride Duration Distribution with Average</a:t>
            </a:r>
            <a:endParaRPr lang="en-US" sz="933" dirty="0">
              <a:solidFill>
                <a:schemeClr val="bg1"/>
              </a:solidFill>
            </a:endParaRPr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B615FDDD-4EAC-F481-AB0C-A55EC17D1E18}"/>
              </a:ext>
            </a:extLst>
          </p:cNvPr>
          <p:cNvGrpSpPr/>
          <p:nvPr/>
        </p:nvGrpSpPr>
        <p:grpSpPr>
          <a:xfrm>
            <a:off x="9132324" y="4743345"/>
            <a:ext cx="158845" cy="103763"/>
            <a:chOff x="6892925" y="3736975"/>
            <a:chExt cx="1219200" cy="940747"/>
          </a:xfrm>
        </p:grpSpPr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CB1C3816-6E94-1CA7-F0D9-4F52DDA923D5}"/>
                </a:ext>
              </a:extLst>
            </p:cNvPr>
            <p:cNvSpPr/>
            <p:nvPr/>
          </p:nvSpPr>
          <p:spPr>
            <a:xfrm>
              <a:off x="6892925" y="3736975"/>
              <a:ext cx="1219200" cy="930275"/>
            </a:xfrm>
            <a:custGeom>
              <a:avLst/>
              <a:gdLst>
                <a:gd name="csX0" fmla="*/ 0 w 1219200"/>
                <a:gd name="csY0" fmla="*/ 930275 h 930275"/>
                <a:gd name="csX1" fmla="*/ 53975 w 1219200"/>
                <a:gd name="csY1" fmla="*/ 676275 h 930275"/>
                <a:gd name="csX2" fmla="*/ 82550 w 1219200"/>
                <a:gd name="csY2" fmla="*/ 517525 h 930275"/>
                <a:gd name="csX3" fmla="*/ 107950 w 1219200"/>
                <a:gd name="csY3" fmla="*/ 288925 h 930275"/>
                <a:gd name="csX4" fmla="*/ 149225 w 1219200"/>
                <a:gd name="csY4" fmla="*/ 117475 h 930275"/>
                <a:gd name="csX5" fmla="*/ 174625 w 1219200"/>
                <a:gd name="csY5" fmla="*/ 31750 h 930275"/>
                <a:gd name="csX6" fmla="*/ 222250 w 1219200"/>
                <a:gd name="csY6" fmla="*/ 0 h 930275"/>
                <a:gd name="csX7" fmla="*/ 301625 w 1219200"/>
                <a:gd name="csY7" fmla="*/ 34925 h 930275"/>
                <a:gd name="csX8" fmla="*/ 377825 w 1219200"/>
                <a:gd name="csY8" fmla="*/ 123825 h 930275"/>
                <a:gd name="csX9" fmla="*/ 434975 w 1219200"/>
                <a:gd name="csY9" fmla="*/ 323850 h 930275"/>
                <a:gd name="csX10" fmla="*/ 508000 w 1219200"/>
                <a:gd name="csY10" fmla="*/ 542925 h 930275"/>
                <a:gd name="csX11" fmla="*/ 606425 w 1219200"/>
                <a:gd name="csY11" fmla="*/ 749300 h 930275"/>
                <a:gd name="csX12" fmla="*/ 787400 w 1219200"/>
                <a:gd name="csY12" fmla="*/ 895350 h 930275"/>
                <a:gd name="csX13" fmla="*/ 1219200 w 1219200"/>
                <a:gd name="csY13" fmla="*/ 927100 h 930275"/>
                <a:gd name="csX14" fmla="*/ 0 w 1219200"/>
                <a:gd name="csY14" fmla="*/ 930275 h 9302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219200" h="930275">
                  <a:moveTo>
                    <a:pt x="0" y="930275"/>
                  </a:moveTo>
                  <a:lnTo>
                    <a:pt x="53975" y="676275"/>
                  </a:lnTo>
                  <a:lnTo>
                    <a:pt x="82550" y="517525"/>
                  </a:lnTo>
                  <a:lnTo>
                    <a:pt x="107950" y="288925"/>
                  </a:lnTo>
                  <a:lnTo>
                    <a:pt x="149225" y="117475"/>
                  </a:lnTo>
                  <a:lnTo>
                    <a:pt x="174625" y="31750"/>
                  </a:lnTo>
                  <a:lnTo>
                    <a:pt x="222250" y="0"/>
                  </a:lnTo>
                  <a:lnTo>
                    <a:pt x="301625" y="34925"/>
                  </a:lnTo>
                  <a:lnTo>
                    <a:pt x="377825" y="123825"/>
                  </a:lnTo>
                  <a:lnTo>
                    <a:pt x="434975" y="323850"/>
                  </a:lnTo>
                  <a:lnTo>
                    <a:pt x="508000" y="542925"/>
                  </a:lnTo>
                  <a:lnTo>
                    <a:pt x="606425" y="749300"/>
                  </a:lnTo>
                  <a:lnTo>
                    <a:pt x="787400" y="895350"/>
                  </a:lnTo>
                  <a:lnTo>
                    <a:pt x="1219200" y="927100"/>
                  </a:lnTo>
                  <a:lnTo>
                    <a:pt x="0" y="930275"/>
                  </a:lnTo>
                  <a:close/>
                </a:path>
              </a:pathLst>
            </a:custGeom>
            <a:solidFill>
              <a:srgbClr val="15A0FF">
                <a:alpha val="65000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E1C103D4-5D38-A93D-5361-E0153ADC351A}"/>
                </a:ext>
              </a:extLst>
            </p:cNvPr>
            <p:cNvSpPr/>
            <p:nvPr/>
          </p:nvSpPr>
          <p:spPr>
            <a:xfrm flipH="1">
              <a:off x="6893238" y="4000841"/>
              <a:ext cx="1175733" cy="676881"/>
            </a:xfrm>
            <a:custGeom>
              <a:avLst/>
              <a:gdLst>
                <a:gd name="csX0" fmla="*/ 0 w 1473200"/>
                <a:gd name="csY0" fmla="*/ 517525 h 517525"/>
                <a:gd name="csX1" fmla="*/ 53975 w 1473200"/>
                <a:gd name="csY1" fmla="*/ 428625 h 517525"/>
                <a:gd name="csX2" fmla="*/ 168275 w 1473200"/>
                <a:gd name="csY2" fmla="*/ 288925 h 517525"/>
                <a:gd name="csX3" fmla="*/ 327025 w 1473200"/>
                <a:gd name="csY3" fmla="*/ 92075 h 517525"/>
                <a:gd name="csX4" fmla="*/ 454025 w 1473200"/>
                <a:gd name="csY4" fmla="*/ 15875 h 517525"/>
                <a:gd name="csX5" fmla="*/ 501650 w 1473200"/>
                <a:gd name="csY5" fmla="*/ 0 h 517525"/>
                <a:gd name="csX6" fmla="*/ 593725 w 1473200"/>
                <a:gd name="csY6" fmla="*/ 31750 h 517525"/>
                <a:gd name="csX7" fmla="*/ 644525 w 1473200"/>
                <a:gd name="csY7" fmla="*/ 88900 h 517525"/>
                <a:gd name="csX8" fmla="*/ 742950 w 1473200"/>
                <a:gd name="csY8" fmla="*/ 234950 h 517525"/>
                <a:gd name="csX9" fmla="*/ 835025 w 1473200"/>
                <a:gd name="csY9" fmla="*/ 352425 h 517525"/>
                <a:gd name="csX10" fmla="*/ 1006475 w 1473200"/>
                <a:gd name="csY10" fmla="*/ 425450 h 517525"/>
                <a:gd name="csX11" fmla="*/ 1193800 w 1473200"/>
                <a:gd name="csY11" fmla="*/ 447675 h 517525"/>
                <a:gd name="csX12" fmla="*/ 1339850 w 1473200"/>
                <a:gd name="csY12" fmla="*/ 463550 h 517525"/>
                <a:gd name="csX13" fmla="*/ 1447800 w 1473200"/>
                <a:gd name="csY13" fmla="*/ 482600 h 517525"/>
                <a:gd name="csX14" fmla="*/ 1473200 w 1473200"/>
                <a:gd name="csY14" fmla="*/ 508000 h 517525"/>
                <a:gd name="csX15" fmla="*/ 0 w 1473200"/>
                <a:gd name="csY15" fmla="*/ 517525 h 517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473200" h="517525">
                  <a:moveTo>
                    <a:pt x="0" y="517525"/>
                  </a:moveTo>
                  <a:lnTo>
                    <a:pt x="53975" y="428625"/>
                  </a:lnTo>
                  <a:lnTo>
                    <a:pt x="168275" y="288925"/>
                  </a:lnTo>
                  <a:lnTo>
                    <a:pt x="327025" y="92075"/>
                  </a:lnTo>
                  <a:lnTo>
                    <a:pt x="454025" y="15875"/>
                  </a:lnTo>
                  <a:lnTo>
                    <a:pt x="501650" y="0"/>
                  </a:lnTo>
                  <a:lnTo>
                    <a:pt x="593725" y="31750"/>
                  </a:lnTo>
                  <a:lnTo>
                    <a:pt x="644525" y="88900"/>
                  </a:lnTo>
                  <a:lnTo>
                    <a:pt x="742950" y="234950"/>
                  </a:lnTo>
                  <a:lnTo>
                    <a:pt x="835025" y="352425"/>
                  </a:lnTo>
                  <a:lnTo>
                    <a:pt x="1006475" y="425450"/>
                  </a:lnTo>
                  <a:lnTo>
                    <a:pt x="1193800" y="447675"/>
                  </a:lnTo>
                  <a:lnTo>
                    <a:pt x="1339850" y="463550"/>
                  </a:lnTo>
                  <a:lnTo>
                    <a:pt x="1447800" y="482600"/>
                  </a:lnTo>
                  <a:lnTo>
                    <a:pt x="1473200" y="508000"/>
                  </a:lnTo>
                  <a:lnTo>
                    <a:pt x="0" y="517525"/>
                  </a:lnTo>
                  <a:close/>
                </a:path>
              </a:pathLst>
            </a:custGeom>
            <a:solidFill>
              <a:srgbClr val="ED7D31">
                <a:alpha val="82000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</p:grpSp>
      <p:pic>
        <p:nvPicPr>
          <p:cNvPr id="120" name="Picture 119">
            <a:extLst>
              <a:ext uri="{FF2B5EF4-FFF2-40B4-BE49-F238E27FC236}">
                <a16:creationId xmlns:a16="http://schemas.microsoft.com/office/drawing/2014/main" id="{22486102-642A-6B23-FC1A-50C20B31C1FB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3542727" y="4898375"/>
            <a:ext cx="2400000" cy="1440000"/>
          </a:xfrm>
          <a:prstGeom prst="rect">
            <a:avLst/>
          </a:prstGeom>
          <a:ln w="12700">
            <a:solidFill>
              <a:srgbClr val="15A0FF"/>
            </a:solidFill>
          </a:ln>
        </p:spPr>
      </p:pic>
      <p:grpSp>
        <p:nvGrpSpPr>
          <p:cNvPr id="116" name="Group 115">
            <a:extLst>
              <a:ext uri="{FF2B5EF4-FFF2-40B4-BE49-F238E27FC236}">
                <a16:creationId xmlns:a16="http://schemas.microsoft.com/office/drawing/2014/main" id="{0D64E956-5B43-F5E9-9EEF-F56A7E1789F7}"/>
              </a:ext>
            </a:extLst>
          </p:cNvPr>
          <p:cNvGrpSpPr/>
          <p:nvPr/>
        </p:nvGrpSpPr>
        <p:grpSpPr>
          <a:xfrm>
            <a:off x="836700" y="4911304"/>
            <a:ext cx="2400000" cy="1420155"/>
            <a:chOff x="3753714" y="1599730"/>
            <a:chExt cx="1368000" cy="628393"/>
          </a:xfrm>
        </p:grpSpPr>
        <p:sp>
          <p:nvSpPr>
            <p:cNvPr id="74" name="Text 35">
              <a:extLst>
                <a:ext uri="{FF2B5EF4-FFF2-40B4-BE49-F238E27FC236}">
                  <a16:creationId xmlns:a16="http://schemas.microsoft.com/office/drawing/2014/main" id="{E874F36A-071C-D57D-4B4A-18717042210D}"/>
                </a:ext>
              </a:extLst>
            </p:cNvPr>
            <p:cNvSpPr/>
            <p:nvPr/>
          </p:nvSpPr>
          <p:spPr>
            <a:xfrm>
              <a:off x="3753714" y="1599730"/>
              <a:ext cx="1368000" cy="628393"/>
            </a:xfrm>
            <a:prstGeom prst="roundRect">
              <a:avLst>
                <a:gd name="adj" fmla="val 6691"/>
              </a:avLst>
            </a:prstGeom>
            <a:solidFill>
              <a:srgbClr val="0F2551">
                <a:alpha val="93000"/>
              </a:srgbClr>
            </a:solidFill>
            <a:ln>
              <a:solidFill>
                <a:srgbClr val="15A0FF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 anchor="t"/>
            <a:lstStyle/>
            <a:p>
              <a:endParaRPr lang="en-US" sz="2400" dirty="0"/>
            </a:p>
          </p:txBody>
        </p:sp>
        <p:sp>
          <p:nvSpPr>
            <p:cNvPr id="79" name="Text 42">
              <a:extLst>
                <a:ext uri="{FF2B5EF4-FFF2-40B4-BE49-F238E27FC236}">
                  <a16:creationId xmlns:a16="http://schemas.microsoft.com/office/drawing/2014/main" id="{B21F9443-2518-B0F5-E440-57BB22693369}"/>
                </a:ext>
              </a:extLst>
            </p:cNvPr>
            <p:cNvSpPr/>
            <p:nvPr/>
          </p:nvSpPr>
          <p:spPr>
            <a:xfrm>
              <a:off x="3931565" y="2149860"/>
              <a:ext cx="106007" cy="6971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>
                <a:lnSpc>
                  <a:spcPts val="1020"/>
                </a:lnSpc>
              </a:pPr>
              <a:r>
                <a:rPr lang="en-US" sz="8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Mon</a:t>
              </a:r>
              <a:endParaRPr lang="en-US" sz="800" b="1" dirty="0">
                <a:solidFill>
                  <a:schemeClr val="bg1"/>
                </a:solidFill>
              </a:endParaRPr>
            </a:p>
          </p:txBody>
        </p:sp>
        <p:sp>
          <p:nvSpPr>
            <p:cNvPr id="80" name="Text 42">
              <a:extLst>
                <a:ext uri="{FF2B5EF4-FFF2-40B4-BE49-F238E27FC236}">
                  <a16:creationId xmlns:a16="http://schemas.microsoft.com/office/drawing/2014/main" id="{D4756614-0612-419B-98C8-FAF47A191A21}"/>
                </a:ext>
              </a:extLst>
            </p:cNvPr>
            <p:cNvSpPr/>
            <p:nvPr/>
          </p:nvSpPr>
          <p:spPr>
            <a:xfrm>
              <a:off x="4102800" y="2149860"/>
              <a:ext cx="106007" cy="6971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>
                <a:lnSpc>
                  <a:spcPts val="1020"/>
                </a:lnSpc>
              </a:pPr>
              <a:r>
                <a:rPr lang="en-US" sz="8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Tue</a:t>
              </a:r>
              <a:endParaRPr lang="en-US" sz="800" b="1" dirty="0">
                <a:solidFill>
                  <a:schemeClr val="bg1"/>
                </a:solidFill>
              </a:endParaRPr>
            </a:p>
          </p:txBody>
        </p:sp>
        <p:sp>
          <p:nvSpPr>
            <p:cNvPr id="81" name="Text 42">
              <a:extLst>
                <a:ext uri="{FF2B5EF4-FFF2-40B4-BE49-F238E27FC236}">
                  <a16:creationId xmlns:a16="http://schemas.microsoft.com/office/drawing/2014/main" id="{EFEDC9F0-DECE-39A1-96E7-299DDCE1856B}"/>
                </a:ext>
              </a:extLst>
            </p:cNvPr>
            <p:cNvSpPr/>
            <p:nvPr/>
          </p:nvSpPr>
          <p:spPr>
            <a:xfrm>
              <a:off x="4263392" y="2149860"/>
              <a:ext cx="106007" cy="6971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>
                <a:lnSpc>
                  <a:spcPts val="1020"/>
                </a:lnSpc>
              </a:pPr>
              <a:r>
                <a:rPr lang="en-US" sz="8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Wed</a:t>
              </a:r>
              <a:endParaRPr lang="en-US" sz="800" b="1" dirty="0">
                <a:solidFill>
                  <a:schemeClr val="bg1"/>
                </a:solidFill>
              </a:endParaRPr>
            </a:p>
          </p:txBody>
        </p:sp>
        <p:sp>
          <p:nvSpPr>
            <p:cNvPr id="82" name="Text 42">
              <a:extLst>
                <a:ext uri="{FF2B5EF4-FFF2-40B4-BE49-F238E27FC236}">
                  <a16:creationId xmlns:a16="http://schemas.microsoft.com/office/drawing/2014/main" id="{6FC61D8E-DE28-1DEB-1EA8-EF54F61482DF}"/>
                </a:ext>
              </a:extLst>
            </p:cNvPr>
            <p:cNvSpPr/>
            <p:nvPr/>
          </p:nvSpPr>
          <p:spPr>
            <a:xfrm>
              <a:off x="4435027" y="2149860"/>
              <a:ext cx="106007" cy="6971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>
                <a:lnSpc>
                  <a:spcPts val="1020"/>
                </a:lnSpc>
              </a:pPr>
              <a:r>
                <a:rPr lang="en-US" sz="8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Thu</a:t>
              </a:r>
              <a:endParaRPr lang="en-US" sz="800" b="1" dirty="0">
                <a:solidFill>
                  <a:schemeClr val="bg1"/>
                </a:solidFill>
              </a:endParaRPr>
            </a:p>
          </p:txBody>
        </p:sp>
        <p:sp>
          <p:nvSpPr>
            <p:cNvPr id="99" name="Text 42">
              <a:extLst>
                <a:ext uri="{FF2B5EF4-FFF2-40B4-BE49-F238E27FC236}">
                  <a16:creationId xmlns:a16="http://schemas.microsoft.com/office/drawing/2014/main" id="{C5451BF1-C761-4112-9A81-45BB6BC36ED1}"/>
                </a:ext>
              </a:extLst>
            </p:cNvPr>
            <p:cNvSpPr/>
            <p:nvPr/>
          </p:nvSpPr>
          <p:spPr>
            <a:xfrm>
              <a:off x="4602974" y="2149860"/>
              <a:ext cx="106007" cy="6971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>
                <a:lnSpc>
                  <a:spcPts val="1020"/>
                </a:lnSpc>
              </a:pPr>
              <a:r>
                <a:rPr lang="en-US" sz="8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Fri</a:t>
              </a:r>
              <a:endParaRPr lang="en-US" sz="800" b="1" dirty="0">
                <a:solidFill>
                  <a:schemeClr val="bg1"/>
                </a:solidFill>
              </a:endParaRPr>
            </a:p>
          </p:txBody>
        </p:sp>
        <p:sp>
          <p:nvSpPr>
            <p:cNvPr id="100" name="Text 42">
              <a:extLst>
                <a:ext uri="{FF2B5EF4-FFF2-40B4-BE49-F238E27FC236}">
                  <a16:creationId xmlns:a16="http://schemas.microsoft.com/office/drawing/2014/main" id="{AFEC4264-ECAF-0EB0-699C-F52C3281CFB4}"/>
                </a:ext>
              </a:extLst>
            </p:cNvPr>
            <p:cNvSpPr/>
            <p:nvPr/>
          </p:nvSpPr>
          <p:spPr>
            <a:xfrm>
              <a:off x="4780773" y="2149860"/>
              <a:ext cx="106007" cy="6971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>
                <a:lnSpc>
                  <a:spcPts val="1020"/>
                </a:lnSpc>
              </a:pPr>
              <a:r>
                <a:rPr lang="en-US" sz="8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Sat</a:t>
              </a:r>
              <a:endParaRPr lang="en-US" sz="800" b="1" dirty="0">
                <a:solidFill>
                  <a:schemeClr val="bg1"/>
                </a:solidFill>
              </a:endParaRPr>
            </a:p>
          </p:txBody>
        </p:sp>
        <p:sp>
          <p:nvSpPr>
            <p:cNvPr id="101" name="Text 42">
              <a:extLst>
                <a:ext uri="{FF2B5EF4-FFF2-40B4-BE49-F238E27FC236}">
                  <a16:creationId xmlns:a16="http://schemas.microsoft.com/office/drawing/2014/main" id="{D5AD1129-E059-3B05-FF5B-EE1B18066A88}"/>
                </a:ext>
              </a:extLst>
            </p:cNvPr>
            <p:cNvSpPr/>
            <p:nvPr/>
          </p:nvSpPr>
          <p:spPr>
            <a:xfrm>
              <a:off x="4945238" y="2149860"/>
              <a:ext cx="106007" cy="6971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>
                <a:lnSpc>
                  <a:spcPts val="1020"/>
                </a:lnSpc>
              </a:pPr>
              <a:r>
                <a:rPr lang="en-US" sz="8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Sun</a:t>
              </a:r>
              <a:endParaRPr lang="en-US" sz="800" b="1" dirty="0">
                <a:solidFill>
                  <a:schemeClr val="bg1"/>
                </a:solidFill>
              </a:endParaRPr>
            </a:p>
          </p:txBody>
        </p:sp>
        <p:sp>
          <p:nvSpPr>
            <p:cNvPr id="103" name="Text 39">
              <a:extLst>
                <a:ext uri="{FF2B5EF4-FFF2-40B4-BE49-F238E27FC236}">
                  <a16:creationId xmlns:a16="http://schemas.microsoft.com/office/drawing/2014/main" id="{C9B60B8D-CAF4-F642-79E4-D799CD856D89}"/>
                </a:ext>
              </a:extLst>
            </p:cNvPr>
            <p:cNvSpPr/>
            <p:nvPr/>
          </p:nvSpPr>
          <p:spPr>
            <a:xfrm>
              <a:off x="3805437" y="1720727"/>
              <a:ext cx="91683" cy="1390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67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High</a:t>
              </a:r>
            </a:p>
          </p:txBody>
        </p:sp>
        <p:sp>
          <p:nvSpPr>
            <p:cNvPr id="172" name="Text 39">
              <a:extLst>
                <a:ext uri="{FF2B5EF4-FFF2-40B4-BE49-F238E27FC236}">
                  <a16:creationId xmlns:a16="http://schemas.microsoft.com/office/drawing/2014/main" id="{D9DFDDFE-A5A4-25A8-FA3B-134F383AC994}"/>
                </a:ext>
              </a:extLst>
            </p:cNvPr>
            <p:cNvSpPr/>
            <p:nvPr/>
          </p:nvSpPr>
          <p:spPr>
            <a:xfrm>
              <a:off x="3805437" y="1887620"/>
              <a:ext cx="91683" cy="1390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67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Mid</a:t>
              </a:r>
            </a:p>
          </p:txBody>
        </p:sp>
        <p:sp>
          <p:nvSpPr>
            <p:cNvPr id="173" name="Text 39">
              <a:extLst>
                <a:ext uri="{FF2B5EF4-FFF2-40B4-BE49-F238E27FC236}">
                  <a16:creationId xmlns:a16="http://schemas.microsoft.com/office/drawing/2014/main" id="{925FEA20-FFAE-1FEB-AACD-1B1EDD04891B}"/>
                </a:ext>
              </a:extLst>
            </p:cNvPr>
            <p:cNvSpPr/>
            <p:nvPr/>
          </p:nvSpPr>
          <p:spPr>
            <a:xfrm>
              <a:off x="3805437" y="2049337"/>
              <a:ext cx="91683" cy="1390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67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Low</a:t>
              </a:r>
            </a:p>
          </p:txBody>
        </p:sp>
        <p:sp>
          <p:nvSpPr>
            <p:cNvPr id="68" name="Text 46">
              <a:extLst>
                <a:ext uri="{FF2B5EF4-FFF2-40B4-BE49-F238E27FC236}">
                  <a16:creationId xmlns:a16="http://schemas.microsoft.com/office/drawing/2014/main" id="{96710D06-230C-9EAA-7211-5B627E2AA84B}"/>
                </a:ext>
              </a:extLst>
            </p:cNvPr>
            <p:cNvSpPr/>
            <p:nvPr/>
          </p:nvSpPr>
          <p:spPr>
            <a:xfrm>
              <a:off x="4940397" y="1792212"/>
              <a:ext cx="39600" cy="372466"/>
            </a:xfrm>
            <a:prstGeom prst="roundRect">
              <a:avLst>
                <a:gd name="adj" fmla="val 33349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 anchor="t"/>
            <a:lstStyle/>
            <a:p>
              <a:endParaRPr lang="en-US" sz="800" dirty="0"/>
            </a:p>
          </p:txBody>
        </p:sp>
        <p:sp>
          <p:nvSpPr>
            <p:cNvPr id="69" name="Text 46">
              <a:extLst>
                <a:ext uri="{FF2B5EF4-FFF2-40B4-BE49-F238E27FC236}">
                  <a16:creationId xmlns:a16="http://schemas.microsoft.com/office/drawing/2014/main" id="{6E74B2F3-8CAB-177E-3CAD-00D8E2470D18}"/>
                </a:ext>
              </a:extLst>
            </p:cNvPr>
            <p:cNvSpPr/>
            <p:nvPr/>
          </p:nvSpPr>
          <p:spPr>
            <a:xfrm flipH="1">
              <a:off x="4981133" y="1789280"/>
              <a:ext cx="39600" cy="375398"/>
            </a:xfrm>
            <a:prstGeom prst="roundRect">
              <a:avLst>
                <a:gd name="adj" fmla="val 33349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 anchor="t"/>
            <a:lstStyle/>
            <a:p>
              <a:endParaRPr lang="en-US" sz="2400" dirty="0"/>
            </a:p>
          </p:txBody>
        </p:sp>
        <p:sp>
          <p:nvSpPr>
            <p:cNvPr id="70" name="Text 46">
              <a:extLst>
                <a:ext uri="{FF2B5EF4-FFF2-40B4-BE49-F238E27FC236}">
                  <a16:creationId xmlns:a16="http://schemas.microsoft.com/office/drawing/2014/main" id="{62A33457-76F3-A73D-A68C-FE85BBCD3E26}"/>
                </a:ext>
              </a:extLst>
            </p:cNvPr>
            <p:cNvSpPr/>
            <p:nvPr/>
          </p:nvSpPr>
          <p:spPr>
            <a:xfrm flipH="1">
              <a:off x="4813200" y="1764597"/>
              <a:ext cx="39600" cy="400081"/>
            </a:xfrm>
            <a:prstGeom prst="roundRect">
              <a:avLst>
                <a:gd name="adj" fmla="val 33349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 anchor="t"/>
            <a:lstStyle/>
            <a:p>
              <a:endParaRPr lang="en-US" sz="2400" dirty="0"/>
            </a:p>
          </p:txBody>
        </p:sp>
        <p:sp>
          <p:nvSpPr>
            <p:cNvPr id="72" name="Text 46">
              <a:extLst>
                <a:ext uri="{FF2B5EF4-FFF2-40B4-BE49-F238E27FC236}">
                  <a16:creationId xmlns:a16="http://schemas.microsoft.com/office/drawing/2014/main" id="{0CDF8AE9-D5CB-C952-CAAE-10DB55B4329A}"/>
                </a:ext>
              </a:extLst>
            </p:cNvPr>
            <p:cNvSpPr/>
            <p:nvPr/>
          </p:nvSpPr>
          <p:spPr>
            <a:xfrm flipH="1">
              <a:off x="4645265" y="1712374"/>
              <a:ext cx="39600" cy="452304"/>
            </a:xfrm>
            <a:prstGeom prst="roundRect">
              <a:avLst>
                <a:gd name="adj" fmla="val 33349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 anchor="t"/>
            <a:lstStyle/>
            <a:p>
              <a:endParaRPr lang="en-US" sz="2400" dirty="0"/>
            </a:p>
          </p:txBody>
        </p:sp>
        <p:sp>
          <p:nvSpPr>
            <p:cNvPr id="76" name="Text 46">
              <a:extLst>
                <a:ext uri="{FF2B5EF4-FFF2-40B4-BE49-F238E27FC236}">
                  <a16:creationId xmlns:a16="http://schemas.microsoft.com/office/drawing/2014/main" id="{31C5A9B8-4344-9A93-71D9-0443CCF8A245}"/>
                </a:ext>
              </a:extLst>
            </p:cNvPr>
            <p:cNvSpPr/>
            <p:nvPr/>
          </p:nvSpPr>
          <p:spPr>
            <a:xfrm flipH="1">
              <a:off x="4477330" y="1671838"/>
              <a:ext cx="39600" cy="492840"/>
            </a:xfrm>
            <a:prstGeom prst="roundRect">
              <a:avLst>
                <a:gd name="adj" fmla="val 33349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 anchor="t"/>
            <a:lstStyle/>
            <a:p>
              <a:endParaRPr lang="en-US" sz="2400" dirty="0"/>
            </a:p>
          </p:txBody>
        </p:sp>
        <p:sp>
          <p:nvSpPr>
            <p:cNvPr id="77" name="Text 46">
              <a:extLst>
                <a:ext uri="{FF2B5EF4-FFF2-40B4-BE49-F238E27FC236}">
                  <a16:creationId xmlns:a16="http://schemas.microsoft.com/office/drawing/2014/main" id="{E3E3E4ED-852A-409D-FE26-E7C33DED75F8}"/>
                </a:ext>
              </a:extLst>
            </p:cNvPr>
            <p:cNvSpPr/>
            <p:nvPr/>
          </p:nvSpPr>
          <p:spPr>
            <a:xfrm flipH="1">
              <a:off x="4309395" y="1669324"/>
              <a:ext cx="39600" cy="495354"/>
            </a:xfrm>
            <a:prstGeom prst="roundRect">
              <a:avLst>
                <a:gd name="adj" fmla="val 33349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 anchor="t"/>
            <a:lstStyle/>
            <a:p>
              <a:endParaRPr lang="en-US" sz="2400" dirty="0"/>
            </a:p>
          </p:txBody>
        </p:sp>
        <p:sp>
          <p:nvSpPr>
            <p:cNvPr id="78" name="Text 46">
              <a:extLst>
                <a:ext uri="{FF2B5EF4-FFF2-40B4-BE49-F238E27FC236}">
                  <a16:creationId xmlns:a16="http://schemas.microsoft.com/office/drawing/2014/main" id="{D09BA16D-A212-7C46-6699-471F47139F29}"/>
                </a:ext>
              </a:extLst>
            </p:cNvPr>
            <p:cNvSpPr/>
            <p:nvPr/>
          </p:nvSpPr>
          <p:spPr>
            <a:xfrm flipH="1">
              <a:off x="4141460" y="1646486"/>
              <a:ext cx="39600" cy="518192"/>
            </a:xfrm>
            <a:prstGeom prst="roundRect">
              <a:avLst>
                <a:gd name="adj" fmla="val 33349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 anchor="t"/>
            <a:lstStyle/>
            <a:p>
              <a:endParaRPr lang="en-US" sz="2400" dirty="0"/>
            </a:p>
          </p:txBody>
        </p:sp>
        <p:sp>
          <p:nvSpPr>
            <p:cNvPr id="97" name="Text 46">
              <a:extLst>
                <a:ext uri="{FF2B5EF4-FFF2-40B4-BE49-F238E27FC236}">
                  <a16:creationId xmlns:a16="http://schemas.microsoft.com/office/drawing/2014/main" id="{864CC06C-06D0-ADD9-09A5-B8271D23ABA1}"/>
                </a:ext>
              </a:extLst>
            </p:cNvPr>
            <p:cNvSpPr/>
            <p:nvPr/>
          </p:nvSpPr>
          <p:spPr>
            <a:xfrm flipH="1">
              <a:off x="3973525" y="1731522"/>
              <a:ext cx="39600" cy="433156"/>
            </a:xfrm>
            <a:prstGeom prst="roundRect">
              <a:avLst>
                <a:gd name="adj" fmla="val 33349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 anchor="t"/>
            <a:lstStyle/>
            <a:p>
              <a:endParaRPr lang="en-US" sz="2400" dirty="0"/>
            </a:p>
          </p:txBody>
        </p:sp>
        <p:sp>
          <p:nvSpPr>
            <p:cNvPr id="98" name="Text 46">
              <a:extLst>
                <a:ext uri="{FF2B5EF4-FFF2-40B4-BE49-F238E27FC236}">
                  <a16:creationId xmlns:a16="http://schemas.microsoft.com/office/drawing/2014/main" id="{E4292759-7C92-F161-7BCA-3C796363DC37}"/>
                </a:ext>
              </a:extLst>
            </p:cNvPr>
            <p:cNvSpPr/>
            <p:nvPr/>
          </p:nvSpPr>
          <p:spPr>
            <a:xfrm>
              <a:off x="4771380" y="1707376"/>
              <a:ext cx="39600" cy="457302"/>
            </a:xfrm>
            <a:prstGeom prst="roundRect">
              <a:avLst>
                <a:gd name="adj" fmla="val 33349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 anchor="t"/>
            <a:lstStyle/>
            <a:p>
              <a:endParaRPr lang="en-US" sz="800" dirty="0"/>
            </a:p>
          </p:txBody>
        </p:sp>
        <p:sp>
          <p:nvSpPr>
            <p:cNvPr id="102" name="Text 46">
              <a:extLst>
                <a:ext uri="{FF2B5EF4-FFF2-40B4-BE49-F238E27FC236}">
                  <a16:creationId xmlns:a16="http://schemas.microsoft.com/office/drawing/2014/main" id="{A2099566-EB4C-FC75-A791-D8FD70110C47}"/>
                </a:ext>
              </a:extLst>
            </p:cNvPr>
            <p:cNvSpPr/>
            <p:nvPr/>
          </p:nvSpPr>
          <p:spPr>
            <a:xfrm>
              <a:off x="4603056" y="1812494"/>
              <a:ext cx="39600" cy="352184"/>
            </a:xfrm>
            <a:prstGeom prst="roundRect">
              <a:avLst>
                <a:gd name="adj" fmla="val 33349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 anchor="t"/>
            <a:lstStyle/>
            <a:p>
              <a:endParaRPr lang="en-US" sz="800" dirty="0"/>
            </a:p>
          </p:txBody>
        </p:sp>
        <p:sp>
          <p:nvSpPr>
            <p:cNvPr id="104" name="Text 46">
              <a:extLst>
                <a:ext uri="{FF2B5EF4-FFF2-40B4-BE49-F238E27FC236}">
                  <a16:creationId xmlns:a16="http://schemas.microsoft.com/office/drawing/2014/main" id="{FF339173-285B-A0EA-DF51-F2D046C38B58}"/>
                </a:ext>
              </a:extLst>
            </p:cNvPr>
            <p:cNvSpPr/>
            <p:nvPr/>
          </p:nvSpPr>
          <p:spPr>
            <a:xfrm>
              <a:off x="4435885" y="1890339"/>
              <a:ext cx="39600" cy="274339"/>
            </a:xfrm>
            <a:prstGeom prst="roundRect">
              <a:avLst>
                <a:gd name="adj" fmla="val 33349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 anchor="t"/>
            <a:lstStyle/>
            <a:p>
              <a:endParaRPr lang="en-US" sz="800" dirty="0"/>
            </a:p>
          </p:txBody>
        </p:sp>
        <p:sp>
          <p:nvSpPr>
            <p:cNvPr id="105" name="Text 46">
              <a:extLst>
                <a:ext uri="{FF2B5EF4-FFF2-40B4-BE49-F238E27FC236}">
                  <a16:creationId xmlns:a16="http://schemas.microsoft.com/office/drawing/2014/main" id="{D79A16B1-01D3-038B-C11E-F3364B5E7B2D}"/>
                </a:ext>
              </a:extLst>
            </p:cNvPr>
            <p:cNvSpPr/>
            <p:nvPr/>
          </p:nvSpPr>
          <p:spPr>
            <a:xfrm>
              <a:off x="4267355" y="1915527"/>
              <a:ext cx="39600" cy="249151"/>
            </a:xfrm>
            <a:prstGeom prst="roundRect">
              <a:avLst>
                <a:gd name="adj" fmla="val 33349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 anchor="t"/>
            <a:lstStyle/>
            <a:p>
              <a:endParaRPr lang="en-US" sz="800" dirty="0"/>
            </a:p>
          </p:txBody>
        </p:sp>
        <p:sp>
          <p:nvSpPr>
            <p:cNvPr id="106" name="Text 46">
              <a:extLst>
                <a:ext uri="{FF2B5EF4-FFF2-40B4-BE49-F238E27FC236}">
                  <a16:creationId xmlns:a16="http://schemas.microsoft.com/office/drawing/2014/main" id="{187C6E0A-6BF9-384B-A61B-491ED7A4CD8A}"/>
                </a:ext>
              </a:extLst>
            </p:cNvPr>
            <p:cNvSpPr/>
            <p:nvPr/>
          </p:nvSpPr>
          <p:spPr>
            <a:xfrm>
              <a:off x="4098440" y="1912116"/>
              <a:ext cx="39600" cy="252562"/>
            </a:xfrm>
            <a:prstGeom prst="roundRect">
              <a:avLst>
                <a:gd name="adj" fmla="val 33349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 anchor="t"/>
            <a:lstStyle/>
            <a:p>
              <a:endParaRPr lang="en-US" sz="800" dirty="0"/>
            </a:p>
          </p:txBody>
        </p:sp>
        <p:sp>
          <p:nvSpPr>
            <p:cNvPr id="107" name="Text 46">
              <a:extLst>
                <a:ext uri="{FF2B5EF4-FFF2-40B4-BE49-F238E27FC236}">
                  <a16:creationId xmlns:a16="http://schemas.microsoft.com/office/drawing/2014/main" id="{7F743A58-B418-1442-E0C2-B61F5817772E}"/>
                </a:ext>
              </a:extLst>
            </p:cNvPr>
            <p:cNvSpPr/>
            <p:nvPr/>
          </p:nvSpPr>
          <p:spPr>
            <a:xfrm>
              <a:off x="3931817" y="1924698"/>
              <a:ext cx="39600" cy="239980"/>
            </a:xfrm>
            <a:prstGeom prst="roundRect">
              <a:avLst>
                <a:gd name="adj" fmla="val 33349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 anchor="t"/>
            <a:lstStyle/>
            <a:p>
              <a:endParaRPr lang="en-US" sz="800" dirty="0"/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D2DE939D-839B-E143-8007-C763082973C5}"/>
              </a:ext>
            </a:extLst>
          </p:cNvPr>
          <p:cNvGrpSpPr/>
          <p:nvPr/>
        </p:nvGrpSpPr>
        <p:grpSpPr>
          <a:xfrm>
            <a:off x="6246235" y="4916144"/>
            <a:ext cx="2400000" cy="1440000"/>
            <a:chOff x="687472" y="1819362"/>
            <a:chExt cx="1800000" cy="1080000"/>
          </a:xfrm>
        </p:grpSpPr>
        <p:pic>
          <p:nvPicPr>
            <p:cNvPr id="122" name="Picture 121">
              <a:extLst>
                <a:ext uri="{FF2B5EF4-FFF2-40B4-BE49-F238E27FC236}">
                  <a16:creationId xmlns:a16="http://schemas.microsoft.com/office/drawing/2014/main" id="{911C42F9-7E47-90AD-B6AF-C0E19922A2B7}"/>
                </a:ext>
              </a:extLst>
            </p:cNvPr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7472" y="1819362"/>
              <a:ext cx="1800000" cy="1080000"/>
            </a:xfrm>
            <a:prstGeom prst="rect">
              <a:avLst/>
            </a:prstGeom>
            <a:ln w="12700">
              <a:solidFill>
                <a:srgbClr val="15A0FF"/>
              </a:solidFill>
            </a:ln>
          </p:spPr>
        </p:pic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2635C169-080B-5CF9-8E04-7E77C10A3F7C}"/>
                </a:ext>
              </a:extLst>
            </p:cNvPr>
            <p:cNvSpPr/>
            <p:nvPr/>
          </p:nvSpPr>
          <p:spPr>
            <a:xfrm>
              <a:off x="875822" y="1876640"/>
              <a:ext cx="1537268" cy="982930"/>
            </a:xfrm>
            <a:custGeom>
              <a:avLst/>
              <a:gdLst>
                <a:gd name="csX0" fmla="*/ 0 w 1185862"/>
                <a:gd name="csY0" fmla="*/ 578644 h 578644"/>
                <a:gd name="csX1" fmla="*/ 2381 w 1185862"/>
                <a:gd name="csY1" fmla="*/ 0 h 578644"/>
                <a:gd name="csX2" fmla="*/ 14287 w 1185862"/>
                <a:gd name="csY2" fmla="*/ 9525 h 578644"/>
                <a:gd name="csX3" fmla="*/ 50006 w 1185862"/>
                <a:gd name="csY3" fmla="*/ 192881 h 578644"/>
                <a:gd name="csX4" fmla="*/ 85725 w 1185862"/>
                <a:gd name="csY4" fmla="*/ 250031 h 578644"/>
                <a:gd name="csX5" fmla="*/ 128587 w 1185862"/>
                <a:gd name="csY5" fmla="*/ 247650 h 578644"/>
                <a:gd name="csX6" fmla="*/ 171450 w 1185862"/>
                <a:gd name="csY6" fmla="*/ 314325 h 578644"/>
                <a:gd name="csX7" fmla="*/ 209550 w 1185862"/>
                <a:gd name="csY7" fmla="*/ 321469 h 578644"/>
                <a:gd name="csX8" fmla="*/ 252412 w 1185862"/>
                <a:gd name="csY8" fmla="*/ 388144 h 578644"/>
                <a:gd name="csX9" fmla="*/ 290512 w 1185862"/>
                <a:gd name="csY9" fmla="*/ 385763 h 578644"/>
                <a:gd name="csX10" fmla="*/ 350044 w 1185862"/>
                <a:gd name="csY10" fmla="*/ 416719 h 578644"/>
                <a:gd name="csX11" fmla="*/ 371475 w 1185862"/>
                <a:gd name="csY11" fmla="*/ 423863 h 578644"/>
                <a:gd name="csX12" fmla="*/ 423862 w 1185862"/>
                <a:gd name="csY12" fmla="*/ 450056 h 578644"/>
                <a:gd name="csX13" fmla="*/ 466725 w 1185862"/>
                <a:gd name="csY13" fmla="*/ 452438 h 578644"/>
                <a:gd name="csX14" fmla="*/ 585787 w 1185862"/>
                <a:gd name="csY14" fmla="*/ 459581 h 578644"/>
                <a:gd name="csX15" fmla="*/ 695325 w 1185862"/>
                <a:gd name="csY15" fmla="*/ 461963 h 578644"/>
                <a:gd name="csX16" fmla="*/ 740569 w 1185862"/>
                <a:gd name="csY16" fmla="*/ 466725 h 578644"/>
                <a:gd name="csX17" fmla="*/ 776287 w 1185862"/>
                <a:gd name="csY17" fmla="*/ 466725 h 578644"/>
                <a:gd name="csX18" fmla="*/ 823912 w 1185862"/>
                <a:gd name="csY18" fmla="*/ 469106 h 578644"/>
                <a:gd name="csX19" fmla="*/ 857250 w 1185862"/>
                <a:gd name="csY19" fmla="*/ 473869 h 578644"/>
                <a:gd name="csX20" fmla="*/ 1012031 w 1185862"/>
                <a:gd name="csY20" fmla="*/ 473869 h 578644"/>
                <a:gd name="csX21" fmla="*/ 1092994 w 1185862"/>
                <a:gd name="csY21" fmla="*/ 478631 h 578644"/>
                <a:gd name="csX22" fmla="*/ 1133475 w 1185862"/>
                <a:gd name="csY22" fmla="*/ 481013 h 578644"/>
                <a:gd name="csX23" fmla="*/ 1185862 w 1185862"/>
                <a:gd name="csY23" fmla="*/ 488156 h 578644"/>
                <a:gd name="csX24" fmla="*/ 1185862 w 1185862"/>
                <a:gd name="csY24" fmla="*/ 578644 h 578644"/>
                <a:gd name="csX25" fmla="*/ 0 w 1185862"/>
                <a:gd name="csY25" fmla="*/ 578644 h 5786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185862" h="578644">
                  <a:moveTo>
                    <a:pt x="0" y="578644"/>
                  </a:moveTo>
                  <a:cubicBezTo>
                    <a:pt x="794" y="385763"/>
                    <a:pt x="1587" y="192881"/>
                    <a:pt x="2381" y="0"/>
                  </a:cubicBezTo>
                  <a:lnTo>
                    <a:pt x="14287" y="9525"/>
                  </a:lnTo>
                  <a:lnTo>
                    <a:pt x="50006" y="192881"/>
                  </a:lnTo>
                  <a:lnTo>
                    <a:pt x="85725" y="250031"/>
                  </a:lnTo>
                  <a:lnTo>
                    <a:pt x="128587" y="247650"/>
                  </a:lnTo>
                  <a:lnTo>
                    <a:pt x="171450" y="314325"/>
                  </a:lnTo>
                  <a:lnTo>
                    <a:pt x="209550" y="321469"/>
                  </a:lnTo>
                  <a:lnTo>
                    <a:pt x="252412" y="388144"/>
                  </a:lnTo>
                  <a:lnTo>
                    <a:pt x="290512" y="385763"/>
                  </a:lnTo>
                  <a:lnTo>
                    <a:pt x="350044" y="416719"/>
                  </a:lnTo>
                  <a:lnTo>
                    <a:pt x="371475" y="423863"/>
                  </a:lnTo>
                  <a:lnTo>
                    <a:pt x="423862" y="450056"/>
                  </a:lnTo>
                  <a:lnTo>
                    <a:pt x="466725" y="452438"/>
                  </a:lnTo>
                  <a:lnTo>
                    <a:pt x="585787" y="459581"/>
                  </a:lnTo>
                  <a:lnTo>
                    <a:pt x="695325" y="461963"/>
                  </a:lnTo>
                  <a:lnTo>
                    <a:pt x="740569" y="466725"/>
                  </a:lnTo>
                  <a:lnTo>
                    <a:pt x="776287" y="466725"/>
                  </a:lnTo>
                  <a:lnTo>
                    <a:pt x="823912" y="469106"/>
                  </a:lnTo>
                  <a:lnTo>
                    <a:pt x="857250" y="473869"/>
                  </a:lnTo>
                  <a:lnTo>
                    <a:pt x="1012031" y="473869"/>
                  </a:lnTo>
                  <a:lnTo>
                    <a:pt x="1092994" y="478631"/>
                  </a:lnTo>
                  <a:lnTo>
                    <a:pt x="1133475" y="481013"/>
                  </a:lnTo>
                  <a:lnTo>
                    <a:pt x="1185862" y="488156"/>
                  </a:lnTo>
                  <a:lnTo>
                    <a:pt x="1185862" y="578644"/>
                  </a:lnTo>
                  <a:lnTo>
                    <a:pt x="0" y="578644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05FC101A-FB12-1720-C460-495FD0AC414C}"/>
                </a:ext>
              </a:extLst>
            </p:cNvPr>
            <p:cNvSpPr/>
            <p:nvPr/>
          </p:nvSpPr>
          <p:spPr>
            <a:xfrm>
              <a:off x="861539" y="2499060"/>
              <a:ext cx="1565986" cy="381508"/>
            </a:xfrm>
            <a:custGeom>
              <a:avLst/>
              <a:gdLst>
                <a:gd name="csX0" fmla="*/ 2381 w 1185862"/>
                <a:gd name="csY0" fmla="*/ 195262 h 202406"/>
                <a:gd name="csX1" fmla="*/ 0 w 1185862"/>
                <a:gd name="csY1" fmla="*/ 0 h 202406"/>
                <a:gd name="csX2" fmla="*/ 19050 w 1185862"/>
                <a:gd name="csY2" fmla="*/ 7143 h 202406"/>
                <a:gd name="csX3" fmla="*/ 47625 w 1185862"/>
                <a:gd name="csY3" fmla="*/ 42862 h 202406"/>
                <a:gd name="csX4" fmla="*/ 88106 w 1185862"/>
                <a:gd name="csY4" fmla="*/ 52387 h 202406"/>
                <a:gd name="csX5" fmla="*/ 135731 w 1185862"/>
                <a:gd name="csY5" fmla="*/ 59531 h 202406"/>
                <a:gd name="csX6" fmla="*/ 185737 w 1185862"/>
                <a:gd name="csY6" fmla="*/ 64293 h 202406"/>
                <a:gd name="csX7" fmla="*/ 280987 w 1185862"/>
                <a:gd name="csY7" fmla="*/ 71437 h 202406"/>
                <a:gd name="csX8" fmla="*/ 416718 w 1185862"/>
                <a:gd name="csY8" fmla="*/ 80962 h 202406"/>
                <a:gd name="csX9" fmla="*/ 638175 w 1185862"/>
                <a:gd name="csY9" fmla="*/ 100012 h 202406"/>
                <a:gd name="csX10" fmla="*/ 812006 w 1185862"/>
                <a:gd name="csY10" fmla="*/ 104775 h 202406"/>
                <a:gd name="csX11" fmla="*/ 904875 w 1185862"/>
                <a:gd name="csY11" fmla="*/ 107156 h 202406"/>
                <a:gd name="csX12" fmla="*/ 962025 w 1185862"/>
                <a:gd name="csY12" fmla="*/ 107156 h 202406"/>
                <a:gd name="csX13" fmla="*/ 1066800 w 1185862"/>
                <a:gd name="csY13" fmla="*/ 107156 h 202406"/>
                <a:gd name="csX14" fmla="*/ 1140618 w 1185862"/>
                <a:gd name="csY14" fmla="*/ 111918 h 202406"/>
                <a:gd name="csX15" fmla="*/ 1181100 w 1185862"/>
                <a:gd name="csY15" fmla="*/ 109537 h 202406"/>
                <a:gd name="csX16" fmla="*/ 1185862 w 1185862"/>
                <a:gd name="csY16" fmla="*/ 202406 h 202406"/>
                <a:gd name="csX17" fmla="*/ 2381 w 1185862"/>
                <a:gd name="csY17" fmla="*/ 195262 h 2024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185862" h="202406">
                  <a:moveTo>
                    <a:pt x="2381" y="195262"/>
                  </a:moveTo>
                  <a:cubicBezTo>
                    <a:pt x="1587" y="130175"/>
                    <a:pt x="794" y="65087"/>
                    <a:pt x="0" y="0"/>
                  </a:cubicBezTo>
                  <a:lnTo>
                    <a:pt x="19050" y="7143"/>
                  </a:lnTo>
                  <a:lnTo>
                    <a:pt x="47625" y="42862"/>
                  </a:lnTo>
                  <a:lnTo>
                    <a:pt x="88106" y="52387"/>
                  </a:lnTo>
                  <a:lnTo>
                    <a:pt x="135731" y="59531"/>
                  </a:lnTo>
                  <a:lnTo>
                    <a:pt x="185737" y="64293"/>
                  </a:lnTo>
                  <a:lnTo>
                    <a:pt x="280987" y="71437"/>
                  </a:lnTo>
                  <a:lnTo>
                    <a:pt x="416718" y="80962"/>
                  </a:lnTo>
                  <a:lnTo>
                    <a:pt x="638175" y="100012"/>
                  </a:lnTo>
                  <a:lnTo>
                    <a:pt x="812006" y="104775"/>
                  </a:lnTo>
                  <a:lnTo>
                    <a:pt x="904875" y="107156"/>
                  </a:lnTo>
                  <a:lnTo>
                    <a:pt x="962025" y="107156"/>
                  </a:lnTo>
                  <a:lnTo>
                    <a:pt x="1066800" y="107156"/>
                  </a:lnTo>
                  <a:lnTo>
                    <a:pt x="1140618" y="111918"/>
                  </a:lnTo>
                  <a:lnTo>
                    <a:pt x="1181100" y="109537"/>
                  </a:lnTo>
                  <a:lnTo>
                    <a:pt x="1185862" y="202406"/>
                  </a:lnTo>
                  <a:lnTo>
                    <a:pt x="2381" y="195262"/>
                  </a:ln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</p:grpSp>
      <p:sp>
        <p:nvSpPr>
          <p:cNvPr id="149" name="Text 34">
            <a:extLst>
              <a:ext uri="{FF2B5EF4-FFF2-40B4-BE49-F238E27FC236}">
                <a16:creationId xmlns:a16="http://schemas.microsoft.com/office/drawing/2014/main" id="{6BEC336D-F8F5-8965-6AC5-8AC927ED627F}"/>
              </a:ext>
            </a:extLst>
          </p:cNvPr>
          <p:cNvSpPr/>
          <p:nvPr/>
        </p:nvSpPr>
        <p:spPr>
          <a:xfrm>
            <a:off x="3713294" y="4697036"/>
            <a:ext cx="871037" cy="1680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580"/>
              </a:lnSpc>
            </a:pPr>
            <a:r>
              <a:rPr lang="en-US" sz="933" b="1" kern="0" spc="21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Bike Usage by Time of Day(Weekday Only)</a:t>
            </a:r>
            <a:endParaRPr lang="en-US" sz="933" dirty="0">
              <a:solidFill>
                <a:schemeClr val="bg1"/>
              </a:solidFill>
            </a:endParaRPr>
          </a:p>
        </p:txBody>
      </p: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B3917FA4-B27A-BEB4-060C-897095671B4D}"/>
              </a:ext>
            </a:extLst>
          </p:cNvPr>
          <p:cNvGrpSpPr/>
          <p:nvPr/>
        </p:nvGrpSpPr>
        <p:grpSpPr>
          <a:xfrm>
            <a:off x="6599065" y="4888611"/>
            <a:ext cx="4783977" cy="1449764"/>
            <a:chOff x="4949298" y="3666458"/>
            <a:chExt cx="3587983" cy="1087323"/>
          </a:xfrm>
        </p:grpSpPr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24CAA5CA-7182-3D27-BB85-A50D6E32C5B7}"/>
                </a:ext>
              </a:extLst>
            </p:cNvPr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737281" y="3673781"/>
              <a:ext cx="1800000" cy="1080000"/>
            </a:xfrm>
            <a:prstGeom prst="rect">
              <a:avLst/>
            </a:prstGeom>
            <a:ln>
              <a:solidFill>
                <a:srgbClr val="15A0FF"/>
              </a:solidFill>
            </a:ln>
          </p:spPr>
        </p:pic>
        <p:sp>
          <p:nvSpPr>
            <p:cNvPr id="151" name="Text 34">
              <a:extLst>
                <a:ext uri="{FF2B5EF4-FFF2-40B4-BE49-F238E27FC236}">
                  <a16:creationId xmlns:a16="http://schemas.microsoft.com/office/drawing/2014/main" id="{641F1362-113F-ADED-2141-9E576B877ECF}"/>
                </a:ext>
              </a:extLst>
            </p:cNvPr>
            <p:cNvSpPr/>
            <p:nvPr/>
          </p:nvSpPr>
          <p:spPr>
            <a:xfrm>
              <a:off x="7294635" y="3666458"/>
              <a:ext cx="269739" cy="1260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>
                <a:lnSpc>
                  <a:spcPts val="1580"/>
                </a:lnSpc>
              </a:pPr>
              <a:r>
                <a:rPr lang="en-US" sz="533" b="1" kern="0" spc="21" dirty="0">
                  <a:solidFill>
                    <a:srgbClr val="4472C4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(13mins)</a:t>
              </a:r>
              <a:endParaRPr lang="en-US" sz="533" b="1" dirty="0">
                <a:solidFill>
                  <a:srgbClr val="4472C4"/>
                </a:solidFill>
              </a:endParaRPr>
            </a:p>
          </p:txBody>
        </p:sp>
        <p:sp>
          <p:nvSpPr>
            <p:cNvPr id="152" name="Text 34">
              <a:extLst>
                <a:ext uri="{FF2B5EF4-FFF2-40B4-BE49-F238E27FC236}">
                  <a16:creationId xmlns:a16="http://schemas.microsoft.com/office/drawing/2014/main" id="{CBB152A8-ADC3-FF5A-C081-6EC512CE1FFE}"/>
                </a:ext>
              </a:extLst>
            </p:cNvPr>
            <p:cNvSpPr/>
            <p:nvPr/>
          </p:nvSpPr>
          <p:spPr>
            <a:xfrm>
              <a:off x="7543545" y="3669228"/>
              <a:ext cx="269739" cy="1260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>
                <a:lnSpc>
                  <a:spcPts val="1580"/>
                </a:lnSpc>
              </a:pPr>
              <a:r>
                <a:rPr lang="en-US" sz="533" b="1" kern="0" spc="21" dirty="0">
                  <a:solidFill>
                    <a:srgbClr val="ED7D31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(23mins)</a:t>
              </a:r>
              <a:endParaRPr lang="en-US" sz="533" b="1" dirty="0">
                <a:solidFill>
                  <a:srgbClr val="ED7D31"/>
                </a:solidFill>
              </a:endParaRPr>
            </a:p>
          </p:txBody>
        </p:sp>
        <p:sp>
          <p:nvSpPr>
            <p:cNvPr id="154" name="Text 34">
              <a:extLst>
                <a:ext uri="{FF2B5EF4-FFF2-40B4-BE49-F238E27FC236}">
                  <a16:creationId xmlns:a16="http://schemas.microsoft.com/office/drawing/2014/main" id="{7E9086C1-2D3A-13DC-CFAB-7964714F93D3}"/>
                </a:ext>
              </a:extLst>
            </p:cNvPr>
            <p:cNvSpPr/>
            <p:nvPr/>
          </p:nvSpPr>
          <p:spPr>
            <a:xfrm>
              <a:off x="4949298" y="3809011"/>
              <a:ext cx="512806" cy="14936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r>
                <a:rPr lang="en-US" sz="533" b="1" kern="0" spc="21" dirty="0"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Top 10 Starting Station</a:t>
              </a:r>
            </a:p>
            <a:p>
              <a:r>
                <a:rPr lang="en-US" sz="533" b="1" kern="0" spc="21" dirty="0">
                  <a:solidFill>
                    <a:srgbClr val="ED7D31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Casual  : 15.1%</a:t>
              </a:r>
            </a:p>
            <a:p>
              <a:r>
                <a:rPr lang="en-US" sz="533" b="1" kern="0" spc="21" dirty="0">
                  <a:solidFill>
                    <a:srgbClr val="4472C4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Member : 7.3%</a:t>
              </a:r>
              <a:endParaRPr lang="en-US" sz="533" b="1" dirty="0">
                <a:solidFill>
                  <a:srgbClr val="4472C4"/>
                </a:solidFill>
              </a:endParaRPr>
            </a:p>
          </p:txBody>
        </p:sp>
      </p:grp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D111E10C-5810-11FB-2CDF-D24246331B3B}"/>
              </a:ext>
            </a:extLst>
          </p:cNvPr>
          <p:cNvCxnSpPr>
            <a:cxnSpLocks/>
          </p:cNvCxnSpPr>
          <p:nvPr/>
        </p:nvCxnSpPr>
        <p:spPr>
          <a:xfrm flipV="1">
            <a:off x="6511860" y="5339558"/>
            <a:ext cx="655505" cy="4535"/>
          </a:xfrm>
          <a:prstGeom prst="straightConnector1">
            <a:avLst/>
          </a:prstGeom>
          <a:ln>
            <a:solidFill>
              <a:srgbClr val="4472C4"/>
            </a:solidFill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FA5E2F41-55B6-0A67-D39A-B46D793A7F68}"/>
              </a:ext>
            </a:extLst>
          </p:cNvPr>
          <p:cNvCxnSpPr>
            <a:cxnSpLocks/>
          </p:cNvCxnSpPr>
          <p:nvPr/>
        </p:nvCxnSpPr>
        <p:spPr>
          <a:xfrm>
            <a:off x="7167364" y="4936839"/>
            <a:ext cx="0" cy="137504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6" name="Picture 165">
            <a:extLst>
              <a:ext uri="{FF2B5EF4-FFF2-40B4-BE49-F238E27FC236}">
                <a16:creationId xmlns:a16="http://schemas.microsoft.com/office/drawing/2014/main" id="{132EE4F2-ABA6-E559-1319-9C209129389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05920" y="5528880"/>
            <a:ext cx="497661" cy="572161"/>
          </a:xfrm>
          <a:prstGeom prst="rect">
            <a:avLst/>
          </a:prstGeom>
        </p:spPr>
      </p:pic>
      <p:sp>
        <p:nvSpPr>
          <p:cNvPr id="138" name="Freeform: Shape 137">
            <a:extLst>
              <a:ext uri="{FF2B5EF4-FFF2-40B4-BE49-F238E27FC236}">
                <a16:creationId xmlns:a16="http://schemas.microsoft.com/office/drawing/2014/main" id="{FAA1F73A-0515-6633-E26F-143D9B17EB38}"/>
              </a:ext>
            </a:extLst>
          </p:cNvPr>
          <p:cNvSpPr/>
          <p:nvPr/>
        </p:nvSpPr>
        <p:spPr>
          <a:xfrm>
            <a:off x="3821921" y="4963851"/>
            <a:ext cx="2034505" cy="1277044"/>
          </a:xfrm>
          <a:custGeom>
            <a:avLst/>
            <a:gdLst>
              <a:gd name="csX0" fmla="*/ 1157288 w 1159669"/>
              <a:gd name="csY0" fmla="*/ 535781 h 542925"/>
              <a:gd name="csX1" fmla="*/ 1159669 w 1159669"/>
              <a:gd name="csY1" fmla="*/ 485775 h 542925"/>
              <a:gd name="csX2" fmla="*/ 1102519 w 1159669"/>
              <a:gd name="csY2" fmla="*/ 433387 h 542925"/>
              <a:gd name="csX3" fmla="*/ 1040606 w 1159669"/>
              <a:gd name="csY3" fmla="*/ 378618 h 542925"/>
              <a:gd name="csX4" fmla="*/ 1007269 w 1159669"/>
              <a:gd name="csY4" fmla="*/ 338137 h 542925"/>
              <a:gd name="csX5" fmla="*/ 952500 w 1159669"/>
              <a:gd name="csY5" fmla="*/ 238125 h 542925"/>
              <a:gd name="csX6" fmla="*/ 902494 w 1159669"/>
              <a:gd name="csY6" fmla="*/ 119062 h 542925"/>
              <a:gd name="csX7" fmla="*/ 873919 w 1159669"/>
              <a:gd name="csY7" fmla="*/ 9525 h 542925"/>
              <a:gd name="csX8" fmla="*/ 864394 w 1159669"/>
              <a:gd name="csY8" fmla="*/ 0 h 542925"/>
              <a:gd name="csX9" fmla="*/ 845344 w 1159669"/>
              <a:gd name="csY9" fmla="*/ 14287 h 542925"/>
              <a:gd name="csX10" fmla="*/ 802481 w 1159669"/>
              <a:gd name="csY10" fmla="*/ 116681 h 542925"/>
              <a:gd name="csX11" fmla="*/ 757238 w 1159669"/>
              <a:gd name="csY11" fmla="*/ 278606 h 542925"/>
              <a:gd name="csX12" fmla="*/ 709613 w 1159669"/>
              <a:gd name="csY12" fmla="*/ 347662 h 542925"/>
              <a:gd name="csX13" fmla="*/ 657225 w 1159669"/>
              <a:gd name="csY13" fmla="*/ 352425 h 542925"/>
              <a:gd name="csX14" fmla="*/ 609600 w 1159669"/>
              <a:gd name="csY14" fmla="*/ 335756 h 542925"/>
              <a:gd name="csX15" fmla="*/ 557213 w 1159669"/>
              <a:gd name="csY15" fmla="*/ 373856 h 542925"/>
              <a:gd name="csX16" fmla="*/ 509588 w 1159669"/>
              <a:gd name="csY16" fmla="*/ 397668 h 542925"/>
              <a:gd name="csX17" fmla="*/ 492919 w 1159669"/>
              <a:gd name="csY17" fmla="*/ 392906 h 542925"/>
              <a:gd name="csX18" fmla="*/ 461963 w 1159669"/>
              <a:gd name="csY18" fmla="*/ 347662 h 542925"/>
              <a:gd name="csX19" fmla="*/ 428625 w 1159669"/>
              <a:gd name="csY19" fmla="*/ 185737 h 542925"/>
              <a:gd name="csX20" fmla="*/ 416719 w 1159669"/>
              <a:gd name="csY20" fmla="*/ 171450 h 542925"/>
              <a:gd name="csX21" fmla="*/ 397669 w 1159669"/>
              <a:gd name="csY21" fmla="*/ 183356 h 542925"/>
              <a:gd name="csX22" fmla="*/ 364331 w 1159669"/>
              <a:gd name="csY22" fmla="*/ 240506 h 542925"/>
              <a:gd name="csX23" fmla="*/ 347663 w 1159669"/>
              <a:gd name="csY23" fmla="*/ 269081 h 542925"/>
              <a:gd name="csX24" fmla="*/ 333375 w 1159669"/>
              <a:gd name="csY24" fmla="*/ 323850 h 542925"/>
              <a:gd name="csX25" fmla="*/ 314325 w 1159669"/>
              <a:gd name="csY25" fmla="*/ 385762 h 542925"/>
              <a:gd name="csX26" fmla="*/ 269081 w 1159669"/>
              <a:gd name="csY26" fmla="*/ 495300 h 542925"/>
              <a:gd name="csX27" fmla="*/ 207169 w 1159669"/>
              <a:gd name="csY27" fmla="*/ 531018 h 542925"/>
              <a:gd name="csX28" fmla="*/ 161925 w 1159669"/>
              <a:gd name="csY28" fmla="*/ 528637 h 542925"/>
              <a:gd name="csX29" fmla="*/ 69056 w 1159669"/>
              <a:gd name="csY29" fmla="*/ 526256 h 542925"/>
              <a:gd name="csX30" fmla="*/ 11906 w 1159669"/>
              <a:gd name="csY30" fmla="*/ 523875 h 542925"/>
              <a:gd name="csX31" fmla="*/ 2381 w 1159669"/>
              <a:gd name="csY31" fmla="*/ 521493 h 542925"/>
              <a:gd name="csX32" fmla="*/ 0 w 1159669"/>
              <a:gd name="csY32" fmla="*/ 542925 h 542925"/>
              <a:gd name="csX33" fmla="*/ 1157288 w 1159669"/>
              <a:gd name="csY33" fmla="*/ 535781 h 5429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1159669" h="542925">
                <a:moveTo>
                  <a:pt x="1157288" y="535781"/>
                </a:moveTo>
                <a:lnTo>
                  <a:pt x="1159669" y="485775"/>
                </a:lnTo>
                <a:lnTo>
                  <a:pt x="1102519" y="433387"/>
                </a:lnTo>
                <a:lnTo>
                  <a:pt x="1040606" y="378618"/>
                </a:lnTo>
                <a:lnTo>
                  <a:pt x="1007269" y="338137"/>
                </a:lnTo>
                <a:lnTo>
                  <a:pt x="952500" y="238125"/>
                </a:lnTo>
                <a:lnTo>
                  <a:pt x="902494" y="119062"/>
                </a:lnTo>
                <a:lnTo>
                  <a:pt x="873919" y="9525"/>
                </a:lnTo>
                <a:lnTo>
                  <a:pt x="864394" y="0"/>
                </a:lnTo>
                <a:lnTo>
                  <a:pt x="845344" y="14287"/>
                </a:lnTo>
                <a:lnTo>
                  <a:pt x="802481" y="116681"/>
                </a:lnTo>
                <a:lnTo>
                  <a:pt x="757238" y="278606"/>
                </a:lnTo>
                <a:lnTo>
                  <a:pt x="709613" y="347662"/>
                </a:lnTo>
                <a:lnTo>
                  <a:pt x="657225" y="352425"/>
                </a:lnTo>
                <a:lnTo>
                  <a:pt x="609600" y="335756"/>
                </a:lnTo>
                <a:lnTo>
                  <a:pt x="557213" y="373856"/>
                </a:lnTo>
                <a:lnTo>
                  <a:pt x="509588" y="397668"/>
                </a:lnTo>
                <a:lnTo>
                  <a:pt x="492919" y="392906"/>
                </a:lnTo>
                <a:lnTo>
                  <a:pt x="461963" y="347662"/>
                </a:lnTo>
                <a:lnTo>
                  <a:pt x="428625" y="185737"/>
                </a:lnTo>
                <a:lnTo>
                  <a:pt x="416719" y="171450"/>
                </a:lnTo>
                <a:lnTo>
                  <a:pt x="397669" y="183356"/>
                </a:lnTo>
                <a:lnTo>
                  <a:pt x="364331" y="240506"/>
                </a:lnTo>
                <a:lnTo>
                  <a:pt x="347663" y="269081"/>
                </a:lnTo>
                <a:lnTo>
                  <a:pt x="333375" y="323850"/>
                </a:lnTo>
                <a:lnTo>
                  <a:pt x="314325" y="385762"/>
                </a:lnTo>
                <a:lnTo>
                  <a:pt x="269081" y="495300"/>
                </a:lnTo>
                <a:lnTo>
                  <a:pt x="207169" y="531018"/>
                </a:lnTo>
                <a:lnTo>
                  <a:pt x="161925" y="528637"/>
                </a:lnTo>
                <a:lnTo>
                  <a:pt x="69056" y="526256"/>
                </a:lnTo>
                <a:lnTo>
                  <a:pt x="11906" y="523875"/>
                </a:lnTo>
                <a:lnTo>
                  <a:pt x="2381" y="521493"/>
                </a:lnTo>
                <a:lnTo>
                  <a:pt x="0" y="542925"/>
                </a:lnTo>
                <a:lnTo>
                  <a:pt x="1157288" y="535781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400"/>
          </a:p>
        </p:txBody>
      </p:sp>
      <p:sp>
        <p:nvSpPr>
          <p:cNvPr id="168" name="Text 6">
            <a:extLst>
              <a:ext uri="{FF2B5EF4-FFF2-40B4-BE49-F238E27FC236}">
                <a16:creationId xmlns:a16="http://schemas.microsoft.com/office/drawing/2014/main" id="{84DD9EB2-C1F2-1E85-5EE0-B487D259CACA}"/>
              </a:ext>
            </a:extLst>
          </p:cNvPr>
          <p:cNvSpPr/>
          <p:nvPr/>
        </p:nvSpPr>
        <p:spPr>
          <a:xfrm>
            <a:off x="609601" y="1208199"/>
            <a:ext cx="5390753" cy="3360005"/>
          </a:xfrm>
          <a:prstGeom prst="roundRect">
            <a:avLst>
              <a:gd name="adj" fmla="val 2733"/>
            </a:avLst>
          </a:prstGeom>
          <a:solidFill>
            <a:srgbClr val="1A2E42">
              <a:alpha val="65000"/>
            </a:srgbClr>
          </a:solidFill>
          <a:ln w="9525">
            <a:solidFill>
              <a:srgbClr val="00C6A7">
                <a:alpha val="18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70" name="Text 7">
            <a:extLst>
              <a:ext uri="{FF2B5EF4-FFF2-40B4-BE49-F238E27FC236}">
                <a16:creationId xmlns:a16="http://schemas.microsoft.com/office/drawing/2014/main" id="{842E9D97-6E62-CF95-5EAA-8B7B8A8CC071}"/>
              </a:ext>
            </a:extLst>
          </p:cNvPr>
          <p:cNvSpPr/>
          <p:nvPr/>
        </p:nvSpPr>
        <p:spPr>
          <a:xfrm>
            <a:off x="908447" y="1480741"/>
            <a:ext cx="47228" cy="399455"/>
          </a:xfrm>
          <a:prstGeom prst="roundRect">
            <a:avLst>
              <a:gd name="adj" fmla="val 60953"/>
            </a:avLst>
          </a:prstGeom>
          <a:solidFill>
            <a:srgbClr val="FF9D5B">
              <a:alpha val="80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53" name="Text 8">
            <a:extLst>
              <a:ext uri="{FF2B5EF4-FFF2-40B4-BE49-F238E27FC236}">
                <a16:creationId xmlns:a16="http://schemas.microsoft.com/office/drawing/2014/main" id="{488C62F9-C977-7969-526F-84746889AF2C}"/>
              </a:ext>
            </a:extLst>
          </p:cNvPr>
          <p:cNvSpPr/>
          <p:nvPr/>
        </p:nvSpPr>
        <p:spPr>
          <a:xfrm>
            <a:off x="1070770" y="1480741"/>
            <a:ext cx="399455" cy="399455"/>
          </a:xfrm>
          <a:prstGeom prst="roundRect">
            <a:avLst>
              <a:gd name="adj" fmla="val 23739"/>
            </a:avLst>
          </a:prstGeom>
          <a:solidFill>
            <a:srgbClr val="00C6A7">
              <a:alpha val="12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255" name="Image 0" descr="preencoded.png">
            <a:extLst>
              <a:ext uri="{FF2B5EF4-FFF2-40B4-BE49-F238E27FC236}">
                <a16:creationId xmlns:a16="http://schemas.microsoft.com/office/drawing/2014/main" id="{6644759D-F84E-F0B2-9FC3-2F08E23652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82104" y="1592076"/>
            <a:ext cx="176784" cy="176784"/>
          </a:xfrm>
          <a:prstGeom prst="rect">
            <a:avLst/>
          </a:prstGeom>
        </p:spPr>
      </p:pic>
      <p:sp>
        <p:nvSpPr>
          <p:cNvPr id="257" name="Text 9">
            <a:extLst>
              <a:ext uri="{FF2B5EF4-FFF2-40B4-BE49-F238E27FC236}">
                <a16:creationId xmlns:a16="http://schemas.microsoft.com/office/drawing/2014/main" id="{52748B3E-5942-F8F4-F00D-851E13EBBE1B}"/>
              </a:ext>
            </a:extLst>
          </p:cNvPr>
          <p:cNvSpPr/>
          <p:nvPr/>
        </p:nvSpPr>
        <p:spPr>
          <a:xfrm>
            <a:off x="1585318" y="1483916"/>
            <a:ext cx="2139375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57"/>
              </a:lnSpc>
            </a:pPr>
            <a:r>
              <a:rPr lang="en-US" sz="1507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Riders</a:t>
            </a:r>
            <a:endParaRPr lang="en-US" sz="1507" dirty="0">
              <a:solidFill>
                <a:srgbClr val="FF6600"/>
              </a:solidFill>
            </a:endParaRPr>
          </a:p>
        </p:txBody>
      </p:sp>
      <p:sp>
        <p:nvSpPr>
          <p:cNvPr id="262" name="Text 10">
            <a:extLst>
              <a:ext uri="{FF2B5EF4-FFF2-40B4-BE49-F238E27FC236}">
                <a16:creationId xmlns:a16="http://schemas.microsoft.com/office/drawing/2014/main" id="{5F95DDCF-3EB9-CC64-3111-1AC62F216BD5}"/>
              </a:ext>
            </a:extLst>
          </p:cNvPr>
          <p:cNvSpPr/>
          <p:nvPr/>
        </p:nvSpPr>
        <p:spPr>
          <a:xfrm>
            <a:off x="1585318" y="1704380"/>
            <a:ext cx="2139375" cy="172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60"/>
              </a:lnSpc>
            </a:pPr>
            <a:r>
              <a:rPr lang="en-US" sz="907" kern="0" spc="72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LEISURE-ORIENTED SEGMENT WITH DIVERSE USSAGE PATTERN</a:t>
            </a:r>
            <a:endParaRPr lang="en-US" sz="907" dirty="0"/>
          </a:p>
        </p:txBody>
      </p:sp>
      <p:sp>
        <p:nvSpPr>
          <p:cNvPr id="266" name="Text 11">
            <a:extLst>
              <a:ext uri="{FF2B5EF4-FFF2-40B4-BE49-F238E27FC236}">
                <a16:creationId xmlns:a16="http://schemas.microsoft.com/office/drawing/2014/main" id="{AF1B3F9D-99F3-F2BC-F552-8FB82239E854}"/>
              </a:ext>
            </a:extLst>
          </p:cNvPr>
          <p:cNvSpPr/>
          <p:nvPr/>
        </p:nvSpPr>
        <p:spPr>
          <a:xfrm>
            <a:off x="908447" y="2071489"/>
            <a:ext cx="4793060" cy="1012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270" name="Text 12">
            <a:extLst>
              <a:ext uri="{FF2B5EF4-FFF2-40B4-BE49-F238E27FC236}">
                <a16:creationId xmlns:a16="http://schemas.microsoft.com/office/drawing/2014/main" id="{5EAA3AB4-F056-56E3-EBC4-17FDC0A836CB}"/>
              </a:ext>
            </a:extLst>
          </p:cNvPr>
          <p:cNvSpPr/>
          <p:nvPr/>
        </p:nvSpPr>
        <p:spPr>
          <a:xfrm>
            <a:off x="908447" y="2262584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00C6A7">
              <a:alpha val="1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274" name="Image 1" descr="preencoded.png">
            <a:extLst>
              <a:ext uri="{FF2B5EF4-FFF2-40B4-BE49-F238E27FC236}">
                <a16:creationId xmlns:a16="http://schemas.microsoft.com/office/drawing/2014/main" id="{B9A5998B-8818-65B8-1017-F64FECEB05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2455" y="2326592"/>
            <a:ext cx="176784" cy="176784"/>
          </a:xfrm>
          <a:prstGeom prst="rect">
            <a:avLst/>
          </a:prstGeom>
        </p:spPr>
      </p:pic>
      <p:sp>
        <p:nvSpPr>
          <p:cNvPr id="276" name="Text 14">
            <a:extLst>
              <a:ext uri="{FF2B5EF4-FFF2-40B4-BE49-F238E27FC236}">
                <a16:creationId xmlns:a16="http://schemas.microsoft.com/office/drawing/2014/main" id="{02358AB9-1796-3AB1-43B3-30DBB59EE23E}"/>
              </a:ext>
            </a:extLst>
          </p:cNvPr>
          <p:cNvSpPr/>
          <p:nvPr/>
        </p:nvSpPr>
        <p:spPr>
          <a:xfrm>
            <a:off x="908447" y="2715749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00C6A7">
              <a:alpha val="1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278" name="Image 2" descr="preencoded.png">
            <a:extLst>
              <a:ext uri="{FF2B5EF4-FFF2-40B4-BE49-F238E27FC236}">
                <a16:creationId xmlns:a16="http://schemas.microsoft.com/office/drawing/2014/main" id="{6BEB4520-A1C1-1790-5A46-386AFC78A2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72455" y="2790341"/>
            <a:ext cx="176784" cy="176784"/>
          </a:xfrm>
          <a:prstGeom prst="rect">
            <a:avLst/>
          </a:prstGeom>
        </p:spPr>
      </p:pic>
      <p:sp>
        <p:nvSpPr>
          <p:cNvPr id="280" name="Text 15">
            <a:extLst>
              <a:ext uri="{FF2B5EF4-FFF2-40B4-BE49-F238E27FC236}">
                <a16:creationId xmlns:a16="http://schemas.microsoft.com/office/drawing/2014/main" id="{FB6534B6-E4B3-A37A-D8FB-A81959A8CC88}"/>
              </a:ext>
            </a:extLst>
          </p:cNvPr>
          <p:cNvSpPr/>
          <p:nvPr/>
        </p:nvSpPr>
        <p:spPr>
          <a:xfrm>
            <a:off x="1329147" y="4037629"/>
            <a:ext cx="3749853" cy="278408"/>
          </a:xfrm>
          <a:prstGeom prst="rect">
            <a:avLst/>
          </a:prstGeom>
          <a:noFill/>
          <a:ln/>
        </p:spPr>
        <p:txBody>
          <a:bodyPr wrap="none" lIns="0" tIns="57573" rIns="0" bIns="0" rtlCol="0" anchor="t"/>
          <a:lstStyle/>
          <a:p>
            <a:pPr>
              <a:lnSpc>
                <a:spcPts val="1740"/>
              </a:lnSpc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Duration steadily decreased – </a:t>
            </a:r>
            <a:r>
              <a:rPr lang="en-US" sz="1200" b="1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min per trip</a:t>
            </a:r>
            <a:endParaRPr lang="en-US" sz="1200" b="1" dirty="0">
              <a:solidFill>
                <a:srgbClr val="0087E2"/>
              </a:solidFill>
            </a:endParaRPr>
          </a:p>
        </p:txBody>
      </p:sp>
      <p:sp>
        <p:nvSpPr>
          <p:cNvPr id="282" name="Text 16">
            <a:extLst>
              <a:ext uri="{FF2B5EF4-FFF2-40B4-BE49-F238E27FC236}">
                <a16:creationId xmlns:a16="http://schemas.microsoft.com/office/drawing/2014/main" id="{3ED4AA2E-87F4-9700-2EB8-8CAB7C6B7E00}"/>
              </a:ext>
            </a:extLst>
          </p:cNvPr>
          <p:cNvSpPr/>
          <p:nvPr/>
        </p:nvSpPr>
        <p:spPr>
          <a:xfrm>
            <a:off x="908447" y="316891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00C6A7">
              <a:alpha val="1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284" name="Image 3" descr="preencoded.png">
            <a:extLst>
              <a:ext uri="{FF2B5EF4-FFF2-40B4-BE49-F238E27FC236}">
                <a16:creationId xmlns:a16="http://schemas.microsoft.com/office/drawing/2014/main" id="{F53505D7-D7F5-C747-4F6F-619D02F63F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72455" y="3245623"/>
            <a:ext cx="176784" cy="176784"/>
          </a:xfrm>
          <a:prstGeom prst="rect">
            <a:avLst/>
          </a:prstGeom>
        </p:spPr>
      </p:pic>
      <p:sp>
        <p:nvSpPr>
          <p:cNvPr id="286" name="Text 17">
            <a:extLst>
              <a:ext uri="{FF2B5EF4-FFF2-40B4-BE49-F238E27FC236}">
                <a16:creationId xmlns:a16="http://schemas.microsoft.com/office/drawing/2014/main" id="{CE0B41DD-BE89-8DBF-D79C-072A44279C60}"/>
              </a:ext>
            </a:extLst>
          </p:cNvPr>
          <p:cNvSpPr/>
          <p:nvPr/>
        </p:nvSpPr>
        <p:spPr>
          <a:xfrm>
            <a:off x="1329147" y="3166423"/>
            <a:ext cx="4257576" cy="278408"/>
          </a:xfrm>
          <a:prstGeom prst="rect">
            <a:avLst/>
          </a:prstGeom>
          <a:noFill/>
          <a:ln/>
        </p:spPr>
        <p:txBody>
          <a:bodyPr wrap="none" lIns="0" tIns="57573" rIns="0" bIns="0" rtlCol="0" anchor="t"/>
          <a:lstStyle/>
          <a:p>
            <a:pPr>
              <a:lnSpc>
                <a:spcPts val="1740"/>
              </a:lnSpc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riders start near tourist or lakeside locations</a:t>
            </a:r>
            <a:endParaRPr lang="en-US" sz="1200" dirty="0"/>
          </a:p>
        </p:txBody>
      </p:sp>
      <p:sp>
        <p:nvSpPr>
          <p:cNvPr id="288" name="Text 18">
            <a:extLst>
              <a:ext uri="{FF2B5EF4-FFF2-40B4-BE49-F238E27FC236}">
                <a16:creationId xmlns:a16="http://schemas.microsoft.com/office/drawing/2014/main" id="{16278033-FE0C-BB3F-9B40-AD490EE3F8FE}"/>
              </a:ext>
            </a:extLst>
          </p:cNvPr>
          <p:cNvSpPr/>
          <p:nvPr/>
        </p:nvSpPr>
        <p:spPr>
          <a:xfrm>
            <a:off x="908447" y="362208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00C6A7">
              <a:alpha val="1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290" name="Image 4" descr="preencoded.png">
            <a:extLst>
              <a:ext uri="{FF2B5EF4-FFF2-40B4-BE49-F238E27FC236}">
                <a16:creationId xmlns:a16="http://schemas.microsoft.com/office/drawing/2014/main" id="{108729DE-4387-E105-7A9F-CE0373E2A2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72455" y="3700904"/>
            <a:ext cx="176784" cy="176784"/>
          </a:xfrm>
          <a:prstGeom prst="rect">
            <a:avLst/>
          </a:prstGeom>
        </p:spPr>
      </p:pic>
      <p:sp>
        <p:nvSpPr>
          <p:cNvPr id="292" name="Text 19">
            <a:extLst>
              <a:ext uri="{FF2B5EF4-FFF2-40B4-BE49-F238E27FC236}">
                <a16:creationId xmlns:a16="http://schemas.microsoft.com/office/drawing/2014/main" id="{9CD18F04-BD19-C143-3231-7509436DAB39}"/>
              </a:ext>
            </a:extLst>
          </p:cNvPr>
          <p:cNvSpPr/>
          <p:nvPr/>
        </p:nvSpPr>
        <p:spPr>
          <a:xfrm>
            <a:off x="1329147" y="3634020"/>
            <a:ext cx="4285735" cy="278408"/>
          </a:xfrm>
          <a:prstGeom prst="rect">
            <a:avLst/>
          </a:prstGeom>
          <a:noFill/>
          <a:ln/>
        </p:spPr>
        <p:txBody>
          <a:bodyPr wrap="none" lIns="0" tIns="57573" rIns="0" bIns="0" rtlCol="0" anchor="t"/>
          <a:lstStyle/>
          <a:p>
            <a:pPr>
              <a:lnSpc>
                <a:spcPts val="1740"/>
              </a:lnSpc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diverse usage – </a:t>
            </a:r>
            <a:r>
              <a:rPr lang="en-US" sz="1200" b="1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trip started within the Top 10 stations</a:t>
            </a:r>
            <a:endParaRPr lang="en-US" sz="1200" dirty="0"/>
          </a:p>
        </p:txBody>
      </p:sp>
      <p:sp>
        <p:nvSpPr>
          <p:cNvPr id="294" name="Text 20">
            <a:extLst>
              <a:ext uri="{FF2B5EF4-FFF2-40B4-BE49-F238E27FC236}">
                <a16:creationId xmlns:a16="http://schemas.microsoft.com/office/drawing/2014/main" id="{1479AFE4-70D1-C6DF-429F-FD6272FB9DE2}"/>
              </a:ext>
            </a:extLst>
          </p:cNvPr>
          <p:cNvSpPr/>
          <p:nvPr/>
        </p:nvSpPr>
        <p:spPr>
          <a:xfrm>
            <a:off x="908447" y="407524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00C6A7">
              <a:alpha val="1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296" name="Text 22">
            <a:extLst>
              <a:ext uri="{FF2B5EF4-FFF2-40B4-BE49-F238E27FC236}">
                <a16:creationId xmlns:a16="http://schemas.microsoft.com/office/drawing/2014/main" id="{ACF7F7E5-1C8C-50D2-E4B2-9FA0205C243E}"/>
              </a:ext>
            </a:extLst>
          </p:cNvPr>
          <p:cNvSpPr/>
          <p:nvPr/>
        </p:nvSpPr>
        <p:spPr>
          <a:xfrm>
            <a:off x="6191648" y="1200547"/>
            <a:ext cx="5390753" cy="3364147"/>
          </a:xfrm>
          <a:prstGeom prst="roundRect">
            <a:avLst>
              <a:gd name="adj" fmla="val 2733"/>
            </a:avLst>
          </a:prstGeom>
          <a:solidFill>
            <a:srgbClr val="1A2E42">
              <a:alpha val="65000"/>
            </a:srgbClr>
          </a:solidFill>
          <a:ln w="9525">
            <a:solidFill>
              <a:srgbClr val="00C6A7">
                <a:alpha val="18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98" name="Text 23">
            <a:extLst>
              <a:ext uri="{FF2B5EF4-FFF2-40B4-BE49-F238E27FC236}">
                <a16:creationId xmlns:a16="http://schemas.microsoft.com/office/drawing/2014/main" id="{F9A11DA5-804C-510D-6C5E-B15D80BF5037}"/>
              </a:ext>
            </a:extLst>
          </p:cNvPr>
          <p:cNvSpPr/>
          <p:nvPr/>
        </p:nvSpPr>
        <p:spPr>
          <a:xfrm>
            <a:off x="6490494" y="1480741"/>
            <a:ext cx="47228" cy="399455"/>
          </a:xfrm>
          <a:prstGeom prst="roundRect">
            <a:avLst>
              <a:gd name="adj" fmla="val 60953"/>
            </a:avLst>
          </a:prstGeom>
          <a:solidFill>
            <a:srgbClr val="7EB8D4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300" name="Text 24">
            <a:extLst>
              <a:ext uri="{FF2B5EF4-FFF2-40B4-BE49-F238E27FC236}">
                <a16:creationId xmlns:a16="http://schemas.microsoft.com/office/drawing/2014/main" id="{C9C9700B-AB0F-C6E4-2EAA-3E440CBDC246}"/>
              </a:ext>
            </a:extLst>
          </p:cNvPr>
          <p:cNvSpPr/>
          <p:nvPr/>
        </p:nvSpPr>
        <p:spPr>
          <a:xfrm>
            <a:off x="6652817" y="1480741"/>
            <a:ext cx="399455" cy="399455"/>
          </a:xfrm>
          <a:prstGeom prst="roundRect">
            <a:avLst>
              <a:gd name="adj" fmla="val 23739"/>
            </a:avLst>
          </a:prstGeom>
          <a:solidFill>
            <a:srgbClr val="7EB8D4">
              <a:alpha val="10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302" name="Image 6" descr="preencoded.png">
            <a:extLst>
              <a:ext uri="{FF2B5EF4-FFF2-40B4-BE49-F238E27FC236}">
                <a16:creationId xmlns:a16="http://schemas.microsoft.com/office/drawing/2014/main" id="{41592FCF-F944-5882-49CE-379669A969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764151" y="1592076"/>
            <a:ext cx="176784" cy="176784"/>
          </a:xfrm>
          <a:prstGeom prst="rect">
            <a:avLst/>
          </a:prstGeom>
        </p:spPr>
      </p:pic>
      <p:sp>
        <p:nvSpPr>
          <p:cNvPr id="304" name="Text 25">
            <a:extLst>
              <a:ext uri="{FF2B5EF4-FFF2-40B4-BE49-F238E27FC236}">
                <a16:creationId xmlns:a16="http://schemas.microsoft.com/office/drawing/2014/main" id="{5963136E-12CC-36FE-B767-CBF556BA3C06}"/>
              </a:ext>
            </a:extLst>
          </p:cNvPr>
          <p:cNvSpPr/>
          <p:nvPr/>
        </p:nvSpPr>
        <p:spPr>
          <a:xfrm>
            <a:off x="7167364" y="1483916"/>
            <a:ext cx="2352853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57"/>
              </a:lnSpc>
            </a:pPr>
            <a:r>
              <a:rPr lang="en-US" sz="1507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Members</a:t>
            </a:r>
            <a:endParaRPr lang="en-US" sz="1507" dirty="0">
              <a:solidFill>
                <a:srgbClr val="0070C0"/>
              </a:solidFill>
            </a:endParaRPr>
          </a:p>
        </p:txBody>
      </p:sp>
      <p:sp>
        <p:nvSpPr>
          <p:cNvPr id="306" name="Text 26">
            <a:extLst>
              <a:ext uri="{FF2B5EF4-FFF2-40B4-BE49-F238E27FC236}">
                <a16:creationId xmlns:a16="http://schemas.microsoft.com/office/drawing/2014/main" id="{5A0F0619-3DA4-7B14-2FB9-393A2E9A1B72}"/>
              </a:ext>
            </a:extLst>
          </p:cNvPr>
          <p:cNvSpPr/>
          <p:nvPr/>
        </p:nvSpPr>
        <p:spPr>
          <a:xfrm>
            <a:off x="7167364" y="1704380"/>
            <a:ext cx="2352853" cy="172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60"/>
              </a:lnSpc>
            </a:pPr>
            <a:r>
              <a:rPr lang="en-US" sz="907" kern="0" spc="72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COMMUTER-ORIENTED SEGMENT WITH WORK-LIFE BALANCE</a:t>
            </a:r>
            <a:endParaRPr lang="en-US" sz="907" dirty="0"/>
          </a:p>
        </p:txBody>
      </p:sp>
      <p:sp>
        <p:nvSpPr>
          <p:cNvPr id="308" name="Text 27">
            <a:extLst>
              <a:ext uri="{FF2B5EF4-FFF2-40B4-BE49-F238E27FC236}">
                <a16:creationId xmlns:a16="http://schemas.microsoft.com/office/drawing/2014/main" id="{AEDB2B7C-45E7-C8B7-D02D-07EA1CCC82D1}"/>
              </a:ext>
            </a:extLst>
          </p:cNvPr>
          <p:cNvSpPr/>
          <p:nvPr/>
        </p:nvSpPr>
        <p:spPr>
          <a:xfrm>
            <a:off x="6490494" y="2071489"/>
            <a:ext cx="4793060" cy="1012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310" name="Text 28">
            <a:extLst>
              <a:ext uri="{FF2B5EF4-FFF2-40B4-BE49-F238E27FC236}">
                <a16:creationId xmlns:a16="http://schemas.microsoft.com/office/drawing/2014/main" id="{D1FD3661-4CFA-E8E0-61F5-E30F99C6F479}"/>
              </a:ext>
            </a:extLst>
          </p:cNvPr>
          <p:cNvSpPr/>
          <p:nvPr/>
        </p:nvSpPr>
        <p:spPr>
          <a:xfrm>
            <a:off x="6481637" y="2262584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7EB8D4">
              <a:alpha val="1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312" name="Image 7" descr="preencoded.png">
            <a:extLst>
              <a:ext uri="{FF2B5EF4-FFF2-40B4-BE49-F238E27FC236}">
                <a16:creationId xmlns:a16="http://schemas.microsoft.com/office/drawing/2014/main" id="{E554997D-6A72-ABA3-8E77-89D103AA81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54501" y="2326592"/>
            <a:ext cx="176784" cy="176784"/>
          </a:xfrm>
          <a:prstGeom prst="rect">
            <a:avLst/>
          </a:prstGeom>
        </p:spPr>
      </p:pic>
      <p:sp>
        <p:nvSpPr>
          <p:cNvPr id="314" name="Text 29">
            <a:extLst>
              <a:ext uri="{FF2B5EF4-FFF2-40B4-BE49-F238E27FC236}">
                <a16:creationId xmlns:a16="http://schemas.microsoft.com/office/drawing/2014/main" id="{4976E1CF-F32A-24FA-982E-E124F280A443}"/>
              </a:ext>
            </a:extLst>
          </p:cNvPr>
          <p:cNvSpPr/>
          <p:nvPr/>
        </p:nvSpPr>
        <p:spPr>
          <a:xfrm>
            <a:off x="6902268" y="2252465"/>
            <a:ext cx="4460629" cy="329273"/>
          </a:xfrm>
          <a:prstGeom prst="rect">
            <a:avLst/>
          </a:prstGeom>
          <a:noFill/>
          <a:ln/>
        </p:spPr>
        <p:txBody>
          <a:bodyPr wrap="square" lIns="0" tIns="57573" rIns="0" bIns="0" rtlCol="0" anchor="t"/>
          <a:lstStyle/>
          <a:p>
            <a:pPr>
              <a:lnSpc>
                <a:spcPts val="1740"/>
              </a:lnSpc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show stable weekday usage with weekend usage increasing</a:t>
            </a:r>
            <a:endParaRPr lang="en-US" sz="1200" dirty="0"/>
          </a:p>
        </p:txBody>
      </p:sp>
      <p:sp>
        <p:nvSpPr>
          <p:cNvPr id="316" name="Text 30">
            <a:extLst>
              <a:ext uri="{FF2B5EF4-FFF2-40B4-BE49-F238E27FC236}">
                <a16:creationId xmlns:a16="http://schemas.microsoft.com/office/drawing/2014/main" id="{EBC07BB7-797E-AA10-9A15-166F5A97FB16}"/>
              </a:ext>
            </a:extLst>
          </p:cNvPr>
          <p:cNvSpPr/>
          <p:nvPr/>
        </p:nvSpPr>
        <p:spPr>
          <a:xfrm>
            <a:off x="6481637" y="2715749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7EB8D4">
              <a:alpha val="1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318" name="Image 8" descr="preencoded.png">
            <a:extLst>
              <a:ext uri="{FF2B5EF4-FFF2-40B4-BE49-F238E27FC236}">
                <a16:creationId xmlns:a16="http://schemas.microsoft.com/office/drawing/2014/main" id="{78B831E1-856D-A345-9FDD-6C4CF02596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54501" y="2805356"/>
            <a:ext cx="176784" cy="176784"/>
          </a:xfrm>
          <a:prstGeom prst="rect">
            <a:avLst/>
          </a:prstGeom>
        </p:spPr>
      </p:pic>
      <p:sp>
        <p:nvSpPr>
          <p:cNvPr id="320" name="Text 32">
            <a:extLst>
              <a:ext uri="{FF2B5EF4-FFF2-40B4-BE49-F238E27FC236}">
                <a16:creationId xmlns:a16="http://schemas.microsoft.com/office/drawing/2014/main" id="{F8075666-0B50-E7B1-7C5F-7022F2AC002A}"/>
              </a:ext>
            </a:extLst>
          </p:cNvPr>
          <p:cNvSpPr/>
          <p:nvPr/>
        </p:nvSpPr>
        <p:spPr>
          <a:xfrm>
            <a:off x="6481637" y="316891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7EB8D4">
              <a:alpha val="1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322" name="Image 9" descr="preencoded.png">
            <a:extLst>
              <a:ext uri="{FF2B5EF4-FFF2-40B4-BE49-F238E27FC236}">
                <a16:creationId xmlns:a16="http://schemas.microsoft.com/office/drawing/2014/main" id="{22B9B5C4-8010-EBDD-2870-CF86D5F3AD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554501" y="3235237"/>
            <a:ext cx="176784" cy="176784"/>
          </a:xfrm>
          <a:prstGeom prst="rect">
            <a:avLst/>
          </a:prstGeom>
        </p:spPr>
      </p:pic>
      <p:sp>
        <p:nvSpPr>
          <p:cNvPr id="324" name="Text 33">
            <a:extLst>
              <a:ext uri="{FF2B5EF4-FFF2-40B4-BE49-F238E27FC236}">
                <a16:creationId xmlns:a16="http://schemas.microsoft.com/office/drawing/2014/main" id="{AE3C5837-7DC2-F326-6133-68A53660A93E}"/>
              </a:ext>
            </a:extLst>
          </p:cNvPr>
          <p:cNvSpPr/>
          <p:nvPr/>
        </p:nvSpPr>
        <p:spPr>
          <a:xfrm>
            <a:off x="6902269" y="3608516"/>
            <a:ext cx="4114383" cy="278408"/>
          </a:xfrm>
          <a:prstGeom prst="rect">
            <a:avLst/>
          </a:prstGeom>
          <a:noFill/>
          <a:ln/>
        </p:spPr>
        <p:txBody>
          <a:bodyPr wrap="none" lIns="0" tIns="57573" rIns="0" bIns="0" rtlCol="0" anchor="t"/>
          <a:lstStyle/>
          <a:p>
            <a:pPr>
              <a:lnSpc>
                <a:spcPts val="1740"/>
              </a:lnSpc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usage pattern – </a:t>
            </a:r>
            <a:r>
              <a:rPr lang="en-US" sz="1200" b="1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7.3%</a:t>
            </a: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trip started within the Top 10 stations</a:t>
            </a:r>
            <a:endParaRPr lang="en-US" sz="1200" dirty="0"/>
          </a:p>
        </p:txBody>
      </p:sp>
      <p:sp>
        <p:nvSpPr>
          <p:cNvPr id="326" name="Text 34">
            <a:extLst>
              <a:ext uri="{FF2B5EF4-FFF2-40B4-BE49-F238E27FC236}">
                <a16:creationId xmlns:a16="http://schemas.microsoft.com/office/drawing/2014/main" id="{5FE80D87-E7BD-C935-718D-48B1624D95E7}"/>
              </a:ext>
            </a:extLst>
          </p:cNvPr>
          <p:cNvSpPr/>
          <p:nvPr/>
        </p:nvSpPr>
        <p:spPr>
          <a:xfrm>
            <a:off x="6481637" y="362208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7EB8D4">
              <a:alpha val="1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328" name="Image 10" descr="preencoded.png">
            <a:extLst>
              <a:ext uri="{FF2B5EF4-FFF2-40B4-BE49-F238E27FC236}">
                <a16:creationId xmlns:a16="http://schemas.microsoft.com/office/drawing/2014/main" id="{74E62E1E-5704-489A-CEBB-783E2C0B38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554501" y="3690520"/>
            <a:ext cx="176784" cy="176784"/>
          </a:xfrm>
          <a:prstGeom prst="rect">
            <a:avLst/>
          </a:prstGeom>
        </p:spPr>
      </p:pic>
      <p:sp>
        <p:nvSpPr>
          <p:cNvPr id="330" name="Text 36">
            <a:extLst>
              <a:ext uri="{FF2B5EF4-FFF2-40B4-BE49-F238E27FC236}">
                <a16:creationId xmlns:a16="http://schemas.microsoft.com/office/drawing/2014/main" id="{1AB78303-ABDA-2AE8-789F-8D583F477DED}"/>
              </a:ext>
            </a:extLst>
          </p:cNvPr>
          <p:cNvSpPr/>
          <p:nvPr/>
        </p:nvSpPr>
        <p:spPr>
          <a:xfrm>
            <a:off x="6481637" y="407524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7EB8D4">
              <a:alpha val="1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334" name="Text 41">
            <a:extLst>
              <a:ext uri="{FF2B5EF4-FFF2-40B4-BE49-F238E27FC236}">
                <a16:creationId xmlns:a16="http://schemas.microsoft.com/office/drawing/2014/main" id="{E56AAF12-F984-A77C-7D7A-983B0CF4C8B2}"/>
              </a:ext>
            </a:extLst>
          </p:cNvPr>
          <p:cNvSpPr/>
          <p:nvPr/>
        </p:nvSpPr>
        <p:spPr>
          <a:xfrm>
            <a:off x="6090840" y="2202174"/>
            <a:ext cx="10120" cy="572293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FFFFFF">
                  <a:alpha val="15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336" name="Text 42">
            <a:extLst>
              <a:ext uri="{FF2B5EF4-FFF2-40B4-BE49-F238E27FC236}">
                <a16:creationId xmlns:a16="http://schemas.microsoft.com/office/drawing/2014/main" id="{2BFA1D2F-ED00-7298-CD13-CD8F945F96A5}"/>
              </a:ext>
            </a:extLst>
          </p:cNvPr>
          <p:cNvSpPr/>
          <p:nvPr/>
        </p:nvSpPr>
        <p:spPr>
          <a:xfrm>
            <a:off x="5924154" y="2774467"/>
            <a:ext cx="343693" cy="378063"/>
          </a:xfrm>
          <a:prstGeom prst="ellipse">
            <a:avLst/>
          </a:prstGeom>
          <a:solidFill>
            <a:srgbClr val="0D1B2A"/>
          </a:solidFill>
          <a:ln w="9525">
            <a:solidFill>
              <a:srgbClr val="FFFFFF">
                <a:alpha val="1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/>
            <a:r>
              <a:rPr lang="en-US" sz="827" b="1" kern="0" spc="4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827" dirty="0"/>
          </a:p>
        </p:txBody>
      </p:sp>
      <p:sp>
        <p:nvSpPr>
          <p:cNvPr id="338" name="Text 43">
            <a:extLst>
              <a:ext uri="{FF2B5EF4-FFF2-40B4-BE49-F238E27FC236}">
                <a16:creationId xmlns:a16="http://schemas.microsoft.com/office/drawing/2014/main" id="{7634AEF4-1F0A-FF20-FD07-1959104D6EC6}"/>
              </a:ext>
            </a:extLst>
          </p:cNvPr>
          <p:cNvSpPr/>
          <p:nvPr/>
        </p:nvSpPr>
        <p:spPr>
          <a:xfrm>
            <a:off x="6090840" y="3118160"/>
            <a:ext cx="10120" cy="572293"/>
          </a:xfrm>
          <a:prstGeom prst="rect">
            <a:avLst/>
          </a:prstGeom>
          <a:gradFill rotWithShape="1">
            <a:gsLst>
              <a:gs pos="0">
                <a:srgbClr val="FFFF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340" name="Text 29">
            <a:extLst>
              <a:ext uri="{FF2B5EF4-FFF2-40B4-BE49-F238E27FC236}">
                <a16:creationId xmlns:a16="http://schemas.microsoft.com/office/drawing/2014/main" id="{D86CE034-0094-FF08-78B7-E15A402846C2}"/>
              </a:ext>
            </a:extLst>
          </p:cNvPr>
          <p:cNvSpPr/>
          <p:nvPr/>
        </p:nvSpPr>
        <p:spPr>
          <a:xfrm>
            <a:off x="6902268" y="2679032"/>
            <a:ext cx="4460629" cy="329273"/>
          </a:xfrm>
          <a:prstGeom prst="rect">
            <a:avLst/>
          </a:prstGeom>
          <a:noFill/>
          <a:ln/>
        </p:spPr>
        <p:txBody>
          <a:bodyPr wrap="square" lIns="0" tIns="57573" rIns="0" bIns="0" rtlCol="0" anchor="t"/>
          <a:lstStyle/>
          <a:p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still peak during commute hours, but afternoon usage also increased.</a:t>
            </a:r>
            <a:endParaRPr lang="en-US" sz="1200" dirty="0"/>
          </a:p>
        </p:txBody>
      </p:sp>
      <p:sp>
        <p:nvSpPr>
          <p:cNvPr id="342" name="Text 29">
            <a:extLst>
              <a:ext uri="{FF2B5EF4-FFF2-40B4-BE49-F238E27FC236}">
                <a16:creationId xmlns:a16="http://schemas.microsoft.com/office/drawing/2014/main" id="{36C9CF3B-2BCA-FB54-C2BE-3FDE6D9AA7AC}"/>
              </a:ext>
            </a:extLst>
          </p:cNvPr>
          <p:cNvSpPr/>
          <p:nvPr/>
        </p:nvSpPr>
        <p:spPr>
          <a:xfrm>
            <a:off x="1329147" y="2694914"/>
            <a:ext cx="4460629" cy="329273"/>
          </a:xfrm>
          <a:prstGeom prst="rect">
            <a:avLst/>
          </a:prstGeom>
          <a:noFill/>
          <a:ln/>
        </p:spPr>
        <p:txBody>
          <a:bodyPr wrap="square" lIns="0" tIns="57573" rIns="0" bIns="0" rtlCol="0" anchor="t"/>
          <a:lstStyle/>
          <a:p>
            <a:pPr>
              <a:lnSpc>
                <a:spcPts val="1740"/>
              </a:lnSpc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rise in casual riders commuting around </a:t>
            </a:r>
            <a:r>
              <a:rPr lang="en-US" sz="1200" b="1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AM </a:t>
            </a:r>
            <a:r>
              <a:rPr lang="en-US" sz="1200" dirty="0">
                <a:solidFill>
                  <a:srgbClr val="DE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r>
              <a:rPr lang="en-US" sz="1200" b="1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 PM</a:t>
            </a: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344" name="Text 29">
            <a:extLst>
              <a:ext uri="{FF2B5EF4-FFF2-40B4-BE49-F238E27FC236}">
                <a16:creationId xmlns:a16="http://schemas.microsoft.com/office/drawing/2014/main" id="{4480C71A-B88E-8597-81A0-998E0C6AF6A9}"/>
              </a:ext>
            </a:extLst>
          </p:cNvPr>
          <p:cNvSpPr/>
          <p:nvPr/>
        </p:nvSpPr>
        <p:spPr>
          <a:xfrm>
            <a:off x="1329147" y="2247426"/>
            <a:ext cx="4460629" cy="329273"/>
          </a:xfrm>
          <a:prstGeom prst="rect">
            <a:avLst/>
          </a:prstGeom>
          <a:noFill/>
          <a:ln/>
        </p:spPr>
        <p:txBody>
          <a:bodyPr wrap="square" lIns="0" tIns="57573" rIns="0" bIns="0" rtlCol="0" anchor="t"/>
          <a:lstStyle/>
          <a:p>
            <a:pPr>
              <a:lnSpc>
                <a:spcPts val="1740"/>
              </a:lnSpc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usage increased, but weekends still peak</a:t>
            </a:r>
            <a:endParaRPr lang="en-US" sz="1200" dirty="0"/>
          </a:p>
        </p:txBody>
      </p:sp>
      <p:sp>
        <p:nvSpPr>
          <p:cNvPr id="346" name="Text 31">
            <a:extLst>
              <a:ext uri="{FF2B5EF4-FFF2-40B4-BE49-F238E27FC236}">
                <a16:creationId xmlns:a16="http://schemas.microsoft.com/office/drawing/2014/main" id="{FE0B2064-D1CB-F332-45EA-6B48A212E6DE}"/>
              </a:ext>
            </a:extLst>
          </p:cNvPr>
          <p:cNvSpPr/>
          <p:nvPr/>
        </p:nvSpPr>
        <p:spPr>
          <a:xfrm>
            <a:off x="6902268" y="4048211"/>
            <a:ext cx="4085352" cy="278408"/>
          </a:xfrm>
          <a:prstGeom prst="rect">
            <a:avLst/>
          </a:prstGeom>
          <a:noFill/>
          <a:ln/>
        </p:spPr>
        <p:txBody>
          <a:bodyPr wrap="none" lIns="0" tIns="57573" rIns="0" bIns="0" rtlCol="0" anchor="t"/>
          <a:lstStyle/>
          <a:p>
            <a:pPr>
              <a:lnSpc>
                <a:spcPts val="1740"/>
              </a:lnSpc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change in average ride duration - </a:t>
            </a:r>
            <a:r>
              <a:rPr lang="en-US" sz="1200" b="1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min average per ride</a:t>
            </a:r>
            <a:endParaRPr lang="en-US" sz="1200" b="1" dirty="0">
              <a:solidFill>
                <a:srgbClr val="0087E2"/>
              </a:solidFill>
            </a:endParaRPr>
          </a:p>
        </p:txBody>
      </p:sp>
      <p:sp>
        <p:nvSpPr>
          <p:cNvPr id="348" name="Text 17">
            <a:extLst>
              <a:ext uri="{FF2B5EF4-FFF2-40B4-BE49-F238E27FC236}">
                <a16:creationId xmlns:a16="http://schemas.microsoft.com/office/drawing/2014/main" id="{EB7EF707-5658-9048-7F37-1F94936A7634}"/>
              </a:ext>
            </a:extLst>
          </p:cNvPr>
          <p:cNvSpPr/>
          <p:nvPr/>
        </p:nvSpPr>
        <p:spPr>
          <a:xfrm>
            <a:off x="6902268" y="3181689"/>
            <a:ext cx="4257576" cy="278408"/>
          </a:xfrm>
          <a:prstGeom prst="rect">
            <a:avLst/>
          </a:prstGeom>
          <a:noFill/>
          <a:ln/>
        </p:spPr>
        <p:txBody>
          <a:bodyPr wrap="none" lIns="0" tIns="57573" rIns="0" bIns="0" rtlCol="0" anchor="t"/>
          <a:lstStyle/>
          <a:p>
            <a:pPr>
              <a:lnSpc>
                <a:spcPts val="1740"/>
              </a:lnSpc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start in office-dense areas with wider choices.</a:t>
            </a:r>
            <a:endParaRPr lang="en-US" sz="1200" dirty="0"/>
          </a:p>
        </p:txBody>
      </p:sp>
      <p:pic>
        <p:nvPicPr>
          <p:cNvPr id="350" name="Image 5" descr="preencoded.png">
            <a:extLst>
              <a:ext uri="{FF2B5EF4-FFF2-40B4-BE49-F238E27FC236}">
                <a16:creationId xmlns:a16="http://schemas.microsoft.com/office/drawing/2014/main" id="{CA9A9442-131F-1A72-ACCE-EF9430F54D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554501" y="4151009"/>
            <a:ext cx="176784" cy="176784"/>
          </a:xfrm>
          <a:prstGeom prst="rect">
            <a:avLst/>
          </a:prstGeom>
        </p:spPr>
      </p:pic>
      <p:pic>
        <p:nvPicPr>
          <p:cNvPr id="352" name="Image 5" descr="preencoded.png">
            <a:extLst>
              <a:ext uri="{FF2B5EF4-FFF2-40B4-BE49-F238E27FC236}">
                <a16:creationId xmlns:a16="http://schemas.microsoft.com/office/drawing/2014/main" id="{79984398-C1EF-F110-94E5-4537F81C4D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69695" y="4139253"/>
            <a:ext cx="176784" cy="176784"/>
          </a:xfrm>
          <a:prstGeom prst="rect">
            <a:avLst/>
          </a:prstGeom>
        </p:spPr>
      </p:pic>
      <p:sp>
        <p:nvSpPr>
          <p:cNvPr id="140" name="Freeform: Shape 139">
            <a:extLst>
              <a:ext uri="{FF2B5EF4-FFF2-40B4-BE49-F238E27FC236}">
                <a16:creationId xmlns:a16="http://schemas.microsoft.com/office/drawing/2014/main" id="{2DDC9EAB-B9F3-1A30-8748-DE50F36F5ACC}"/>
              </a:ext>
            </a:extLst>
          </p:cNvPr>
          <p:cNvSpPr/>
          <p:nvPr/>
        </p:nvSpPr>
        <p:spPr>
          <a:xfrm>
            <a:off x="3828272" y="5598791"/>
            <a:ext cx="2012833" cy="636813"/>
          </a:xfrm>
          <a:custGeom>
            <a:avLst/>
            <a:gdLst>
              <a:gd name="csX0" fmla="*/ 1164431 w 1164431"/>
              <a:gd name="csY0" fmla="*/ 276225 h 278606"/>
              <a:gd name="csX1" fmla="*/ 1164431 w 1164431"/>
              <a:gd name="csY1" fmla="*/ 216694 h 278606"/>
              <a:gd name="csX2" fmla="*/ 1109663 w 1164431"/>
              <a:gd name="csY2" fmla="*/ 188119 h 278606"/>
              <a:gd name="csX3" fmla="*/ 1050131 w 1164431"/>
              <a:gd name="csY3" fmla="*/ 159544 h 278606"/>
              <a:gd name="csX4" fmla="*/ 997744 w 1164431"/>
              <a:gd name="csY4" fmla="*/ 142875 h 278606"/>
              <a:gd name="csX5" fmla="*/ 959644 w 1164431"/>
              <a:gd name="csY5" fmla="*/ 92869 h 278606"/>
              <a:gd name="csX6" fmla="*/ 912019 w 1164431"/>
              <a:gd name="csY6" fmla="*/ 33338 h 278606"/>
              <a:gd name="csX7" fmla="*/ 876300 w 1164431"/>
              <a:gd name="csY7" fmla="*/ 4763 h 278606"/>
              <a:gd name="csX8" fmla="*/ 845344 w 1164431"/>
              <a:gd name="csY8" fmla="*/ 0 h 278606"/>
              <a:gd name="csX9" fmla="*/ 840581 w 1164431"/>
              <a:gd name="csY9" fmla="*/ 9525 h 278606"/>
              <a:gd name="csX10" fmla="*/ 812006 w 1164431"/>
              <a:gd name="csY10" fmla="*/ 52388 h 278606"/>
              <a:gd name="csX11" fmla="*/ 759619 w 1164431"/>
              <a:gd name="csY11" fmla="*/ 111919 h 278606"/>
              <a:gd name="csX12" fmla="*/ 697706 w 1164431"/>
              <a:gd name="csY12" fmla="*/ 142875 h 278606"/>
              <a:gd name="csX13" fmla="*/ 647700 w 1164431"/>
              <a:gd name="csY13" fmla="*/ 138113 h 278606"/>
              <a:gd name="csX14" fmla="*/ 592931 w 1164431"/>
              <a:gd name="csY14" fmla="*/ 145256 h 278606"/>
              <a:gd name="csX15" fmla="*/ 552450 w 1164431"/>
              <a:gd name="csY15" fmla="*/ 171450 h 278606"/>
              <a:gd name="csX16" fmla="*/ 504825 w 1164431"/>
              <a:gd name="csY16" fmla="*/ 200025 h 278606"/>
              <a:gd name="csX17" fmla="*/ 452438 w 1164431"/>
              <a:gd name="csY17" fmla="*/ 200025 h 278606"/>
              <a:gd name="csX18" fmla="*/ 409575 w 1164431"/>
              <a:gd name="csY18" fmla="*/ 173831 h 278606"/>
              <a:gd name="csX19" fmla="*/ 359569 w 1164431"/>
              <a:gd name="csY19" fmla="*/ 207169 h 278606"/>
              <a:gd name="csX20" fmla="*/ 311944 w 1164431"/>
              <a:gd name="csY20" fmla="*/ 240506 h 278606"/>
              <a:gd name="csX21" fmla="*/ 254794 w 1164431"/>
              <a:gd name="csY21" fmla="*/ 264319 h 278606"/>
              <a:gd name="csX22" fmla="*/ 216694 w 1164431"/>
              <a:gd name="csY22" fmla="*/ 266700 h 278606"/>
              <a:gd name="csX23" fmla="*/ 157163 w 1164431"/>
              <a:gd name="csY23" fmla="*/ 266700 h 278606"/>
              <a:gd name="csX24" fmla="*/ 102394 w 1164431"/>
              <a:gd name="csY24" fmla="*/ 264319 h 278606"/>
              <a:gd name="csX25" fmla="*/ 52388 w 1164431"/>
              <a:gd name="csY25" fmla="*/ 252413 h 278606"/>
              <a:gd name="csX26" fmla="*/ 0 w 1164431"/>
              <a:gd name="csY26" fmla="*/ 240506 h 278606"/>
              <a:gd name="csX27" fmla="*/ 2381 w 1164431"/>
              <a:gd name="csY27" fmla="*/ 278606 h 278606"/>
              <a:gd name="csX28" fmla="*/ 1164431 w 1164431"/>
              <a:gd name="csY28" fmla="*/ 276225 h 2786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1164431" h="278606">
                <a:moveTo>
                  <a:pt x="1164431" y="276225"/>
                </a:moveTo>
                <a:lnTo>
                  <a:pt x="1164431" y="216694"/>
                </a:lnTo>
                <a:lnTo>
                  <a:pt x="1109663" y="188119"/>
                </a:lnTo>
                <a:lnTo>
                  <a:pt x="1050131" y="159544"/>
                </a:lnTo>
                <a:lnTo>
                  <a:pt x="997744" y="142875"/>
                </a:lnTo>
                <a:lnTo>
                  <a:pt x="959644" y="92869"/>
                </a:lnTo>
                <a:lnTo>
                  <a:pt x="912019" y="33338"/>
                </a:lnTo>
                <a:lnTo>
                  <a:pt x="876300" y="4763"/>
                </a:lnTo>
                <a:lnTo>
                  <a:pt x="845344" y="0"/>
                </a:lnTo>
                <a:lnTo>
                  <a:pt x="840581" y="9525"/>
                </a:lnTo>
                <a:lnTo>
                  <a:pt x="812006" y="52388"/>
                </a:lnTo>
                <a:lnTo>
                  <a:pt x="759619" y="111919"/>
                </a:lnTo>
                <a:lnTo>
                  <a:pt x="697706" y="142875"/>
                </a:lnTo>
                <a:lnTo>
                  <a:pt x="647700" y="138113"/>
                </a:lnTo>
                <a:lnTo>
                  <a:pt x="592931" y="145256"/>
                </a:lnTo>
                <a:lnTo>
                  <a:pt x="552450" y="171450"/>
                </a:lnTo>
                <a:lnTo>
                  <a:pt x="504825" y="200025"/>
                </a:lnTo>
                <a:lnTo>
                  <a:pt x="452438" y="200025"/>
                </a:lnTo>
                <a:lnTo>
                  <a:pt x="409575" y="173831"/>
                </a:lnTo>
                <a:lnTo>
                  <a:pt x="359569" y="207169"/>
                </a:lnTo>
                <a:lnTo>
                  <a:pt x="311944" y="240506"/>
                </a:lnTo>
                <a:lnTo>
                  <a:pt x="254794" y="264319"/>
                </a:lnTo>
                <a:lnTo>
                  <a:pt x="216694" y="266700"/>
                </a:lnTo>
                <a:lnTo>
                  <a:pt x="157163" y="266700"/>
                </a:lnTo>
                <a:lnTo>
                  <a:pt x="102394" y="264319"/>
                </a:lnTo>
                <a:lnTo>
                  <a:pt x="52388" y="252413"/>
                </a:lnTo>
                <a:lnTo>
                  <a:pt x="0" y="240506"/>
                </a:lnTo>
                <a:lnTo>
                  <a:pt x="2381" y="278606"/>
                </a:lnTo>
                <a:lnTo>
                  <a:pt x="1164431" y="276225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400"/>
          </a:p>
        </p:txBody>
      </p:sp>
    </p:spTree>
    <p:extLst>
      <p:ext uri="{BB962C8B-B14F-4D97-AF65-F5344CB8AC3E}">
        <p14:creationId xmlns:p14="http://schemas.microsoft.com/office/powerpoint/2010/main" val="2544685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2C992-D14F-57AA-B250-02BADD17A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0">
            <a:extLst>
              <a:ext uri="{FF2B5EF4-FFF2-40B4-BE49-F238E27FC236}">
                <a16:creationId xmlns:a16="http://schemas.microsoft.com/office/drawing/2014/main" id="{F5078711-40EE-8083-7B5E-821094FA7483}"/>
              </a:ext>
            </a:extLst>
          </p:cNvPr>
          <p:cNvSpPr/>
          <p:nvPr/>
        </p:nvSpPr>
        <p:spPr>
          <a:xfrm>
            <a:off x="0" y="4563"/>
            <a:ext cx="12192000" cy="6858000"/>
          </a:xfrm>
          <a:prstGeom prst="rect">
            <a:avLst/>
          </a:prstGeom>
          <a:gradFill rotWithShape="1">
            <a:gsLst>
              <a:gs pos="0">
                <a:srgbClr val="0C122C">
                  <a:alpha val="96863"/>
                </a:srgbClr>
              </a:gs>
              <a:gs pos="50000">
                <a:srgbClr val="002060">
                  <a:alpha val="92000"/>
                </a:srgbClr>
              </a:gs>
              <a:gs pos="100000">
                <a:srgbClr val="15A0FF">
                  <a:alpha val="8000"/>
                </a:srgbClr>
              </a:gs>
            </a:gsLst>
            <a:lin ang="420000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73868C9-CD2A-207C-7393-5F43A22D2C0B}"/>
              </a:ext>
            </a:extLst>
          </p:cNvPr>
          <p:cNvSpPr/>
          <p:nvPr/>
        </p:nvSpPr>
        <p:spPr>
          <a:xfrm>
            <a:off x="609600" y="286147"/>
            <a:ext cx="12070080" cy="172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60"/>
              </a:lnSpc>
            </a:pPr>
            <a:r>
              <a:rPr lang="en-US" sz="907" b="1" kern="0" spc="163" dirty="0">
                <a:solidFill>
                  <a:srgbClr val="15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ANALYSIS</a:t>
            </a:r>
            <a:endParaRPr lang="en-US" sz="907" dirty="0">
              <a:solidFill>
                <a:srgbClr val="15A0FF"/>
              </a:solidFill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80CD47D-2FAE-2F53-C8DE-A6A1529FA9CA}"/>
              </a:ext>
            </a:extLst>
          </p:cNvPr>
          <p:cNvSpPr/>
          <p:nvPr/>
        </p:nvSpPr>
        <p:spPr>
          <a:xfrm>
            <a:off x="609600" y="497681"/>
            <a:ext cx="11740896" cy="371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29"/>
              </a:lnSpc>
            </a:pPr>
            <a:r>
              <a:rPr lang="en-US" sz="2547" kern="0" spc="-25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Rider Usage Trends by Years(2016-2025)</a:t>
            </a:r>
            <a:endParaRPr lang="en-US" sz="2547" dirty="0">
              <a:solidFill>
                <a:srgbClr val="15A0FF"/>
              </a:solidFill>
            </a:endParaRPr>
          </a:p>
        </p:txBody>
      </p:sp>
      <p:sp>
        <p:nvSpPr>
          <p:cNvPr id="161" name="Text 6">
            <a:extLst>
              <a:ext uri="{FF2B5EF4-FFF2-40B4-BE49-F238E27FC236}">
                <a16:creationId xmlns:a16="http://schemas.microsoft.com/office/drawing/2014/main" id="{03659453-6296-1BD5-F19E-01A3616B0EAB}"/>
              </a:ext>
            </a:extLst>
          </p:cNvPr>
          <p:cNvSpPr/>
          <p:nvPr/>
        </p:nvSpPr>
        <p:spPr>
          <a:xfrm>
            <a:off x="609601" y="1114027"/>
            <a:ext cx="5400873" cy="2756089"/>
          </a:xfrm>
          <a:prstGeom prst="roundRect">
            <a:avLst>
              <a:gd name="adj" fmla="val 5298"/>
            </a:avLst>
          </a:prstGeom>
          <a:solidFill>
            <a:srgbClr val="0D3D66">
              <a:alpha val="65000"/>
            </a:srgbClr>
          </a:solidFill>
          <a:ln w="9525">
            <a:solidFill>
              <a:srgbClr val="00C6A7">
                <a:alpha val="18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69" name="Text 38">
            <a:extLst>
              <a:ext uri="{FF2B5EF4-FFF2-40B4-BE49-F238E27FC236}">
                <a16:creationId xmlns:a16="http://schemas.microsoft.com/office/drawing/2014/main" id="{6B369387-EDCB-3834-4E1D-65FBC98C1718}"/>
              </a:ext>
            </a:extLst>
          </p:cNvPr>
          <p:cNvSpPr/>
          <p:nvPr/>
        </p:nvSpPr>
        <p:spPr>
          <a:xfrm>
            <a:off x="622301" y="1120378"/>
            <a:ext cx="5375479" cy="28773"/>
          </a:xfrm>
          <a:custGeom>
            <a:avLst/>
            <a:gdLst/>
            <a:ahLst/>
            <a:cxnLst/>
            <a:rect l="l" t="t" r="r" b="b"/>
            <a:pathLst>
              <a:path w="4031609" h="21580">
                <a:moveTo>
                  <a:pt x="86360" y="0"/>
                </a:moveTo>
                <a:lnTo>
                  <a:pt x="3945249" y="0"/>
                </a:lnTo>
                <a:lnTo>
                  <a:pt x="3966664" y="2698"/>
                </a:lnTo>
                <a:lnTo>
                  <a:pt x="3975294" y="5395"/>
                </a:lnTo>
                <a:lnTo>
                  <a:pt x="3981749" y="8093"/>
                </a:lnTo>
                <a:lnTo>
                  <a:pt x="3987048" y="10790"/>
                </a:lnTo>
                <a:lnTo>
                  <a:pt x="3991591" y="13488"/>
                </a:lnTo>
                <a:lnTo>
                  <a:pt x="3995583" y="16185"/>
                </a:lnTo>
                <a:lnTo>
                  <a:pt x="3999145" y="18883"/>
                </a:lnTo>
                <a:lnTo>
                  <a:pt x="4002359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15A0FF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183" name="Text 34">
            <a:extLst>
              <a:ext uri="{FF2B5EF4-FFF2-40B4-BE49-F238E27FC236}">
                <a16:creationId xmlns:a16="http://schemas.microsoft.com/office/drawing/2014/main" id="{286D2220-B3EC-2387-560E-349F30C4A491}"/>
              </a:ext>
            </a:extLst>
          </p:cNvPr>
          <p:cNvSpPr/>
          <p:nvPr/>
        </p:nvSpPr>
        <p:spPr>
          <a:xfrm>
            <a:off x="1118480" y="1209786"/>
            <a:ext cx="1582976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580"/>
              </a:lnSpc>
            </a:pPr>
            <a:r>
              <a:rPr lang="en-US" sz="1067" b="1" kern="0" spc="21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Rides Volume Trends by Year</a:t>
            </a:r>
            <a:endParaRPr lang="en-US" sz="1067" dirty="0"/>
          </a:p>
        </p:txBody>
      </p:sp>
      <p:sp>
        <p:nvSpPr>
          <p:cNvPr id="186" name="Text 6">
            <a:extLst>
              <a:ext uri="{FF2B5EF4-FFF2-40B4-BE49-F238E27FC236}">
                <a16:creationId xmlns:a16="http://schemas.microsoft.com/office/drawing/2014/main" id="{E5BAE9DB-A847-05A2-599B-7BA431FC65BC}"/>
              </a:ext>
            </a:extLst>
          </p:cNvPr>
          <p:cNvSpPr/>
          <p:nvPr/>
        </p:nvSpPr>
        <p:spPr>
          <a:xfrm>
            <a:off x="622301" y="3926667"/>
            <a:ext cx="5400873" cy="2706587"/>
          </a:xfrm>
          <a:prstGeom prst="roundRect">
            <a:avLst>
              <a:gd name="adj" fmla="val 5298"/>
            </a:avLst>
          </a:prstGeom>
          <a:solidFill>
            <a:srgbClr val="0D3D66">
              <a:alpha val="75000"/>
            </a:srgbClr>
          </a:solidFill>
          <a:ln w="9525">
            <a:solidFill>
              <a:srgbClr val="0087E2">
                <a:alpha val="48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88" name="Text 34">
            <a:extLst>
              <a:ext uri="{FF2B5EF4-FFF2-40B4-BE49-F238E27FC236}">
                <a16:creationId xmlns:a16="http://schemas.microsoft.com/office/drawing/2014/main" id="{1B667F07-692A-0092-B610-9B5FD568914D}"/>
              </a:ext>
            </a:extLst>
          </p:cNvPr>
          <p:cNvSpPr/>
          <p:nvPr/>
        </p:nvSpPr>
        <p:spPr>
          <a:xfrm>
            <a:off x="1156580" y="4022426"/>
            <a:ext cx="1582976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580"/>
              </a:lnSpc>
            </a:pPr>
            <a:r>
              <a:rPr lang="en-US" sz="1067" b="1" kern="0" spc="21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Rides Volume Trends by Year(Weekdays Vs. Weekends)</a:t>
            </a:r>
            <a:endParaRPr lang="en-US" sz="1067" dirty="0"/>
          </a:p>
        </p:txBody>
      </p:sp>
      <p:sp>
        <p:nvSpPr>
          <p:cNvPr id="189" name="Text 6">
            <a:extLst>
              <a:ext uri="{FF2B5EF4-FFF2-40B4-BE49-F238E27FC236}">
                <a16:creationId xmlns:a16="http://schemas.microsoft.com/office/drawing/2014/main" id="{6AF48249-5FDF-D2CA-89C1-E765396F014A}"/>
              </a:ext>
            </a:extLst>
          </p:cNvPr>
          <p:cNvSpPr/>
          <p:nvPr/>
        </p:nvSpPr>
        <p:spPr>
          <a:xfrm>
            <a:off x="6218917" y="1121983"/>
            <a:ext cx="5400873" cy="2748011"/>
          </a:xfrm>
          <a:prstGeom prst="roundRect">
            <a:avLst>
              <a:gd name="adj" fmla="val 5298"/>
            </a:avLst>
          </a:prstGeom>
          <a:solidFill>
            <a:srgbClr val="0D3D66">
              <a:alpha val="65000"/>
            </a:srgbClr>
          </a:solidFill>
          <a:ln w="9525">
            <a:solidFill>
              <a:srgbClr val="00C6A7">
                <a:alpha val="18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91" name="Text 34">
            <a:extLst>
              <a:ext uri="{FF2B5EF4-FFF2-40B4-BE49-F238E27FC236}">
                <a16:creationId xmlns:a16="http://schemas.microsoft.com/office/drawing/2014/main" id="{550E39D2-FD0E-E734-80DC-8C74924D659F}"/>
              </a:ext>
            </a:extLst>
          </p:cNvPr>
          <p:cNvSpPr/>
          <p:nvPr/>
        </p:nvSpPr>
        <p:spPr>
          <a:xfrm>
            <a:off x="6727796" y="1217742"/>
            <a:ext cx="2428904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580"/>
              </a:lnSpc>
            </a:pPr>
            <a:r>
              <a:rPr lang="en-US" sz="1067" b="1" kern="0" spc="21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Quarterly Rides Volume Comparison: 2016 vs 2025</a:t>
            </a:r>
            <a:endParaRPr lang="en-US" sz="1067" dirty="0"/>
          </a:p>
        </p:txBody>
      </p:sp>
      <p:sp>
        <p:nvSpPr>
          <p:cNvPr id="192" name="Text 6">
            <a:extLst>
              <a:ext uri="{FF2B5EF4-FFF2-40B4-BE49-F238E27FC236}">
                <a16:creationId xmlns:a16="http://schemas.microsoft.com/office/drawing/2014/main" id="{3E86B313-1C06-2C95-3B03-611171FE232D}"/>
              </a:ext>
            </a:extLst>
          </p:cNvPr>
          <p:cNvSpPr/>
          <p:nvPr/>
        </p:nvSpPr>
        <p:spPr>
          <a:xfrm>
            <a:off x="6218917" y="3926667"/>
            <a:ext cx="5400873" cy="2706587"/>
          </a:xfrm>
          <a:prstGeom prst="roundRect">
            <a:avLst>
              <a:gd name="adj" fmla="val 5298"/>
            </a:avLst>
          </a:prstGeom>
          <a:solidFill>
            <a:srgbClr val="0D3D66">
              <a:alpha val="75000"/>
            </a:srgbClr>
          </a:solidFill>
          <a:ln w="9525">
            <a:solidFill>
              <a:srgbClr val="0087E2">
                <a:alpha val="48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94" name="Text 34">
            <a:extLst>
              <a:ext uri="{FF2B5EF4-FFF2-40B4-BE49-F238E27FC236}">
                <a16:creationId xmlns:a16="http://schemas.microsoft.com/office/drawing/2014/main" id="{605E038E-A092-CF61-57C4-178941BE0BF3}"/>
              </a:ext>
            </a:extLst>
          </p:cNvPr>
          <p:cNvSpPr/>
          <p:nvPr/>
        </p:nvSpPr>
        <p:spPr>
          <a:xfrm>
            <a:off x="6727796" y="4022426"/>
            <a:ext cx="1582976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580"/>
              </a:lnSpc>
            </a:pPr>
            <a:r>
              <a:rPr lang="en-US" sz="1067" b="1" kern="0" spc="21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Weekday Commute-Time Ride Volume Trends </a:t>
            </a:r>
            <a:r>
              <a:rPr lang="en-US" sz="933" b="1" kern="0" spc="21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(Morning 7-9 AM, Evening 5-6 PM)</a:t>
            </a:r>
            <a:endParaRPr lang="en-US" sz="1067" dirty="0"/>
          </a:p>
        </p:txBody>
      </p:sp>
      <p:sp>
        <p:nvSpPr>
          <p:cNvPr id="208" name="Text 38">
            <a:extLst>
              <a:ext uri="{FF2B5EF4-FFF2-40B4-BE49-F238E27FC236}">
                <a16:creationId xmlns:a16="http://schemas.microsoft.com/office/drawing/2014/main" id="{9782E179-13AE-8636-E05E-92C472F4E81C}"/>
              </a:ext>
            </a:extLst>
          </p:cNvPr>
          <p:cNvSpPr/>
          <p:nvPr/>
        </p:nvSpPr>
        <p:spPr>
          <a:xfrm>
            <a:off x="6246089" y="1126727"/>
            <a:ext cx="5375479" cy="28773"/>
          </a:xfrm>
          <a:custGeom>
            <a:avLst/>
            <a:gdLst/>
            <a:ahLst/>
            <a:cxnLst/>
            <a:rect l="l" t="t" r="r" b="b"/>
            <a:pathLst>
              <a:path w="4031609" h="21580">
                <a:moveTo>
                  <a:pt x="86360" y="0"/>
                </a:moveTo>
                <a:lnTo>
                  <a:pt x="3945249" y="0"/>
                </a:lnTo>
                <a:lnTo>
                  <a:pt x="3966664" y="2698"/>
                </a:lnTo>
                <a:lnTo>
                  <a:pt x="3975294" y="5395"/>
                </a:lnTo>
                <a:lnTo>
                  <a:pt x="3981749" y="8093"/>
                </a:lnTo>
                <a:lnTo>
                  <a:pt x="3987048" y="10790"/>
                </a:lnTo>
                <a:lnTo>
                  <a:pt x="3991591" y="13488"/>
                </a:lnTo>
                <a:lnTo>
                  <a:pt x="3995583" y="16185"/>
                </a:lnTo>
                <a:lnTo>
                  <a:pt x="3999145" y="18883"/>
                </a:lnTo>
                <a:lnTo>
                  <a:pt x="4002359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15A0FF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209" name="Text 38">
            <a:extLst>
              <a:ext uri="{FF2B5EF4-FFF2-40B4-BE49-F238E27FC236}">
                <a16:creationId xmlns:a16="http://schemas.microsoft.com/office/drawing/2014/main" id="{9B690E56-CB69-F6CA-12C4-C2BDA85C581E}"/>
              </a:ext>
            </a:extLst>
          </p:cNvPr>
          <p:cNvSpPr/>
          <p:nvPr/>
        </p:nvSpPr>
        <p:spPr>
          <a:xfrm>
            <a:off x="6244311" y="3924819"/>
            <a:ext cx="5375479" cy="28773"/>
          </a:xfrm>
          <a:custGeom>
            <a:avLst/>
            <a:gdLst/>
            <a:ahLst/>
            <a:cxnLst/>
            <a:rect l="l" t="t" r="r" b="b"/>
            <a:pathLst>
              <a:path w="4031609" h="21580">
                <a:moveTo>
                  <a:pt x="86360" y="0"/>
                </a:moveTo>
                <a:lnTo>
                  <a:pt x="3945249" y="0"/>
                </a:lnTo>
                <a:lnTo>
                  <a:pt x="3966664" y="2698"/>
                </a:lnTo>
                <a:lnTo>
                  <a:pt x="3975294" y="5395"/>
                </a:lnTo>
                <a:lnTo>
                  <a:pt x="3981749" y="8093"/>
                </a:lnTo>
                <a:lnTo>
                  <a:pt x="3987048" y="10790"/>
                </a:lnTo>
                <a:lnTo>
                  <a:pt x="3991591" y="13488"/>
                </a:lnTo>
                <a:lnTo>
                  <a:pt x="3995583" y="16185"/>
                </a:lnTo>
                <a:lnTo>
                  <a:pt x="3999145" y="18883"/>
                </a:lnTo>
                <a:lnTo>
                  <a:pt x="4002359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15A0FF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210" name="Text 38">
            <a:extLst>
              <a:ext uri="{FF2B5EF4-FFF2-40B4-BE49-F238E27FC236}">
                <a16:creationId xmlns:a16="http://schemas.microsoft.com/office/drawing/2014/main" id="{15E28FB1-A7A5-81CB-1741-C074461046EA}"/>
              </a:ext>
            </a:extLst>
          </p:cNvPr>
          <p:cNvSpPr/>
          <p:nvPr/>
        </p:nvSpPr>
        <p:spPr>
          <a:xfrm>
            <a:off x="628653" y="3930096"/>
            <a:ext cx="5375479" cy="28773"/>
          </a:xfrm>
          <a:custGeom>
            <a:avLst/>
            <a:gdLst/>
            <a:ahLst/>
            <a:cxnLst/>
            <a:rect l="l" t="t" r="r" b="b"/>
            <a:pathLst>
              <a:path w="4031609" h="21580">
                <a:moveTo>
                  <a:pt x="86360" y="0"/>
                </a:moveTo>
                <a:lnTo>
                  <a:pt x="3945249" y="0"/>
                </a:lnTo>
                <a:lnTo>
                  <a:pt x="3966664" y="2698"/>
                </a:lnTo>
                <a:lnTo>
                  <a:pt x="3975294" y="5395"/>
                </a:lnTo>
                <a:lnTo>
                  <a:pt x="3981749" y="8093"/>
                </a:lnTo>
                <a:lnTo>
                  <a:pt x="3987048" y="10790"/>
                </a:lnTo>
                <a:lnTo>
                  <a:pt x="3991591" y="13488"/>
                </a:lnTo>
                <a:lnTo>
                  <a:pt x="3995583" y="16185"/>
                </a:lnTo>
                <a:lnTo>
                  <a:pt x="3999145" y="18883"/>
                </a:lnTo>
                <a:lnTo>
                  <a:pt x="4002359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15A0FF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212" name="Text 5">
            <a:extLst>
              <a:ext uri="{FF2B5EF4-FFF2-40B4-BE49-F238E27FC236}">
                <a16:creationId xmlns:a16="http://schemas.microsoft.com/office/drawing/2014/main" id="{07F7FCB3-0B51-C81D-3EEF-F9B8B366A2CB}"/>
              </a:ext>
            </a:extLst>
          </p:cNvPr>
          <p:cNvSpPr/>
          <p:nvPr/>
        </p:nvSpPr>
        <p:spPr>
          <a:xfrm>
            <a:off x="609600" y="945754"/>
            <a:ext cx="496093" cy="28773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15A0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223" name="Text 34">
            <a:extLst>
              <a:ext uri="{FF2B5EF4-FFF2-40B4-BE49-F238E27FC236}">
                <a16:creationId xmlns:a16="http://schemas.microsoft.com/office/drawing/2014/main" id="{883AF97C-A007-A652-7D8A-8FA3A8DFE709}"/>
              </a:ext>
            </a:extLst>
          </p:cNvPr>
          <p:cNvSpPr/>
          <p:nvPr/>
        </p:nvSpPr>
        <p:spPr>
          <a:xfrm>
            <a:off x="6676482" y="2697434"/>
            <a:ext cx="214487" cy="995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33" b="1" kern="0" spc="21" dirty="0">
                <a:solidFill>
                  <a:srgbClr val="4472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12%</a:t>
            </a:r>
          </a:p>
        </p:txBody>
      </p:sp>
      <p:sp>
        <p:nvSpPr>
          <p:cNvPr id="224" name="Text 34">
            <a:extLst>
              <a:ext uri="{FF2B5EF4-FFF2-40B4-BE49-F238E27FC236}">
                <a16:creationId xmlns:a16="http://schemas.microsoft.com/office/drawing/2014/main" id="{8DAB9C14-EEFF-B640-8E94-5D6AAABCA99F}"/>
              </a:ext>
            </a:extLst>
          </p:cNvPr>
          <p:cNvSpPr/>
          <p:nvPr/>
        </p:nvSpPr>
        <p:spPr>
          <a:xfrm>
            <a:off x="6668667" y="1694892"/>
            <a:ext cx="214487" cy="995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33" b="1" kern="0" spc="21" dirty="0">
                <a:solidFill>
                  <a:srgbClr val="ED7D3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32%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C9826142-AFF5-1012-A86B-74B61406A6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041" y="1517909"/>
            <a:ext cx="3569551" cy="1725399"/>
          </a:xfrm>
          <a:prstGeom prst="rect">
            <a:avLst/>
          </a:prstGeom>
        </p:spPr>
      </p:pic>
      <p:pic>
        <p:nvPicPr>
          <p:cNvPr id="181" name="Image 3" descr="preencoded.png">
            <a:extLst>
              <a:ext uri="{FF2B5EF4-FFF2-40B4-BE49-F238E27FC236}">
                <a16:creationId xmlns:a16="http://schemas.microsoft.com/office/drawing/2014/main" id="{9ED81E7C-6490-A3BA-F20A-891F286EA4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2933" y="1222188"/>
            <a:ext cx="176041" cy="179617"/>
          </a:xfrm>
          <a:prstGeom prst="rect">
            <a:avLst/>
          </a:prstGeom>
        </p:spPr>
      </p:pic>
      <p:grpSp>
        <p:nvGrpSpPr>
          <p:cNvPr id="86" name="Group 85">
            <a:extLst>
              <a:ext uri="{FF2B5EF4-FFF2-40B4-BE49-F238E27FC236}">
                <a16:creationId xmlns:a16="http://schemas.microsoft.com/office/drawing/2014/main" id="{0A687EBB-6D9B-7DF4-0DCF-E99061367EE3}"/>
              </a:ext>
            </a:extLst>
          </p:cNvPr>
          <p:cNvGrpSpPr/>
          <p:nvPr/>
        </p:nvGrpSpPr>
        <p:grpSpPr>
          <a:xfrm>
            <a:off x="945075" y="1521083"/>
            <a:ext cx="4779843" cy="1686637"/>
            <a:chOff x="1248297" y="1161839"/>
            <a:chExt cx="3584882" cy="1264978"/>
          </a:xfrm>
        </p:grpSpPr>
        <p:pic>
          <p:nvPicPr>
            <p:cNvPr id="179" name="Picture 178">
              <a:extLst>
                <a:ext uri="{FF2B5EF4-FFF2-40B4-BE49-F238E27FC236}">
                  <a16:creationId xmlns:a16="http://schemas.microsoft.com/office/drawing/2014/main" id="{63FEF654-82F6-323C-29C1-12C0E84328FD}"/>
                </a:ext>
              </a:extLst>
            </p:cNvPr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48297" y="1175884"/>
              <a:ext cx="3584882" cy="1250933"/>
            </a:xfrm>
            <a:prstGeom prst="rect">
              <a:avLst/>
            </a:prstGeom>
          </p:spPr>
        </p:pic>
        <p:sp>
          <p:nvSpPr>
            <p:cNvPr id="217" name="Text 34">
              <a:extLst>
                <a:ext uri="{FF2B5EF4-FFF2-40B4-BE49-F238E27FC236}">
                  <a16:creationId xmlns:a16="http://schemas.microsoft.com/office/drawing/2014/main" id="{5E9009F2-7065-3531-4F04-A97158F7A79F}"/>
                </a:ext>
              </a:extLst>
            </p:cNvPr>
            <p:cNvSpPr/>
            <p:nvPr/>
          </p:nvSpPr>
          <p:spPr>
            <a:xfrm>
              <a:off x="1475490" y="2008748"/>
              <a:ext cx="160189" cy="758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r>
                <a:rPr lang="en-US" sz="533" b="1" kern="0" spc="21" dirty="0">
                  <a:solidFill>
                    <a:srgbClr val="ED7D31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858,474</a:t>
              </a:r>
            </a:p>
          </p:txBody>
        </p:sp>
        <p:sp>
          <p:nvSpPr>
            <p:cNvPr id="218" name="Text 34">
              <a:extLst>
                <a:ext uri="{FF2B5EF4-FFF2-40B4-BE49-F238E27FC236}">
                  <a16:creationId xmlns:a16="http://schemas.microsoft.com/office/drawing/2014/main" id="{6E64B8AE-FB01-A59B-A1B3-E00A8D6E1F13}"/>
                </a:ext>
              </a:extLst>
            </p:cNvPr>
            <p:cNvSpPr/>
            <p:nvPr/>
          </p:nvSpPr>
          <p:spPr>
            <a:xfrm>
              <a:off x="1483831" y="1430771"/>
              <a:ext cx="120035" cy="1142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r>
                <a:rPr lang="en-US" sz="533" b="1" kern="0" spc="21" dirty="0">
                  <a:solidFill>
                    <a:srgbClr val="4472C4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2,736,869</a:t>
              </a:r>
              <a:endParaRPr lang="en-US" sz="533" b="1" dirty="0">
                <a:solidFill>
                  <a:srgbClr val="4472C4"/>
                </a:solidFill>
              </a:endParaRPr>
            </a:p>
          </p:txBody>
        </p:sp>
        <p:sp>
          <p:nvSpPr>
            <p:cNvPr id="9" name="Text 34">
              <a:extLst>
                <a:ext uri="{FF2B5EF4-FFF2-40B4-BE49-F238E27FC236}">
                  <a16:creationId xmlns:a16="http://schemas.microsoft.com/office/drawing/2014/main" id="{1FE4A68A-ED17-6AA9-DC2C-ABBAC54CFB3F}"/>
                </a:ext>
              </a:extLst>
            </p:cNvPr>
            <p:cNvSpPr/>
            <p:nvPr/>
          </p:nvSpPr>
          <p:spPr>
            <a:xfrm>
              <a:off x="4593559" y="1653775"/>
              <a:ext cx="160189" cy="758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r>
                <a:rPr lang="en-US" sz="533" b="1" kern="0" spc="21" dirty="0">
                  <a:solidFill>
                    <a:srgbClr val="ED7D31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2,024,246</a:t>
              </a:r>
            </a:p>
          </p:txBody>
        </p:sp>
        <p:sp>
          <p:nvSpPr>
            <p:cNvPr id="11" name="Text 34">
              <a:extLst>
                <a:ext uri="{FF2B5EF4-FFF2-40B4-BE49-F238E27FC236}">
                  <a16:creationId xmlns:a16="http://schemas.microsoft.com/office/drawing/2014/main" id="{0A4060A4-82AA-C3AC-722C-E064E67DD941}"/>
                </a:ext>
              </a:extLst>
            </p:cNvPr>
            <p:cNvSpPr/>
            <p:nvPr/>
          </p:nvSpPr>
          <p:spPr>
            <a:xfrm>
              <a:off x="4591361" y="1161839"/>
              <a:ext cx="212481" cy="1142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r>
                <a:rPr lang="en-US" sz="533" b="1" kern="0" spc="21" dirty="0">
                  <a:solidFill>
                    <a:srgbClr val="4472C4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3,666,535</a:t>
              </a:r>
              <a:endParaRPr lang="en-US" sz="533" b="1" dirty="0">
                <a:solidFill>
                  <a:srgbClr val="4472C4"/>
                </a:solidFill>
              </a:endParaRPr>
            </a:p>
          </p:txBody>
        </p:sp>
        <p:sp>
          <p:nvSpPr>
            <p:cNvPr id="95" name="Text 34">
              <a:extLst>
                <a:ext uri="{FF2B5EF4-FFF2-40B4-BE49-F238E27FC236}">
                  <a16:creationId xmlns:a16="http://schemas.microsoft.com/office/drawing/2014/main" id="{A520CAAE-A7C7-D229-02D7-C084C1611802}"/>
                </a:ext>
              </a:extLst>
            </p:cNvPr>
            <p:cNvSpPr/>
            <p:nvPr/>
          </p:nvSpPr>
          <p:spPr>
            <a:xfrm>
              <a:off x="2864536" y="1545051"/>
              <a:ext cx="120035" cy="1142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r>
                <a:rPr lang="en-US" sz="533" b="1" kern="0" spc="21" dirty="0">
                  <a:solidFill>
                    <a:srgbClr val="4472C4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2,175,108</a:t>
              </a:r>
              <a:endParaRPr lang="en-US" sz="533" b="1" dirty="0">
                <a:solidFill>
                  <a:srgbClr val="4472C4"/>
                </a:solidFill>
              </a:endParaRPr>
            </a:p>
          </p:txBody>
        </p:sp>
        <p:sp>
          <p:nvSpPr>
            <p:cNvPr id="96" name="Text 34">
              <a:extLst>
                <a:ext uri="{FF2B5EF4-FFF2-40B4-BE49-F238E27FC236}">
                  <a16:creationId xmlns:a16="http://schemas.microsoft.com/office/drawing/2014/main" id="{CA1AB44E-3682-CC91-4091-54FA14904581}"/>
                </a:ext>
              </a:extLst>
            </p:cNvPr>
            <p:cNvSpPr/>
            <p:nvPr/>
          </p:nvSpPr>
          <p:spPr>
            <a:xfrm>
              <a:off x="2754255" y="1847466"/>
              <a:ext cx="160189" cy="758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r>
                <a:rPr lang="en-US" sz="533" b="1" kern="0" spc="21" dirty="0">
                  <a:solidFill>
                    <a:srgbClr val="ED7D31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1,366,575</a:t>
              </a:r>
            </a:p>
          </p:txBody>
        </p:sp>
        <p:sp>
          <p:nvSpPr>
            <p:cNvPr id="97" name="Text 34">
              <a:extLst>
                <a:ext uri="{FF2B5EF4-FFF2-40B4-BE49-F238E27FC236}">
                  <a16:creationId xmlns:a16="http://schemas.microsoft.com/office/drawing/2014/main" id="{AF6B6231-D9BE-7802-A917-FE32B48AC792}"/>
                </a:ext>
              </a:extLst>
            </p:cNvPr>
            <p:cNvSpPr/>
            <p:nvPr/>
          </p:nvSpPr>
          <p:spPr>
            <a:xfrm>
              <a:off x="3271780" y="1507111"/>
              <a:ext cx="160189" cy="758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r>
                <a:rPr lang="en-US" sz="533" b="1" kern="0" spc="21" dirty="0">
                  <a:solidFill>
                    <a:srgbClr val="ED7D31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2,529,005</a:t>
              </a:r>
            </a:p>
          </p:txBody>
        </p:sp>
        <p:sp>
          <p:nvSpPr>
            <p:cNvPr id="98" name="Text 34">
              <a:extLst>
                <a:ext uri="{FF2B5EF4-FFF2-40B4-BE49-F238E27FC236}">
                  <a16:creationId xmlns:a16="http://schemas.microsoft.com/office/drawing/2014/main" id="{286C6AEC-1EE7-6FFA-14A1-C637F5D3AF3D}"/>
                </a:ext>
              </a:extLst>
            </p:cNvPr>
            <p:cNvSpPr/>
            <p:nvPr/>
          </p:nvSpPr>
          <p:spPr>
            <a:xfrm>
              <a:off x="2579870" y="1357159"/>
              <a:ext cx="120035" cy="1142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r>
                <a:rPr lang="en-US" sz="533" b="1" kern="0" spc="21" dirty="0">
                  <a:solidFill>
                    <a:srgbClr val="4472C4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2,925,926</a:t>
              </a:r>
              <a:endParaRPr lang="en-US" sz="533" b="1" dirty="0">
                <a:solidFill>
                  <a:srgbClr val="4472C4"/>
                </a:solidFill>
              </a:endParaRPr>
            </a:p>
          </p:txBody>
        </p:sp>
        <p:sp>
          <p:nvSpPr>
            <p:cNvPr id="99" name="Text 34">
              <a:extLst>
                <a:ext uri="{FF2B5EF4-FFF2-40B4-BE49-F238E27FC236}">
                  <a16:creationId xmlns:a16="http://schemas.microsoft.com/office/drawing/2014/main" id="{D6939847-D98C-D159-5A9E-9950DD8A2510}"/>
                </a:ext>
              </a:extLst>
            </p:cNvPr>
            <p:cNvSpPr/>
            <p:nvPr/>
          </p:nvSpPr>
          <p:spPr>
            <a:xfrm>
              <a:off x="3151745" y="1335223"/>
              <a:ext cx="120035" cy="1142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r>
                <a:rPr lang="en-US" sz="533" b="1" kern="0" spc="21" dirty="0">
                  <a:solidFill>
                    <a:srgbClr val="4472C4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3,066,058</a:t>
              </a:r>
              <a:endParaRPr lang="en-US" sz="533" b="1" dirty="0">
                <a:solidFill>
                  <a:srgbClr val="4472C4"/>
                </a:solidFill>
              </a:endParaRPr>
            </a:p>
          </p:txBody>
        </p:sp>
        <p:sp>
          <p:nvSpPr>
            <p:cNvPr id="100" name="Text 34">
              <a:extLst>
                <a:ext uri="{FF2B5EF4-FFF2-40B4-BE49-F238E27FC236}">
                  <a16:creationId xmlns:a16="http://schemas.microsoft.com/office/drawing/2014/main" id="{086FF822-27EF-0B99-3636-AB2F53D91B89}"/>
                </a:ext>
              </a:extLst>
            </p:cNvPr>
            <p:cNvSpPr/>
            <p:nvPr/>
          </p:nvSpPr>
          <p:spPr>
            <a:xfrm>
              <a:off x="2499775" y="1970808"/>
              <a:ext cx="160189" cy="758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r>
                <a:rPr lang="en-US" sz="533" b="1" kern="0" spc="21" dirty="0">
                  <a:solidFill>
                    <a:srgbClr val="ED7D31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880,637</a:t>
              </a:r>
            </a:p>
          </p:txBody>
        </p:sp>
      </p:grpSp>
      <p:pic>
        <p:nvPicPr>
          <p:cNvPr id="81" name="Picture 80">
            <a:extLst>
              <a:ext uri="{FF2B5EF4-FFF2-40B4-BE49-F238E27FC236}">
                <a16:creationId xmlns:a16="http://schemas.microsoft.com/office/drawing/2014/main" id="{E3D7F274-1AC6-1AAF-8D9F-72EBF0948E8B}"/>
              </a:ext>
            </a:extLst>
          </p:cNvPr>
          <p:cNvPicPr preferRelativeResize="0"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10088195" y="2412009"/>
            <a:ext cx="1152000" cy="825600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DE570A84-0EB7-5237-6B9B-CE621EE2EBA5}"/>
              </a:ext>
            </a:extLst>
          </p:cNvPr>
          <p:cNvPicPr preferRelativeResize="0"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10088195" y="1521083"/>
            <a:ext cx="1152000" cy="8256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4CD59D9-62F6-60F8-3E27-0F4F88CC32F2}"/>
              </a:ext>
            </a:extLst>
          </p:cNvPr>
          <p:cNvSpPr/>
          <p:nvPr/>
        </p:nvSpPr>
        <p:spPr>
          <a:xfrm>
            <a:off x="938725" y="1521083"/>
            <a:ext cx="4779843" cy="1686637"/>
          </a:xfrm>
          <a:prstGeom prst="roundRect">
            <a:avLst>
              <a:gd name="adj" fmla="val 2737"/>
            </a:avLst>
          </a:prstGeom>
          <a:noFill/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240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B0D7953-AB89-96BF-6AF9-124E2154DD74}"/>
              </a:ext>
            </a:extLst>
          </p:cNvPr>
          <p:cNvSpPr/>
          <p:nvPr/>
        </p:nvSpPr>
        <p:spPr>
          <a:xfrm>
            <a:off x="6460352" y="1516459"/>
            <a:ext cx="4779843" cy="1722667"/>
          </a:xfrm>
          <a:prstGeom prst="roundRect">
            <a:avLst>
              <a:gd name="adj" fmla="val 2737"/>
            </a:avLst>
          </a:prstGeom>
          <a:noFill/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2400"/>
          </a:p>
        </p:txBody>
      </p:sp>
      <p:sp>
        <p:nvSpPr>
          <p:cNvPr id="105" name="Text 0">
            <a:extLst>
              <a:ext uri="{FF2B5EF4-FFF2-40B4-BE49-F238E27FC236}">
                <a16:creationId xmlns:a16="http://schemas.microsoft.com/office/drawing/2014/main" id="{CC9B7661-4DE4-F275-B313-817FD3873AA6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E4002B">
              <a:alpha val="87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20" name="Text 28">
            <a:extLst>
              <a:ext uri="{FF2B5EF4-FFF2-40B4-BE49-F238E27FC236}">
                <a16:creationId xmlns:a16="http://schemas.microsoft.com/office/drawing/2014/main" id="{25E7B839-3069-A977-2E95-90FBB0A53BF0}"/>
              </a:ext>
            </a:extLst>
          </p:cNvPr>
          <p:cNvSpPr/>
          <p:nvPr/>
        </p:nvSpPr>
        <p:spPr>
          <a:xfrm>
            <a:off x="922932" y="3284237"/>
            <a:ext cx="4819200" cy="514001"/>
          </a:xfrm>
          <a:prstGeom prst="roundRect">
            <a:avLst>
              <a:gd name="adj" fmla="val 7779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88" name="Text 67">
            <a:extLst>
              <a:ext uri="{FF2B5EF4-FFF2-40B4-BE49-F238E27FC236}">
                <a16:creationId xmlns:a16="http://schemas.microsoft.com/office/drawing/2014/main" id="{892AFAE2-BE91-4B9B-C8B2-E6E02104DF78}"/>
              </a:ext>
            </a:extLst>
          </p:cNvPr>
          <p:cNvSpPr/>
          <p:nvPr/>
        </p:nvSpPr>
        <p:spPr>
          <a:xfrm>
            <a:off x="926023" y="3301139"/>
            <a:ext cx="4800000" cy="1270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45" name="Graphic 44" descr="Badge Tick1 with solid fill">
            <a:extLst>
              <a:ext uri="{FF2B5EF4-FFF2-40B4-BE49-F238E27FC236}">
                <a16:creationId xmlns:a16="http://schemas.microsoft.com/office/drawing/2014/main" id="{8C3DA1AB-CAE1-9E5B-3B6E-C09FD4B17E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50979" y="3319275"/>
            <a:ext cx="96000" cy="96000"/>
          </a:xfrm>
          <a:prstGeom prst="rect">
            <a:avLst/>
          </a:prstGeom>
        </p:spPr>
      </p:pic>
      <p:pic>
        <p:nvPicPr>
          <p:cNvPr id="46" name="Graphic 45" descr="Badge Tick1 with solid fill">
            <a:extLst>
              <a:ext uri="{FF2B5EF4-FFF2-40B4-BE49-F238E27FC236}">
                <a16:creationId xmlns:a16="http://schemas.microsoft.com/office/drawing/2014/main" id="{F25538BD-CF85-E03A-CD9A-49265BDF41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50979" y="3561521"/>
            <a:ext cx="96000" cy="96000"/>
          </a:xfrm>
          <a:prstGeom prst="rect">
            <a:avLst/>
          </a:prstGeom>
        </p:spPr>
      </p:pic>
      <p:pic>
        <p:nvPicPr>
          <p:cNvPr id="47" name="Graphic 46" descr="Badge Tick1 with solid fill">
            <a:extLst>
              <a:ext uri="{FF2B5EF4-FFF2-40B4-BE49-F238E27FC236}">
                <a16:creationId xmlns:a16="http://schemas.microsoft.com/office/drawing/2014/main" id="{A001BC99-42E4-28FD-E84B-0463F9F358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50979" y="3682043"/>
            <a:ext cx="96000" cy="96000"/>
          </a:xfrm>
          <a:prstGeom prst="rect">
            <a:avLst/>
          </a:prstGeom>
        </p:spPr>
      </p:pic>
      <p:pic>
        <p:nvPicPr>
          <p:cNvPr id="101" name="Graphic 100" descr="Good Idea outline">
            <a:extLst>
              <a:ext uri="{FF2B5EF4-FFF2-40B4-BE49-F238E27FC236}">
                <a16:creationId xmlns:a16="http://schemas.microsoft.com/office/drawing/2014/main" id="{F4B216D3-D7FF-2797-C0FD-FF60E0E7FC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0079" y="3385149"/>
            <a:ext cx="336000" cy="336000"/>
          </a:xfrm>
          <a:prstGeom prst="rect">
            <a:avLst/>
          </a:prstGeom>
        </p:spPr>
      </p:pic>
      <p:sp>
        <p:nvSpPr>
          <p:cNvPr id="92" name="Text 66">
            <a:extLst>
              <a:ext uri="{FF2B5EF4-FFF2-40B4-BE49-F238E27FC236}">
                <a16:creationId xmlns:a16="http://schemas.microsoft.com/office/drawing/2014/main" id="{D158B826-8F45-6F9E-FEF8-F6495E5F02B2}"/>
              </a:ext>
            </a:extLst>
          </p:cNvPr>
          <p:cNvSpPr/>
          <p:nvPr/>
        </p:nvSpPr>
        <p:spPr>
          <a:xfrm>
            <a:off x="1383207" y="3305712"/>
            <a:ext cx="4352099" cy="44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ridership </a:t>
            </a:r>
            <a:r>
              <a:rPr lang="en-US" sz="8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sharply(-25%) during the 2020 pandemic</a:t>
            </a:r>
            <a:r>
              <a:rPr lang="en-US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recovered in the following years, and has grown steadily since.</a:t>
            </a:r>
          </a:p>
          <a:p>
            <a:pPr algn="l"/>
            <a:r>
              <a:rPr lang="en-US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ridership </a:t>
            </a:r>
            <a:r>
              <a:rPr lang="en-US" sz="8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surged starting in 2020 (+55% in 2020, +85% in 2021) </a:t>
            </a:r>
            <a:r>
              <a:rPr lang="en-US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remaining high through 2025.</a:t>
            </a:r>
          </a:p>
          <a:p>
            <a:pPr algn="l"/>
            <a:r>
              <a:rPr lang="en-US" sz="8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10-Year Growth:</a:t>
            </a:r>
            <a:r>
              <a:rPr lang="en-US" sz="8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</a:t>
            </a:r>
            <a:r>
              <a:rPr lang="en-US" sz="8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en-US" sz="8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r>
              <a:rPr lang="en-US" sz="8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(2.7M -&gt; 3.7M), Casual Riders</a:t>
            </a:r>
            <a:r>
              <a:rPr lang="en-US" sz="800" b="1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+136%</a:t>
            </a:r>
            <a:r>
              <a:rPr lang="en-US" sz="933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(0.9M -&gt; 2M).</a:t>
            </a:r>
          </a:p>
        </p:txBody>
      </p:sp>
      <p:sp>
        <p:nvSpPr>
          <p:cNvPr id="126" name="Text 28">
            <a:extLst>
              <a:ext uri="{FF2B5EF4-FFF2-40B4-BE49-F238E27FC236}">
                <a16:creationId xmlns:a16="http://schemas.microsoft.com/office/drawing/2014/main" id="{5B0BE82F-7DAF-0A3F-3A8F-A973A311D55E}"/>
              </a:ext>
            </a:extLst>
          </p:cNvPr>
          <p:cNvSpPr/>
          <p:nvPr/>
        </p:nvSpPr>
        <p:spPr>
          <a:xfrm>
            <a:off x="6451315" y="3292992"/>
            <a:ext cx="4819200" cy="514001"/>
          </a:xfrm>
          <a:prstGeom prst="roundRect">
            <a:avLst>
              <a:gd name="adj" fmla="val 7779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2" name="Text 67">
            <a:extLst>
              <a:ext uri="{FF2B5EF4-FFF2-40B4-BE49-F238E27FC236}">
                <a16:creationId xmlns:a16="http://schemas.microsoft.com/office/drawing/2014/main" id="{8F9BA18E-876A-71E8-BEF1-9E5B87A0326A}"/>
              </a:ext>
            </a:extLst>
          </p:cNvPr>
          <p:cNvSpPr/>
          <p:nvPr/>
        </p:nvSpPr>
        <p:spPr>
          <a:xfrm>
            <a:off x="6465057" y="3314254"/>
            <a:ext cx="4800000" cy="1270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21" name="Text 66">
            <a:extLst>
              <a:ext uri="{FF2B5EF4-FFF2-40B4-BE49-F238E27FC236}">
                <a16:creationId xmlns:a16="http://schemas.microsoft.com/office/drawing/2014/main" id="{D760CA25-66AA-773F-6DD4-BA67E29DC9BD}"/>
              </a:ext>
            </a:extLst>
          </p:cNvPr>
          <p:cNvSpPr/>
          <p:nvPr/>
        </p:nvSpPr>
        <p:spPr>
          <a:xfrm>
            <a:off x="6928218" y="3306127"/>
            <a:ext cx="4425583" cy="44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15"/>
              </a:lnSpc>
            </a:pPr>
            <a:r>
              <a:rPr lang="en-US" sz="800" b="1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seasonality</a:t>
            </a:r>
            <a:r>
              <a:rPr lang="en-US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low usage in Q1 and Q4, peak usage in Q2 and Q3(highest in Q3)</a:t>
            </a:r>
          </a:p>
          <a:p>
            <a:pPr>
              <a:lnSpc>
                <a:spcPts val="1315"/>
              </a:lnSpc>
            </a:pPr>
            <a:r>
              <a:rPr lang="en-US" sz="800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rider </a:t>
            </a:r>
            <a:r>
              <a:rPr lang="en-US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</a:t>
            </a:r>
            <a:r>
              <a:rPr lang="en-US" sz="800" b="1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doubled in winter</a:t>
            </a:r>
            <a:r>
              <a:rPr lang="en-US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Q1(11% -&gt; 22%), Q4(16% -&gt; 31%)</a:t>
            </a:r>
          </a:p>
          <a:p>
            <a:pPr>
              <a:lnSpc>
                <a:spcPts val="1315"/>
              </a:lnSpc>
            </a:pPr>
            <a:r>
              <a:rPr lang="en-US" sz="800" b="1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increases (-&gt;40%, net by +10%) </a:t>
            </a:r>
            <a:r>
              <a:rPr lang="en-US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also notable: Q2(26% -&gt; 38%), Q3(30% -&gt; 41%)</a:t>
            </a:r>
          </a:p>
        </p:txBody>
      </p:sp>
      <p:pic>
        <p:nvPicPr>
          <p:cNvPr id="106" name="Graphic 105" descr="Badge Tick1 with solid fill">
            <a:extLst>
              <a:ext uri="{FF2B5EF4-FFF2-40B4-BE49-F238E27FC236}">
                <a16:creationId xmlns:a16="http://schemas.microsoft.com/office/drawing/2014/main" id="{8637587F-0115-7780-2577-C16B4CB00C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91620" y="3360281"/>
            <a:ext cx="96000" cy="96000"/>
          </a:xfrm>
          <a:prstGeom prst="rect">
            <a:avLst/>
          </a:prstGeom>
        </p:spPr>
      </p:pic>
      <p:pic>
        <p:nvPicPr>
          <p:cNvPr id="107" name="Graphic 106" descr="Badge Tick1 with solid fill">
            <a:extLst>
              <a:ext uri="{FF2B5EF4-FFF2-40B4-BE49-F238E27FC236}">
                <a16:creationId xmlns:a16="http://schemas.microsoft.com/office/drawing/2014/main" id="{4C27DD33-66C5-FFBF-9BD2-1DE771FA36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91620" y="3524780"/>
            <a:ext cx="96000" cy="96000"/>
          </a:xfrm>
          <a:prstGeom prst="rect">
            <a:avLst/>
          </a:prstGeom>
        </p:spPr>
      </p:pic>
      <p:pic>
        <p:nvPicPr>
          <p:cNvPr id="108" name="Graphic 107" descr="Badge Tick1 with solid fill">
            <a:extLst>
              <a:ext uri="{FF2B5EF4-FFF2-40B4-BE49-F238E27FC236}">
                <a16:creationId xmlns:a16="http://schemas.microsoft.com/office/drawing/2014/main" id="{7F650744-5FF3-B9B4-0468-0491F1C032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91620" y="3689277"/>
            <a:ext cx="96000" cy="96000"/>
          </a:xfrm>
          <a:prstGeom prst="rect">
            <a:avLst/>
          </a:prstGeom>
        </p:spPr>
      </p:pic>
      <p:pic>
        <p:nvPicPr>
          <p:cNvPr id="111" name="Graphic 110" descr="Artificial Intelligence outline">
            <a:extLst>
              <a:ext uri="{FF2B5EF4-FFF2-40B4-BE49-F238E27FC236}">
                <a16:creationId xmlns:a16="http://schemas.microsoft.com/office/drawing/2014/main" id="{827D202C-315C-D093-AC91-49208AB115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37789" y="3381673"/>
            <a:ext cx="336000" cy="336000"/>
          </a:xfrm>
          <a:prstGeom prst="rect">
            <a:avLst/>
          </a:prstGeom>
        </p:spPr>
      </p:pic>
      <p:sp>
        <p:nvSpPr>
          <p:cNvPr id="128" name="Text 28">
            <a:extLst>
              <a:ext uri="{FF2B5EF4-FFF2-40B4-BE49-F238E27FC236}">
                <a16:creationId xmlns:a16="http://schemas.microsoft.com/office/drawing/2014/main" id="{4098F79B-5B63-27EA-7B46-03CDFAEA4998}"/>
              </a:ext>
            </a:extLst>
          </p:cNvPr>
          <p:cNvSpPr/>
          <p:nvPr/>
        </p:nvSpPr>
        <p:spPr>
          <a:xfrm>
            <a:off x="884486" y="6029033"/>
            <a:ext cx="4850820" cy="514001"/>
          </a:xfrm>
          <a:prstGeom prst="roundRect">
            <a:avLst>
              <a:gd name="adj" fmla="val 7779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5" name="Text 67">
            <a:extLst>
              <a:ext uri="{FF2B5EF4-FFF2-40B4-BE49-F238E27FC236}">
                <a16:creationId xmlns:a16="http://schemas.microsoft.com/office/drawing/2014/main" id="{E66B96ED-910B-EB7E-B36E-6A53B3C4FCD1}"/>
              </a:ext>
            </a:extLst>
          </p:cNvPr>
          <p:cNvSpPr/>
          <p:nvPr/>
        </p:nvSpPr>
        <p:spPr>
          <a:xfrm>
            <a:off x="913355" y="6050417"/>
            <a:ext cx="4800000" cy="1270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113" name="Graphic 112" descr="Head with gears outline">
            <a:extLst>
              <a:ext uri="{FF2B5EF4-FFF2-40B4-BE49-F238E27FC236}">
                <a16:creationId xmlns:a16="http://schemas.microsoft.com/office/drawing/2014/main" id="{0E120914-FE4D-C55E-9DE0-8428A96E18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38725" y="6119668"/>
            <a:ext cx="336000" cy="336000"/>
          </a:xfrm>
          <a:prstGeom prst="rect">
            <a:avLst/>
          </a:prstGeom>
        </p:spPr>
      </p:pic>
      <p:sp>
        <p:nvSpPr>
          <p:cNvPr id="130" name="Text 28">
            <a:extLst>
              <a:ext uri="{FF2B5EF4-FFF2-40B4-BE49-F238E27FC236}">
                <a16:creationId xmlns:a16="http://schemas.microsoft.com/office/drawing/2014/main" id="{DE9F7B1A-5515-7898-93AF-17797E770FFA}"/>
              </a:ext>
            </a:extLst>
          </p:cNvPr>
          <p:cNvSpPr/>
          <p:nvPr/>
        </p:nvSpPr>
        <p:spPr>
          <a:xfrm>
            <a:off x="6444965" y="6025252"/>
            <a:ext cx="4862551" cy="514001"/>
          </a:xfrm>
          <a:prstGeom prst="roundRect">
            <a:avLst>
              <a:gd name="adj" fmla="val 7779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115" name="Graphic 114" descr="Dinosaur Head Skeleton outline">
            <a:extLst>
              <a:ext uri="{FF2B5EF4-FFF2-40B4-BE49-F238E27FC236}">
                <a16:creationId xmlns:a16="http://schemas.microsoft.com/office/drawing/2014/main" id="{EB1C5AEB-107E-DA6E-376B-ACA09EF4F305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54001" y="6100387"/>
            <a:ext cx="312000" cy="336000"/>
          </a:xfrm>
          <a:prstGeom prst="rect">
            <a:avLst/>
          </a:prstGeom>
        </p:spPr>
      </p:pic>
      <p:sp>
        <p:nvSpPr>
          <p:cNvPr id="132" name="Text 66">
            <a:extLst>
              <a:ext uri="{FF2B5EF4-FFF2-40B4-BE49-F238E27FC236}">
                <a16:creationId xmlns:a16="http://schemas.microsoft.com/office/drawing/2014/main" id="{82D2E906-0D51-38DE-67EA-BD9F16ECC46A}"/>
              </a:ext>
            </a:extLst>
          </p:cNvPr>
          <p:cNvSpPr/>
          <p:nvPr/>
        </p:nvSpPr>
        <p:spPr>
          <a:xfrm>
            <a:off x="1390442" y="6043220"/>
            <a:ext cx="4346641" cy="44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</a:t>
            </a:r>
            <a:r>
              <a:rPr lang="en-US" sz="800" b="1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</a:t>
            </a:r>
            <a:r>
              <a:rPr lang="en-US" sz="800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ridership</a:t>
            </a:r>
            <a:r>
              <a:rPr lang="en-US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grew dramatically by </a:t>
            </a:r>
            <a:r>
              <a:rPr lang="en-US" sz="800" b="1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200%</a:t>
            </a:r>
            <a:r>
              <a:rPr lang="en-US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(0.43M-&gt;1.27M), far exceeding the weekend growth of </a:t>
            </a:r>
            <a:r>
              <a:rPr lang="en-US" sz="800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r>
              <a:rPr lang="en-US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(0.43M-&gt;0.75M).</a:t>
            </a:r>
            <a:endParaRPr lang="en-CA" sz="800" dirty="0">
              <a:solidFill>
                <a:srgbClr val="0087E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CA" sz="800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</a:t>
            </a:r>
            <a:r>
              <a:rPr lang="en-CA" sz="800" b="1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r>
              <a:rPr lang="ko-KR" altLang="en-US" sz="800" dirty="0">
                <a:solidFill>
                  <a:srgbClr val="0087E2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CA" altLang="ko-KR" sz="800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ridership</a:t>
            </a:r>
            <a:r>
              <a:rPr lang="ko-KR" altLang="en-US" sz="800" dirty="0">
                <a:solidFill>
                  <a:srgbClr val="0087E2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CA" altLang="ko-KR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by </a:t>
            </a:r>
            <a:r>
              <a:rPr lang="en-CA" altLang="ko-KR" sz="800" b="1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r>
              <a:rPr lang="en-CA" altLang="ko-KR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(2.18M-&gt;2.81M), lower than the weekend growth of </a:t>
            </a:r>
            <a:r>
              <a:rPr lang="en-CA" altLang="ko-KR" sz="800" b="1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</a:t>
            </a:r>
            <a:r>
              <a:rPr lang="en-CA" altLang="ko-KR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(0.56M-&gt;0.85M).</a:t>
            </a:r>
            <a:endParaRPr lang="en-US" sz="800" dirty="0">
              <a:solidFill>
                <a:srgbClr val="1A3A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134" name="Graphic 133" descr="Badge Tick1 with solid fill">
            <a:extLst>
              <a:ext uri="{FF2B5EF4-FFF2-40B4-BE49-F238E27FC236}">
                <a16:creationId xmlns:a16="http://schemas.microsoft.com/office/drawing/2014/main" id="{08DB4EEB-06DF-B089-D4A8-6634810785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61191" y="6062445"/>
            <a:ext cx="96000" cy="96000"/>
          </a:xfrm>
          <a:prstGeom prst="rect">
            <a:avLst/>
          </a:prstGeom>
        </p:spPr>
      </p:pic>
      <p:pic>
        <p:nvPicPr>
          <p:cNvPr id="136" name="Graphic 135" descr="Badge Tick1 with solid fill">
            <a:extLst>
              <a:ext uri="{FF2B5EF4-FFF2-40B4-BE49-F238E27FC236}">
                <a16:creationId xmlns:a16="http://schemas.microsoft.com/office/drawing/2014/main" id="{080D782C-75CD-2788-D777-AADA5181ED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61191" y="6311661"/>
            <a:ext cx="96000" cy="96000"/>
          </a:xfrm>
          <a:prstGeom prst="rect">
            <a:avLst/>
          </a:prstGeom>
        </p:spPr>
      </p:pic>
      <p:pic>
        <p:nvPicPr>
          <p:cNvPr id="50" name="Graphic 49" descr="Upward trend with solid fill">
            <a:extLst>
              <a:ext uri="{FF2B5EF4-FFF2-40B4-BE49-F238E27FC236}">
                <a16:creationId xmlns:a16="http://schemas.microsoft.com/office/drawing/2014/main" id="{89A49F44-3E55-67FC-1489-D6CF23857F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79787" y="3986672"/>
            <a:ext cx="273600" cy="281569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5CBFED23-A2F5-9900-73DC-EAABC0FE667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1407" y="4307061"/>
            <a:ext cx="4800000" cy="1656908"/>
          </a:xfrm>
          <a:prstGeom prst="rect">
            <a:avLst/>
          </a:prstGeom>
        </p:spPr>
      </p:pic>
      <p:sp>
        <p:nvSpPr>
          <p:cNvPr id="56" name="Text 34">
            <a:extLst>
              <a:ext uri="{FF2B5EF4-FFF2-40B4-BE49-F238E27FC236}">
                <a16:creationId xmlns:a16="http://schemas.microsoft.com/office/drawing/2014/main" id="{69A56D9F-AC46-38B4-A7BC-FD9E01481F1F}"/>
              </a:ext>
            </a:extLst>
          </p:cNvPr>
          <p:cNvSpPr/>
          <p:nvPr/>
        </p:nvSpPr>
        <p:spPr>
          <a:xfrm>
            <a:off x="6743967" y="4606390"/>
            <a:ext cx="160047" cy="1523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33" b="1" kern="0" spc="21" dirty="0">
                <a:solidFill>
                  <a:srgbClr val="4472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429,092</a:t>
            </a:r>
            <a:endParaRPr lang="en-US" sz="533" b="1" dirty="0">
              <a:solidFill>
                <a:srgbClr val="4472C4"/>
              </a:solidFill>
            </a:endParaRPr>
          </a:p>
        </p:txBody>
      </p:sp>
      <p:sp>
        <p:nvSpPr>
          <p:cNvPr id="57" name="Text 34">
            <a:extLst>
              <a:ext uri="{FF2B5EF4-FFF2-40B4-BE49-F238E27FC236}">
                <a16:creationId xmlns:a16="http://schemas.microsoft.com/office/drawing/2014/main" id="{6A45B57D-5BBB-A9AB-0FDF-36BAF19BC61D}"/>
              </a:ext>
            </a:extLst>
          </p:cNvPr>
          <p:cNvSpPr/>
          <p:nvPr/>
        </p:nvSpPr>
        <p:spPr>
          <a:xfrm>
            <a:off x="6743967" y="5196539"/>
            <a:ext cx="160047" cy="1523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33" b="1" kern="0" spc="21" dirty="0">
                <a:solidFill>
                  <a:srgbClr val="168B1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303,062</a:t>
            </a:r>
            <a:endParaRPr lang="en-US" sz="533" b="1" dirty="0">
              <a:solidFill>
                <a:srgbClr val="168B16"/>
              </a:solidFill>
            </a:endParaRPr>
          </a:p>
        </p:txBody>
      </p:sp>
      <p:sp>
        <p:nvSpPr>
          <p:cNvPr id="58" name="Text 34">
            <a:extLst>
              <a:ext uri="{FF2B5EF4-FFF2-40B4-BE49-F238E27FC236}">
                <a16:creationId xmlns:a16="http://schemas.microsoft.com/office/drawing/2014/main" id="{57DAA454-F27C-8E48-73AB-12CEB4E2554E}"/>
              </a:ext>
            </a:extLst>
          </p:cNvPr>
          <p:cNvSpPr/>
          <p:nvPr/>
        </p:nvSpPr>
        <p:spPr>
          <a:xfrm>
            <a:off x="6743967" y="5637310"/>
            <a:ext cx="160047" cy="1523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33" b="1" kern="0" spc="21" dirty="0">
                <a:solidFill>
                  <a:srgbClr val="FF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12,448</a:t>
            </a:r>
            <a:endParaRPr lang="en-US" sz="533" b="1" dirty="0">
              <a:solidFill>
                <a:srgbClr val="FF0000"/>
              </a:solidFill>
            </a:endParaRPr>
          </a:p>
        </p:txBody>
      </p:sp>
      <p:sp>
        <p:nvSpPr>
          <p:cNvPr id="59" name="Text 34">
            <a:extLst>
              <a:ext uri="{FF2B5EF4-FFF2-40B4-BE49-F238E27FC236}">
                <a16:creationId xmlns:a16="http://schemas.microsoft.com/office/drawing/2014/main" id="{10DB4AD2-4B70-D64D-3645-E0712861CBEF}"/>
              </a:ext>
            </a:extLst>
          </p:cNvPr>
          <p:cNvSpPr/>
          <p:nvPr/>
        </p:nvSpPr>
        <p:spPr>
          <a:xfrm>
            <a:off x="6743967" y="5415863"/>
            <a:ext cx="160047" cy="1523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33" b="1" kern="0" spc="21" dirty="0">
                <a:solidFill>
                  <a:srgbClr val="FF66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37,485</a:t>
            </a:r>
            <a:endParaRPr lang="en-US" sz="533" b="1" dirty="0">
              <a:solidFill>
                <a:srgbClr val="FF6600"/>
              </a:solidFill>
            </a:endParaRPr>
          </a:p>
        </p:txBody>
      </p:sp>
      <p:sp>
        <p:nvSpPr>
          <p:cNvPr id="60" name="Text 34">
            <a:extLst>
              <a:ext uri="{FF2B5EF4-FFF2-40B4-BE49-F238E27FC236}">
                <a16:creationId xmlns:a16="http://schemas.microsoft.com/office/drawing/2014/main" id="{4C6F24E1-0FF4-7E60-43BD-4F3E67F1BE2A}"/>
              </a:ext>
            </a:extLst>
          </p:cNvPr>
          <p:cNvSpPr/>
          <p:nvPr/>
        </p:nvSpPr>
        <p:spPr>
          <a:xfrm>
            <a:off x="10770766" y="4652291"/>
            <a:ext cx="160047" cy="1523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33" b="1" kern="0" spc="21" dirty="0">
                <a:solidFill>
                  <a:srgbClr val="4472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426,043</a:t>
            </a:r>
            <a:endParaRPr lang="en-US" sz="533" b="1" dirty="0">
              <a:solidFill>
                <a:srgbClr val="4472C4"/>
              </a:solidFill>
            </a:endParaRPr>
          </a:p>
        </p:txBody>
      </p:sp>
      <p:sp>
        <p:nvSpPr>
          <p:cNvPr id="61" name="Text 34">
            <a:extLst>
              <a:ext uri="{FF2B5EF4-FFF2-40B4-BE49-F238E27FC236}">
                <a16:creationId xmlns:a16="http://schemas.microsoft.com/office/drawing/2014/main" id="{CA35900B-AF21-9715-E6FE-0DB6D5B22F6C}"/>
              </a:ext>
            </a:extLst>
          </p:cNvPr>
          <p:cNvSpPr/>
          <p:nvPr/>
        </p:nvSpPr>
        <p:spPr>
          <a:xfrm>
            <a:off x="10788454" y="5064863"/>
            <a:ext cx="160047" cy="1523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33" b="1" kern="0" spc="21" dirty="0">
                <a:solidFill>
                  <a:srgbClr val="168B1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332,845</a:t>
            </a:r>
            <a:endParaRPr lang="en-US" sz="533" b="1" dirty="0">
              <a:solidFill>
                <a:srgbClr val="168B16"/>
              </a:solidFill>
            </a:endParaRPr>
          </a:p>
        </p:txBody>
      </p:sp>
      <p:sp>
        <p:nvSpPr>
          <p:cNvPr id="62" name="Text 34">
            <a:extLst>
              <a:ext uri="{FF2B5EF4-FFF2-40B4-BE49-F238E27FC236}">
                <a16:creationId xmlns:a16="http://schemas.microsoft.com/office/drawing/2014/main" id="{1355BAB5-0338-5D0A-DD3F-1834CC7E320F}"/>
              </a:ext>
            </a:extLst>
          </p:cNvPr>
          <p:cNvSpPr/>
          <p:nvPr/>
        </p:nvSpPr>
        <p:spPr>
          <a:xfrm>
            <a:off x="10780131" y="4886151"/>
            <a:ext cx="160047" cy="1523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33" b="1" kern="0" spc="21" dirty="0">
                <a:solidFill>
                  <a:srgbClr val="FF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99,751</a:t>
            </a:r>
            <a:endParaRPr lang="en-US" sz="533" b="1" dirty="0">
              <a:solidFill>
                <a:srgbClr val="FF0000"/>
              </a:solidFill>
            </a:endParaRPr>
          </a:p>
        </p:txBody>
      </p:sp>
      <p:sp>
        <p:nvSpPr>
          <p:cNvPr id="64" name="Text 34">
            <a:extLst>
              <a:ext uri="{FF2B5EF4-FFF2-40B4-BE49-F238E27FC236}">
                <a16:creationId xmlns:a16="http://schemas.microsoft.com/office/drawing/2014/main" id="{108CF6C6-DE62-B813-0297-0BB144ED6FD5}"/>
              </a:ext>
            </a:extLst>
          </p:cNvPr>
          <p:cNvSpPr/>
          <p:nvPr/>
        </p:nvSpPr>
        <p:spPr>
          <a:xfrm>
            <a:off x="10780131" y="4483867"/>
            <a:ext cx="160047" cy="1523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33" b="1" kern="0" spc="21" dirty="0">
                <a:solidFill>
                  <a:srgbClr val="FF66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138,936</a:t>
            </a:r>
            <a:endParaRPr lang="en-US" sz="533" b="1" dirty="0">
              <a:solidFill>
                <a:srgbClr val="FF66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06BBADD-C4F2-ECC3-81B2-6BF84C6CFC8E}"/>
              </a:ext>
            </a:extLst>
          </p:cNvPr>
          <p:cNvSpPr/>
          <p:nvPr/>
        </p:nvSpPr>
        <p:spPr>
          <a:xfrm>
            <a:off x="6465859" y="4295223"/>
            <a:ext cx="4800000" cy="1670400"/>
          </a:xfrm>
          <a:prstGeom prst="roundRect">
            <a:avLst>
              <a:gd name="adj" fmla="val 2737"/>
            </a:avLst>
          </a:prstGeom>
          <a:noFill/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2400"/>
          </a:p>
        </p:txBody>
      </p:sp>
      <p:sp>
        <p:nvSpPr>
          <p:cNvPr id="67" name="Text 66">
            <a:extLst>
              <a:ext uri="{FF2B5EF4-FFF2-40B4-BE49-F238E27FC236}">
                <a16:creationId xmlns:a16="http://schemas.microsoft.com/office/drawing/2014/main" id="{1C08B579-DB88-C922-3F3A-5BFC5AA2C383}"/>
              </a:ext>
            </a:extLst>
          </p:cNvPr>
          <p:cNvSpPr/>
          <p:nvPr/>
        </p:nvSpPr>
        <p:spPr>
          <a:xfrm>
            <a:off x="6919218" y="6044577"/>
            <a:ext cx="4434583" cy="44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weekday data(Mon –Fri), focusing on morning(7-9 AM) and evening(5-6 PM).</a:t>
            </a:r>
          </a:p>
          <a:p>
            <a:r>
              <a:rPr lang="en-US" sz="800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</a:t>
            </a:r>
            <a:r>
              <a:rPr lang="en-US" sz="800" b="1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</a:t>
            </a:r>
            <a:r>
              <a:rPr lang="en-US" sz="800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ridership</a:t>
            </a:r>
            <a:r>
              <a:rPr lang="en-US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grew </a:t>
            </a:r>
            <a:r>
              <a:rPr lang="en-US" sz="800" b="1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670% </a:t>
            </a:r>
            <a:r>
              <a:rPr lang="en-US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(0.01M-&gt;0.10M), evening casual ridership grew </a:t>
            </a:r>
            <a:r>
              <a:rPr lang="en-US" sz="800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271% </a:t>
            </a:r>
            <a:r>
              <a:rPr lang="en-US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(0.04M-&gt;1.4M)</a:t>
            </a:r>
            <a:r>
              <a:rPr lang="en-US" sz="533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CA" sz="800" dirty="0"/>
              <a:t>— </a:t>
            </a:r>
            <a:r>
              <a:rPr lang="en-US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far exceeding the overall weekday casual growth of </a:t>
            </a:r>
            <a:r>
              <a:rPr lang="en-US" sz="800" b="1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200%</a:t>
            </a:r>
            <a:r>
              <a:rPr lang="en-US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CA" sz="800" dirty="0">
              <a:solidFill>
                <a:srgbClr val="0087E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CA" sz="800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</a:t>
            </a:r>
            <a:r>
              <a:rPr lang="en-CA" sz="800" b="1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r>
              <a:rPr lang="ko-KR" altLang="en-US" sz="800" dirty="0">
                <a:solidFill>
                  <a:srgbClr val="0087E2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CA" altLang="ko-KR" sz="800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ridership</a:t>
            </a:r>
            <a:r>
              <a:rPr lang="ko-KR" altLang="en-US" sz="800" dirty="0">
                <a:solidFill>
                  <a:srgbClr val="1A3A30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CA" altLang="ko-KR" sz="800" dirty="0">
                <a:solidFill>
                  <a:srgbClr val="1A3A30"/>
                </a:solidFill>
                <a:latin typeface="Calibri" pitchFamily="34" charset="0"/>
                <a:cs typeface="Calibri" pitchFamily="34" charset="-120"/>
              </a:rPr>
              <a:t>remained </a:t>
            </a:r>
            <a:r>
              <a:rPr lang="en-CA" altLang="ko-KR" sz="800" b="1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</a:t>
            </a:r>
            <a:r>
              <a:rPr lang="en-CA" altLang="ko-KR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evening ridership increased by </a:t>
            </a:r>
            <a:r>
              <a:rPr lang="en-CA" altLang="ko-KR" sz="800" b="1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r>
              <a:rPr lang="en-CA" altLang="ko-KR" sz="667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(0.3M-&gt;0.33M)</a:t>
            </a:r>
            <a:r>
              <a:rPr lang="en-CA" altLang="ko-KR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00" dirty="0">
              <a:solidFill>
                <a:srgbClr val="1A3A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68" name="Graphic 67" descr="Badge Tick1 with solid fill">
            <a:extLst>
              <a:ext uri="{FF2B5EF4-FFF2-40B4-BE49-F238E27FC236}">
                <a16:creationId xmlns:a16="http://schemas.microsoft.com/office/drawing/2014/main" id="{D2A57D8D-3120-9EEF-1492-9F3E8B8383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89967" y="6182336"/>
            <a:ext cx="96000" cy="96000"/>
          </a:xfrm>
          <a:prstGeom prst="rect">
            <a:avLst/>
          </a:prstGeom>
        </p:spPr>
      </p:pic>
      <p:pic>
        <p:nvPicPr>
          <p:cNvPr id="69" name="Graphic 68" descr="Badge Tick1 with solid fill">
            <a:extLst>
              <a:ext uri="{FF2B5EF4-FFF2-40B4-BE49-F238E27FC236}">
                <a16:creationId xmlns:a16="http://schemas.microsoft.com/office/drawing/2014/main" id="{1C6B6711-2A67-2FC5-BC10-B5C2208E3D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89967" y="6431552"/>
            <a:ext cx="96000" cy="96000"/>
          </a:xfrm>
          <a:prstGeom prst="rect">
            <a:avLst/>
          </a:prstGeom>
        </p:spPr>
      </p:pic>
      <p:grpSp>
        <p:nvGrpSpPr>
          <p:cNvPr id="82" name="Graphic 72" descr="Bar graph with upward trend outline">
            <a:extLst>
              <a:ext uri="{FF2B5EF4-FFF2-40B4-BE49-F238E27FC236}">
                <a16:creationId xmlns:a16="http://schemas.microsoft.com/office/drawing/2014/main" id="{D9DEC2D6-E9BC-738A-65E3-52FDA003BA04}"/>
              </a:ext>
            </a:extLst>
          </p:cNvPr>
          <p:cNvGrpSpPr/>
          <p:nvPr/>
        </p:nvGrpSpPr>
        <p:grpSpPr>
          <a:xfrm>
            <a:off x="6508913" y="4063378"/>
            <a:ext cx="170167" cy="169701"/>
            <a:chOff x="4902730" y="3047533"/>
            <a:chExt cx="106579" cy="106579"/>
          </a:xfrm>
          <a:solidFill>
            <a:srgbClr val="0087E2"/>
          </a:solidFill>
        </p:grpSpPr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9BEA9E7-FD6E-43C0-B344-34F060467949}"/>
                </a:ext>
              </a:extLst>
            </p:cNvPr>
            <p:cNvSpPr/>
            <p:nvPr/>
          </p:nvSpPr>
          <p:spPr>
            <a:xfrm>
              <a:off x="4902730" y="3047533"/>
              <a:ext cx="106532" cy="106579"/>
            </a:xfrm>
            <a:custGeom>
              <a:avLst/>
              <a:gdLst>
                <a:gd name="csX0" fmla="*/ 106532 w 106532"/>
                <a:gd name="csY0" fmla="*/ 103445 h 106579"/>
                <a:gd name="csX1" fmla="*/ 3135 w 106532"/>
                <a:gd name="csY1" fmla="*/ 103445 h 106579"/>
                <a:gd name="csX2" fmla="*/ 3135 w 106532"/>
                <a:gd name="csY2" fmla="*/ 0 h 106579"/>
                <a:gd name="csX3" fmla="*/ 0 w 106532"/>
                <a:gd name="csY3" fmla="*/ 0 h 106579"/>
                <a:gd name="csX4" fmla="*/ 0 w 106532"/>
                <a:gd name="csY4" fmla="*/ 106579 h 106579"/>
                <a:gd name="csX5" fmla="*/ 106532 w 106532"/>
                <a:gd name="csY5" fmla="*/ 106579 h 106579"/>
                <a:gd name="csX6" fmla="*/ 106532 w 106532"/>
                <a:gd name="csY6" fmla="*/ 103445 h 1065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06532" h="106579">
                  <a:moveTo>
                    <a:pt x="106532" y="103445"/>
                  </a:moveTo>
                  <a:lnTo>
                    <a:pt x="3135" y="103445"/>
                  </a:lnTo>
                  <a:lnTo>
                    <a:pt x="3135" y="0"/>
                  </a:lnTo>
                  <a:lnTo>
                    <a:pt x="0" y="0"/>
                  </a:lnTo>
                  <a:lnTo>
                    <a:pt x="0" y="106579"/>
                  </a:lnTo>
                  <a:lnTo>
                    <a:pt x="106532" y="106579"/>
                  </a:lnTo>
                  <a:lnTo>
                    <a:pt x="106532" y="103445"/>
                  </a:lnTo>
                  <a:close/>
                </a:path>
              </a:pathLst>
            </a:custGeom>
            <a:solidFill>
              <a:srgbClr val="0087E2"/>
            </a:solidFill>
            <a:ln w="3663" cap="flat">
              <a:solidFill>
                <a:srgbClr val="0087E2"/>
              </a:solidFill>
              <a:prstDash val="solid"/>
              <a:miter/>
            </a:ln>
          </p:spPr>
          <p:txBody>
            <a:bodyPr/>
            <a:lstStyle/>
            <a:p>
              <a:endParaRPr lang="en-CA" sz="240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5D52E40B-097E-1A2C-DF4D-65D9EAEF2D0A}"/>
                </a:ext>
              </a:extLst>
            </p:cNvPr>
            <p:cNvSpPr/>
            <p:nvPr/>
          </p:nvSpPr>
          <p:spPr>
            <a:xfrm>
              <a:off x="4984232" y="3047533"/>
              <a:ext cx="25077" cy="94040"/>
            </a:xfrm>
            <a:custGeom>
              <a:avLst/>
              <a:gdLst>
                <a:gd name="csX0" fmla="*/ 25078 w 25077"/>
                <a:gd name="csY0" fmla="*/ 0 h 94040"/>
                <a:gd name="csX1" fmla="*/ 0 w 25077"/>
                <a:gd name="csY1" fmla="*/ 0 h 94040"/>
                <a:gd name="csX2" fmla="*/ 0 w 25077"/>
                <a:gd name="csY2" fmla="*/ 94041 h 94040"/>
                <a:gd name="csX3" fmla="*/ 25078 w 25077"/>
                <a:gd name="csY3" fmla="*/ 94041 h 94040"/>
                <a:gd name="csX4" fmla="*/ 21943 w 25077"/>
                <a:gd name="csY4" fmla="*/ 90906 h 94040"/>
                <a:gd name="csX5" fmla="*/ 3135 w 25077"/>
                <a:gd name="csY5" fmla="*/ 90906 h 94040"/>
                <a:gd name="csX6" fmla="*/ 3135 w 25077"/>
                <a:gd name="csY6" fmla="*/ 3135 h 94040"/>
                <a:gd name="csX7" fmla="*/ 21943 w 25077"/>
                <a:gd name="csY7" fmla="*/ 3135 h 940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5077" h="94040">
                  <a:moveTo>
                    <a:pt x="25078" y="0"/>
                  </a:moveTo>
                  <a:lnTo>
                    <a:pt x="0" y="0"/>
                  </a:lnTo>
                  <a:lnTo>
                    <a:pt x="0" y="94041"/>
                  </a:lnTo>
                  <a:lnTo>
                    <a:pt x="25078" y="94041"/>
                  </a:lnTo>
                  <a:close/>
                  <a:moveTo>
                    <a:pt x="21943" y="90906"/>
                  </a:moveTo>
                  <a:lnTo>
                    <a:pt x="3135" y="90906"/>
                  </a:lnTo>
                  <a:lnTo>
                    <a:pt x="3135" y="3135"/>
                  </a:lnTo>
                  <a:lnTo>
                    <a:pt x="21943" y="3135"/>
                  </a:lnTo>
                  <a:close/>
                </a:path>
              </a:pathLst>
            </a:custGeom>
            <a:solidFill>
              <a:srgbClr val="0087E2"/>
            </a:solidFill>
            <a:ln w="6350" cap="flat">
              <a:solidFill>
                <a:srgbClr val="0087E2"/>
              </a:solidFill>
              <a:prstDash val="solid"/>
              <a:miter/>
            </a:ln>
          </p:spPr>
          <p:txBody>
            <a:bodyPr/>
            <a:lstStyle/>
            <a:p>
              <a:endParaRPr lang="en-CA" sz="240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A8DC637C-AC20-3B29-3D3C-9EB9A2BD57B4}"/>
                </a:ext>
              </a:extLst>
            </p:cNvPr>
            <p:cNvSpPr/>
            <p:nvPr/>
          </p:nvSpPr>
          <p:spPr>
            <a:xfrm>
              <a:off x="4949751" y="3082014"/>
              <a:ext cx="25077" cy="59559"/>
            </a:xfrm>
            <a:custGeom>
              <a:avLst/>
              <a:gdLst>
                <a:gd name="csX0" fmla="*/ 0 w 25077"/>
                <a:gd name="csY0" fmla="*/ 59559 h 59559"/>
                <a:gd name="csX1" fmla="*/ 25078 w 25077"/>
                <a:gd name="csY1" fmla="*/ 59559 h 59559"/>
                <a:gd name="csX2" fmla="*/ 25078 w 25077"/>
                <a:gd name="csY2" fmla="*/ 0 h 59559"/>
                <a:gd name="csX3" fmla="*/ 0 w 25077"/>
                <a:gd name="csY3" fmla="*/ 0 h 59559"/>
                <a:gd name="csX4" fmla="*/ 3135 w 25077"/>
                <a:gd name="csY4" fmla="*/ 3135 h 59559"/>
                <a:gd name="csX5" fmla="*/ 21943 w 25077"/>
                <a:gd name="csY5" fmla="*/ 3135 h 59559"/>
                <a:gd name="csX6" fmla="*/ 21943 w 25077"/>
                <a:gd name="csY6" fmla="*/ 56424 h 59559"/>
                <a:gd name="csX7" fmla="*/ 3135 w 25077"/>
                <a:gd name="csY7" fmla="*/ 56424 h 595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5077" h="59559">
                  <a:moveTo>
                    <a:pt x="0" y="59559"/>
                  </a:moveTo>
                  <a:lnTo>
                    <a:pt x="25078" y="59559"/>
                  </a:lnTo>
                  <a:lnTo>
                    <a:pt x="25078" y="0"/>
                  </a:lnTo>
                  <a:lnTo>
                    <a:pt x="0" y="0"/>
                  </a:lnTo>
                  <a:close/>
                  <a:moveTo>
                    <a:pt x="3135" y="3135"/>
                  </a:moveTo>
                  <a:lnTo>
                    <a:pt x="21943" y="3135"/>
                  </a:lnTo>
                  <a:lnTo>
                    <a:pt x="21943" y="56424"/>
                  </a:lnTo>
                  <a:lnTo>
                    <a:pt x="3135" y="56424"/>
                  </a:lnTo>
                  <a:close/>
                </a:path>
              </a:pathLst>
            </a:custGeom>
            <a:solidFill>
              <a:srgbClr val="0087E2"/>
            </a:solidFill>
            <a:ln w="6350" cap="flat">
              <a:solidFill>
                <a:srgbClr val="0087E2"/>
              </a:solidFill>
              <a:prstDash val="solid"/>
              <a:miter/>
            </a:ln>
          </p:spPr>
          <p:txBody>
            <a:bodyPr/>
            <a:lstStyle/>
            <a:p>
              <a:endParaRPr lang="en-CA" sz="240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2A14905-E5B7-983D-8ED5-32CEFFE0589F}"/>
                </a:ext>
              </a:extLst>
            </p:cNvPr>
            <p:cNvSpPr/>
            <p:nvPr/>
          </p:nvSpPr>
          <p:spPr>
            <a:xfrm>
              <a:off x="4915269" y="3110226"/>
              <a:ext cx="25077" cy="31346"/>
            </a:xfrm>
            <a:custGeom>
              <a:avLst/>
              <a:gdLst>
                <a:gd name="csX0" fmla="*/ 0 w 25077"/>
                <a:gd name="csY0" fmla="*/ 31347 h 31346"/>
                <a:gd name="csX1" fmla="*/ 25078 w 25077"/>
                <a:gd name="csY1" fmla="*/ 31347 h 31346"/>
                <a:gd name="csX2" fmla="*/ 25078 w 25077"/>
                <a:gd name="csY2" fmla="*/ 0 h 31346"/>
                <a:gd name="csX3" fmla="*/ 0 w 25077"/>
                <a:gd name="csY3" fmla="*/ 0 h 31346"/>
                <a:gd name="csX4" fmla="*/ 3135 w 25077"/>
                <a:gd name="csY4" fmla="*/ 3135 h 31346"/>
                <a:gd name="csX5" fmla="*/ 21943 w 25077"/>
                <a:gd name="csY5" fmla="*/ 3135 h 31346"/>
                <a:gd name="csX6" fmla="*/ 21943 w 25077"/>
                <a:gd name="csY6" fmla="*/ 28212 h 31346"/>
                <a:gd name="csX7" fmla="*/ 3135 w 25077"/>
                <a:gd name="csY7" fmla="*/ 28212 h 313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5077" h="31346">
                  <a:moveTo>
                    <a:pt x="0" y="31347"/>
                  </a:moveTo>
                  <a:lnTo>
                    <a:pt x="25078" y="31347"/>
                  </a:lnTo>
                  <a:lnTo>
                    <a:pt x="25078" y="0"/>
                  </a:lnTo>
                  <a:lnTo>
                    <a:pt x="0" y="0"/>
                  </a:lnTo>
                  <a:close/>
                  <a:moveTo>
                    <a:pt x="3135" y="3135"/>
                  </a:moveTo>
                  <a:lnTo>
                    <a:pt x="21943" y="3135"/>
                  </a:lnTo>
                  <a:lnTo>
                    <a:pt x="21943" y="28212"/>
                  </a:lnTo>
                  <a:lnTo>
                    <a:pt x="3135" y="28212"/>
                  </a:lnTo>
                  <a:close/>
                </a:path>
              </a:pathLst>
            </a:custGeom>
            <a:solidFill>
              <a:srgbClr val="0087E2"/>
            </a:solidFill>
            <a:ln w="6350" cap="flat">
              <a:solidFill>
                <a:srgbClr val="0087E2"/>
              </a:solidFill>
              <a:prstDash val="solid"/>
              <a:miter/>
            </a:ln>
          </p:spPr>
          <p:txBody>
            <a:bodyPr/>
            <a:lstStyle/>
            <a:p>
              <a:endParaRPr lang="en-CA" sz="240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1F431481-5ACA-3689-4765-5E5CC371F301}"/>
                </a:ext>
              </a:extLst>
            </p:cNvPr>
            <p:cNvSpPr/>
            <p:nvPr/>
          </p:nvSpPr>
          <p:spPr>
            <a:xfrm>
              <a:off x="4914161" y="3047533"/>
              <a:ext cx="51267" cy="51263"/>
            </a:xfrm>
            <a:custGeom>
              <a:avLst/>
              <a:gdLst>
                <a:gd name="csX0" fmla="*/ 2216 w 51267"/>
                <a:gd name="csY0" fmla="*/ 51263 h 51263"/>
                <a:gd name="csX1" fmla="*/ 48106 w 51267"/>
                <a:gd name="csY1" fmla="*/ 5373 h 51263"/>
                <a:gd name="csX2" fmla="*/ 48129 w 51267"/>
                <a:gd name="csY2" fmla="*/ 5373 h 51263"/>
                <a:gd name="csX3" fmla="*/ 48133 w 51267"/>
                <a:gd name="csY3" fmla="*/ 5384 h 51263"/>
                <a:gd name="csX4" fmla="*/ 48133 w 51267"/>
                <a:gd name="csY4" fmla="*/ 20375 h 51263"/>
                <a:gd name="csX5" fmla="*/ 51268 w 51267"/>
                <a:gd name="csY5" fmla="*/ 20375 h 51263"/>
                <a:gd name="csX6" fmla="*/ 51268 w 51267"/>
                <a:gd name="csY6" fmla="*/ 0 h 51263"/>
                <a:gd name="csX7" fmla="*/ 30935 w 51267"/>
                <a:gd name="csY7" fmla="*/ 0 h 51263"/>
                <a:gd name="csX8" fmla="*/ 30935 w 51267"/>
                <a:gd name="csY8" fmla="*/ 3135 h 51263"/>
                <a:gd name="csX9" fmla="*/ 45875 w 51267"/>
                <a:gd name="csY9" fmla="*/ 3135 h 51263"/>
                <a:gd name="csX10" fmla="*/ 45890 w 51267"/>
                <a:gd name="csY10" fmla="*/ 3151 h 51263"/>
                <a:gd name="csX11" fmla="*/ 45886 w 51267"/>
                <a:gd name="csY11" fmla="*/ 3161 h 51263"/>
                <a:gd name="csX12" fmla="*/ 0 w 51267"/>
                <a:gd name="csY12" fmla="*/ 49047 h 512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1267" h="51263">
                  <a:moveTo>
                    <a:pt x="2216" y="51263"/>
                  </a:moveTo>
                  <a:lnTo>
                    <a:pt x="48106" y="5373"/>
                  </a:lnTo>
                  <a:cubicBezTo>
                    <a:pt x="48113" y="5367"/>
                    <a:pt x="48123" y="5367"/>
                    <a:pt x="48129" y="5373"/>
                  </a:cubicBezTo>
                  <a:cubicBezTo>
                    <a:pt x="48131" y="5376"/>
                    <a:pt x="48133" y="5380"/>
                    <a:pt x="48133" y="5384"/>
                  </a:cubicBezTo>
                  <a:lnTo>
                    <a:pt x="48133" y="20375"/>
                  </a:lnTo>
                  <a:lnTo>
                    <a:pt x="51268" y="20375"/>
                  </a:lnTo>
                  <a:lnTo>
                    <a:pt x="51268" y="0"/>
                  </a:lnTo>
                  <a:lnTo>
                    <a:pt x="30935" y="0"/>
                  </a:lnTo>
                  <a:lnTo>
                    <a:pt x="30935" y="3135"/>
                  </a:lnTo>
                  <a:lnTo>
                    <a:pt x="45875" y="3135"/>
                  </a:lnTo>
                  <a:cubicBezTo>
                    <a:pt x="45883" y="3135"/>
                    <a:pt x="45890" y="3142"/>
                    <a:pt x="45890" y="3151"/>
                  </a:cubicBezTo>
                  <a:cubicBezTo>
                    <a:pt x="45890" y="3155"/>
                    <a:pt x="45888" y="3159"/>
                    <a:pt x="45886" y="3161"/>
                  </a:cubicBezTo>
                  <a:lnTo>
                    <a:pt x="0" y="49047"/>
                  </a:lnTo>
                  <a:close/>
                </a:path>
              </a:pathLst>
            </a:custGeom>
            <a:solidFill>
              <a:srgbClr val="0087E2"/>
            </a:solidFill>
            <a:ln w="3663" cap="flat">
              <a:solidFill>
                <a:srgbClr val="0087E2"/>
              </a:solidFill>
              <a:prstDash val="solid"/>
              <a:miter/>
            </a:ln>
          </p:spPr>
          <p:txBody>
            <a:bodyPr/>
            <a:lstStyle/>
            <a:p>
              <a:endParaRPr lang="en-CA" sz="2400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2A71816B-866D-E767-6169-22594F898859}"/>
              </a:ext>
            </a:extLst>
          </p:cNvPr>
          <p:cNvGrpSpPr/>
          <p:nvPr/>
        </p:nvGrpSpPr>
        <p:grpSpPr>
          <a:xfrm>
            <a:off x="6497807" y="1242801"/>
            <a:ext cx="170860" cy="162295"/>
            <a:chOff x="618526" y="1178903"/>
            <a:chExt cx="128145" cy="121721"/>
          </a:xfrm>
        </p:grpSpPr>
        <p:sp>
          <p:nvSpPr>
            <p:cNvPr id="79" name="Partial Circle 78">
              <a:extLst>
                <a:ext uri="{FF2B5EF4-FFF2-40B4-BE49-F238E27FC236}">
                  <a16:creationId xmlns:a16="http://schemas.microsoft.com/office/drawing/2014/main" id="{A2E79BAD-2AF8-DB45-D156-1C68537DA4B3}"/>
                </a:ext>
              </a:extLst>
            </p:cNvPr>
            <p:cNvSpPr/>
            <p:nvPr/>
          </p:nvSpPr>
          <p:spPr>
            <a:xfrm rot="5903740">
              <a:off x="621738" y="1175691"/>
              <a:ext cx="121721" cy="128145"/>
            </a:xfrm>
            <a:prstGeom prst="pie">
              <a:avLst>
                <a:gd name="adj1" fmla="val 911792"/>
                <a:gd name="adj2" fmla="val 16200000"/>
              </a:avLst>
            </a:prstGeom>
            <a:solidFill>
              <a:srgbClr val="15A0FF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>
                <a:solidFill>
                  <a:schemeClr val="tx1"/>
                </a:solidFill>
              </a:endParaRPr>
            </a:p>
          </p:txBody>
        </p:sp>
        <p:sp>
          <p:nvSpPr>
            <p:cNvPr id="80" name="Partial Circle 79">
              <a:extLst>
                <a:ext uri="{FF2B5EF4-FFF2-40B4-BE49-F238E27FC236}">
                  <a16:creationId xmlns:a16="http://schemas.microsoft.com/office/drawing/2014/main" id="{5132B03C-0FDB-BD0A-62DC-48B9DFA8CC83}"/>
                </a:ext>
              </a:extLst>
            </p:cNvPr>
            <p:cNvSpPr/>
            <p:nvPr/>
          </p:nvSpPr>
          <p:spPr>
            <a:xfrm rot="11199345">
              <a:off x="632223" y="1199778"/>
              <a:ext cx="107644" cy="98877"/>
            </a:xfrm>
            <a:prstGeom prst="pie">
              <a:avLst>
                <a:gd name="adj1" fmla="val 10700015"/>
                <a:gd name="adj2" fmla="val 17211358"/>
              </a:avLst>
            </a:prstGeom>
            <a:solidFill>
              <a:srgbClr val="ED7D31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>
                <a:solidFill>
                  <a:srgbClr val="FF6600"/>
                </a:solidFill>
              </a:endParaRPr>
            </a:p>
          </p:txBody>
        </p:sp>
      </p:grpSp>
      <p:pic>
        <p:nvPicPr>
          <p:cNvPr id="91" name="Graphic 90" descr="Badge Tick1 with solid fill">
            <a:extLst>
              <a:ext uri="{FF2B5EF4-FFF2-40B4-BE49-F238E27FC236}">
                <a16:creationId xmlns:a16="http://schemas.microsoft.com/office/drawing/2014/main" id="{02C39921-39BA-195F-829E-13CE6ECD4B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89967" y="6046017"/>
            <a:ext cx="96000" cy="96000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40C33005-3B05-5348-76FE-B0A6DD1595C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4491" y="4299457"/>
            <a:ext cx="4800000" cy="1648119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13039C-CA38-268F-C069-65D9998F9CDB}"/>
              </a:ext>
            </a:extLst>
          </p:cNvPr>
          <p:cNvSpPr/>
          <p:nvPr/>
        </p:nvSpPr>
        <p:spPr>
          <a:xfrm>
            <a:off x="894709" y="4300712"/>
            <a:ext cx="4809600" cy="1643481"/>
          </a:xfrm>
          <a:prstGeom prst="roundRect">
            <a:avLst>
              <a:gd name="adj" fmla="val 2737"/>
            </a:avLst>
          </a:prstGeom>
          <a:noFill/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2400"/>
          </a:p>
        </p:txBody>
      </p:sp>
      <p:sp>
        <p:nvSpPr>
          <p:cNvPr id="30" name="Text 34">
            <a:extLst>
              <a:ext uri="{FF2B5EF4-FFF2-40B4-BE49-F238E27FC236}">
                <a16:creationId xmlns:a16="http://schemas.microsoft.com/office/drawing/2014/main" id="{2466D683-4A01-66FD-F206-228E21CD326D}"/>
              </a:ext>
            </a:extLst>
          </p:cNvPr>
          <p:cNvSpPr/>
          <p:nvPr/>
        </p:nvSpPr>
        <p:spPr>
          <a:xfrm>
            <a:off x="1218711" y="4758763"/>
            <a:ext cx="160047" cy="1523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33" b="1" kern="0" spc="21" dirty="0">
                <a:solidFill>
                  <a:srgbClr val="4472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2,179,574</a:t>
            </a:r>
            <a:endParaRPr lang="en-US" sz="533" b="1" dirty="0">
              <a:solidFill>
                <a:srgbClr val="4472C4"/>
              </a:solidFill>
            </a:endParaRPr>
          </a:p>
        </p:txBody>
      </p:sp>
      <p:sp>
        <p:nvSpPr>
          <p:cNvPr id="31" name="Text 34">
            <a:extLst>
              <a:ext uri="{FF2B5EF4-FFF2-40B4-BE49-F238E27FC236}">
                <a16:creationId xmlns:a16="http://schemas.microsoft.com/office/drawing/2014/main" id="{8E04C0AA-092D-D328-E8A6-AC3222D484D9}"/>
              </a:ext>
            </a:extLst>
          </p:cNvPr>
          <p:cNvSpPr/>
          <p:nvPr/>
        </p:nvSpPr>
        <p:spPr>
          <a:xfrm>
            <a:off x="5096717" y="4348660"/>
            <a:ext cx="160047" cy="1523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33" b="1" kern="0" spc="21" dirty="0">
                <a:solidFill>
                  <a:srgbClr val="4472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2,813,685</a:t>
            </a:r>
            <a:endParaRPr lang="en-US" sz="533" b="1" dirty="0">
              <a:solidFill>
                <a:srgbClr val="4472C4"/>
              </a:solidFill>
            </a:endParaRPr>
          </a:p>
        </p:txBody>
      </p:sp>
      <p:sp>
        <p:nvSpPr>
          <p:cNvPr id="32" name="Text 34">
            <a:extLst>
              <a:ext uri="{FF2B5EF4-FFF2-40B4-BE49-F238E27FC236}">
                <a16:creationId xmlns:a16="http://schemas.microsoft.com/office/drawing/2014/main" id="{C8829124-EAA4-49EE-DAB7-88C64342BF34}"/>
              </a:ext>
            </a:extLst>
          </p:cNvPr>
          <p:cNvSpPr/>
          <p:nvPr/>
        </p:nvSpPr>
        <p:spPr>
          <a:xfrm>
            <a:off x="1219366" y="5735422"/>
            <a:ext cx="160047" cy="1523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33" b="1" kern="0" spc="21" dirty="0">
                <a:solidFill>
                  <a:srgbClr val="168B1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557,295</a:t>
            </a:r>
            <a:endParaRPr lang="en-US" sz="533" b="1" dirty="0">
              <a:solidFill>
                <a:srgbClr val="168B16"/>
              </a:solidFill>
            </a:endParaRPr>
          </a:p>
        </p:txBody>
      </p:sp>
      <p:sp>
        <p:nvSpPr>
          <p:cNvPr id="33" name="Text 34">
            <a:extLst>
              <a:ext uri="{FF2B5EF4-FFF2-40B4-BE49-F238E27FC236}">
                <a16:creationId xmlns:a16="http://schemas.microsoft.com/office/drawing/2014/main" id="{CABE0E9E-9231-0EBC-22DB-5E2EE2A43CAA}"/>
              </a:ext>
            </a:extLst>
          </p:cNvPr>
          <p:cNvSpPr/>
          <p:nvPr/>
        </p:nvSpPr>
        <p:spPr>
          <a:xfrm>
            <a:off x="5113650" y="5568236"/>
            <a:ext cx="160047" cy="1523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33" b="1" kern="0" spc="21" dirty="0">
                <a:solidFill>
                  <a:srgbClr val="168B1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5852,850</a:t>
            </a:r>
            <a:endParaRPr lang="en-US" sz="533" b="1" dirty="0">
              <a:solidFill>
                <a:srgbClr val="168B16"/>
              </a:solidFill>
            </a:endParaRPr>
          </a:p>
        </p:txBody>
      </p:sp>
      <p:sp>
        <p:nvSpPr>
          <p:cNvPr id="34" name="Text 34">
            <a:extLst>
              <a:ext uri="{FF2B5EF4-FFF2-40B4-BE49-F238E27FC236}">
                <a16:creationId xmlns:a16="http://schemas.microsoft.com/office/drawing/2014/main" id="{FAB6999B-AAA3-7DF5-D8C6-FA5F96CBD20D}"/>
              </a:ext>
            </a:extLst>
          </p:cNvPr>
          <p:cNvSpPr/>
          <p:nvPr/>
        </p:nvSpPr>
        <p:spPr>
          <a:xfrm>
            <a:off x="1214887" y="5607948"/>
            <a:ext cx="160047" cy="1523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33" b="1" kern="0" spc="21" dirty="0">
                <a:solidFill>
                  <a:srgbClr val="FFA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432,852</a:t>
            </a:r>
            <a:endParaRPr lang="en-US" sz="533" b="1" dirty="0">
              <a:solidFill>
                <a:srgbClr val="FFA000"/>
              </a:solidFill>
            </a:endParaRPr>
          </a:p>
        </p:txBody>
      </p:sp>
      <p:sp>
        <p:nvSpPr>
          <p:cNvPr id="35" name="Text 34">
            <a:extLst>
              <a:ext uri="{FF2B5EF4-FFF2-40B4-BE49-F238E27FC236}">
                <a16:creationId xmlns:a16="http://schemas.microsoft.com/office/drawing/2014/main" id="{6108AB5A-DDCD-9C07-B5A0-A229398A50A5}"/>
              </a:ext>
            </a:extLst>
          </p:cNvPr>
          <p:cNvSpPr/>
          <p:nvPr/>
        </p:nvSpPr>
        <p:spPr>
          <a:xfrm>
            <a:off x="5109417" y="5226659"/>
            <a:ext cx="160047" cy="1523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33" b="1" kern="0" spc="21" dirty="0">
                <a:solidFill>
                  <a:srgbClr val="FFA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753,348</a:t>
            </a:r>
            <a:endParaRPr lang="en-US" sz="533" b="1" dirty="0">
              <a:solidFill>
                <a:srgbClr val="FFA000"/>
              </a:solidFill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52C73AD8-85A8-75D7-2BA8-5D526877DF45}"/>
              </a:ext>
            </a:extLst>
          </p:cNvPr>
          <p:cNvSpPr/>
          <p:nvPr/>
        </p:nvSpPr>
        <p:spPr>
          <a:xfrm>
            <a:off x="1214887" y="5486186"/>
            <a:ext cx="160047" cy="1523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33" b="1" kern="0" spc="21" dirty="0">
                <a:solidFill>
                  <a:srgbClr val="FF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425,622</a:t>
            </a:r>
            <a:endParaRPr lang="en-US" sz="533" b="1" dirty="0">
              <a:solidFill>
                <a:srgbClr val="FF0000"/>
              </a:solidFill>
            </a:endParaRPr>
          </a:p>
        </p:txBody>
      </p:sp>
      <p:sp>
        <p:nvSpPr>
          <p:cNvPr id="42" name="Text 34">
            <a:extLst>
              <a:ext uri="{FF2B5EF4-FFF2-40B4-BE49-F238E27FC236}">
                <a16:creationId xmlns:a16="http://schemas.microsoft.com/office/drawing/2014/main" id="{53D7D518-597B-A5A2-8A72-70F78DD74B2C}"/>
              </a:ext>
            </a:extLst>
          </p:cNvPr>
          <p:cNvSpPr/>
          <p:nvPr/>
        </p:nvSpPr>
        <p:spPr>
          <a:xfrm>
            <a:off x="5092187" y="4615607"/>
            <a:ext cx="160047" cy="1523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33" b="1" kern="0" spc="21" dirty="0">
                <a:solidFill>
                  <a:srgbClr val="FF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1,271,898</a:t>
            </a:r>
            <a:endParaRPr lang="en-US" sz="533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2733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397A1-E6F2-BAE6-1009-B737566A4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0">
            <a:extLst>
              <a:ext uri="{FF2B5EF4-FFF2-40B4-BE49-F238E27FC236}">
                <a16:creationId xmlns:a16="http://schemas.microsoft.com/office/drawing/2014/main" id="{D32371BA-7F75-0FCC-C30E-1B4DE6BA5E3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C122C">
                  <a:alpha val="96863"/>
                </a:srgbClr>
              </a:gs>
              <a:gs pos="50000">
                <a:srgbClr val="002060">
                  <a:alpha val="92000"/>
                </a:srgbClr>
              </a:gs>
              <a:gs pos="100000">
                <a:srgbClr val="15A0FF">
                  <a:alpha val="8000"/>
                </a:srgbClr>
              </a:gs>
            </a:gsLst>
            <a:lin ang="420000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73D45CD-C891-E9FD-5C32-8E9B5120D010}"/>
              </a:ext>
            </a:extLst>
          </p:cNvPr>
          <p:cNvSpPr/>
          <p:nvPr/>
        </p:nvSpPr>
        <p:spPr>
          <a:xfrm>
            <a:off x="609600" y="286147"/>
            <a:ext cx="12070080" cy="172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60"/>
              </a:lnSpc>
            </a:pPr>
            <a:r>
              <a:rPr lang="en-US" sz="907" b="1" kern="0" spc="163" dirty="0">
                <a:solidFill>
                  <a:srgbClr val="15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ANALYSIS</a:t>
            </a:r>
            <a:endParaRPr lang="en-US" sz="907" dirty="0">
              <a:solidFill>
                <a:srgbClr val="15A0FF"/>
              </a:solidFill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599A1CE-3DB1-1866-DBF1-402667BA69BE}"/>
              </a:ext>
            </a:extLst>
          </p:cNvPr>
          <p:cNvSpPr/>
          <p:nvPr/>
        </p:nvSpPr>
        <p:spPr>
          <a:xfrm>
            <a:off x="609600" y="497681"/>
            <a:ext cx="11740896" cy="371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29"/>
              </a:lnSpc>
            </a:pPr>
            <a:r>
              <a:rPr lang="en-US" sz="2547" kern="0" spc="-25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Rider Usage Trends for 10 Years(2016-2025) – Continued.</a:t>
            </a:r>
            <a:endParaRPr lang="en-US" sz="2547" dirty="0">
              <a:solidFill>
                <a:srgbClr val="15A0FF"/>
              </a:solidFill>
            </a:endParaRPr>
          </a:p>
        </p:txBody>
      </p:sp>
      <p:sp>
        <p:nvSpPr>
          <p:cNvPr id="161" name="Text 6">
            <a:extLst>
              <a:ext uri="{FF2B5EF4-FFF2-40B4-BE49-F238E27FC236}">
                <a16:creationId xmlns:a16="http://schemas.microsoft.com/office/drawing/2014/main" id="{E83BB33E-A970-4CEF-4F0E-37FDCB8B11FB}"/>
              </a:ext>
            </a:extLst>
          </p:cNvPr>
          <p:cNvSpPr/>
          <p:nvPr/>
        </p:nvSpPr>
        <p:spPr>
          <a:xfrm>
            <a:off x="609601" y="1114028"/>
            <a:ext cx="5400873" cy="2725274"/>
          </a:xfrm>
          <a:prstGeom prst="roundRect">
            <a:avLst>
              <a:gd name="adj" fmla="val 5298"/>
            </a:avLst>
          </a:prstGeom>
          <a:solidFill>
            <a:srgbClr val="0D3D66">
              <a:alpha val="65000"/>
            </a:srgbClr>
          </a:solidFill>
          <a:ln w="9525">
            <a:solidFill>
              <a:srgbClr val="00C6A7">
                <a:alpha val="18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69" name="Text 38">
            <a:extLst>
              <a:ext uri="{FF2B5EF4-FFF2-40B4-BE49-F238E27FC236}">
                <a16:creationId xmlns:a16="http://schemas.microsoft.com/office/drawing/2014/main" id="{D15536C4-1126-61DA-5199-C6C98F4B1EDF}"/>
              </a:ext>
            </a:extLst>
          </p:cNvPr>
          <p:cNvSpPr/>
          <p:nvPr/>
        </p:nvSpPr>
        <p:spPr>
          <a:xfrm>
            <a:off x="622301" y="1120378"/>
            <a:ext cx="5375479" cy="28773"/>
          </a:xfrm>
          <a:custGeom>
            <a:avLst/>
            <a:gdLst/>
            <a:ahLst/>
            <a:cxnLst/>
            <a:rect l="l" t="t" r="r" b="b"/>
            <a:pathLst>
              <a:path w="4031609" h="21580">
                <a:moveTo>
                  <a:pt x="86360" y="0"/>
                </a:moveTo>
                <a:lnTo>
                  <a:pt x="3945249" y="0"/>
                </a:lnTo>
                <a:lnTo>
                  <a:pt x="3966664" y="2698"/>
                </a:lnTo>
                <a:lnTo>
                  <a:pt x="3975294" y="5395"/>
                </a:lnTo>
                <a:lnTo>
                  <a:pt x="3981749" y="8093"/>
                </a:lnTo>
                <a:lnTo>
                  <a:pt x="3987048" y="10790"/>
                </a:lnTo>
                <a:lnTo>
                  <a:pt x="3991591" y="13488"/>
                </a:lnTo>
                <a:lnTo>
                  <a:pt x="3995583" y="16185"/>
                </a:lnTo>
                <a:lnTo>
                  <a:pt x="3999145" y="18883"/>
                </a:lnTo>
                <a:lnTo>
                  <a:pt x="4002359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15A0FF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183" name="Text 34">
            <a:extLst>
              <a:ext uri="{FF2B5EF4-FFF2-40B4-BE49-F238E27FC236}">
                <a16:creationId xmlns:a16="http://schemas.microsoft.com/office/drawing/2014/main" id="{3C4C5AC6-5FD0-604C-884D-344A0511262B}"/>
              </a:ext>
            </a:extLst>
          </p:cNvPr>
          <p:cNvSpPr/>
          <p:nvPr/>
        </p:nvSpPr>
        <p:spPr>
          <a:xfrm>
            <a:off x="1152347" y="1209786"/>
            <a:ext cx="1582976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580"/>
              </a:lnSpc>
            </a:pPr>
            <a:r>
              <a:rPr lang="en-US" sz="1067" b="1" kern="0" spc="21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Top 10 Starting Station Trends by Year(Proportion %)</a:t>
            </a:r>
            <a:endParaRPr lang="en-US" sz="1067" dirty="0"/>
          </a:p>
        </p:txBody>
      </p:sp>
      <p:sp>
        <p:nvSpPr>
          <p:cNvPr id="186" name="Text 6">
            <a:extLst>
              <a:ext uri="{FF2B5EF4-FFF2-40B4-BE49-F238E27FC236}">
                <a16:creationId xmlns:a16="http://schemas.microsoft.com/office/drawing/2014/main" id="{E6AA1AE8-7108-B92F-126B-B6F631FA37E3}"/>
              </a:ext>
            </a:extLst>
          </p:cNvPr>
          <p:cNvSpPr/>
          <p:nvPr/>
        </p:nvSpPr>
        <p:spPr>
          <a:xfrm>
            <a:off x="622301" y="3926667"/>
            <a:ext cx="5400873" cy="2706587"/>
          </a:xfrm>
          <a:prstGeom prst="roundRect">
            <a:avLst>
              <a:gd name="adj" fmla="val 5298"/>
            </a:avLst>
          </a:prstGeom>
          <a:solidFill>
            <a:srgbClr val="0D3D66">
              <a:alpha val="65000"/>
            </a:srgbClr>
          </a:solidFill>
          <a:ln w="9525">
            <a:solidFill>
              <a:srgbClr val="00C6A7">
                <a:alpha val="18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88" name="Text 34">
            <a:extLst>
              <a:ext uri="{FF2B5EF4-FFF2-40B4-BE49-F238E27FC236}">
                <a16:creationId xmlns:a16="http://schemas.microsoft.com/office/drawing/2014/main" id="{833AB08D-79AF-8B7E-8FDF-6B7A26B85238}"/>
              </a:ext>
            </a:extLst>
          </p:cNvPr>
          <p:cNvSpPr/>
          <p:nvPr/>
        </p:nvSpPr>
        <p:spPr>
          <a:xfrm>
            <a:off x="1131180" y="4022426"/>
            <a:ext cx="1582976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580"/>
              </a:lnSpc>
            </a:pPr>
            <a:r>
              <a:rPr lang="en-US" sz="1067" b="1" kern="0" spc="21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Mid Term (2 – 8 hours) Ride Volume Trends by Year </a:t>
            </a:r>
            <a:endParaRPr lang="en-US" sz="1067" dirty="0"/>
          </a:p>
        </p:txBody>
      </p:sp>
      <p:sp>
        <p:nvSpPr>
          <p:cNvPr id="189" name="Text 6">
            <a:extLst>
              <a:ext uri="{FF2B5EF4-FFF2-40B4-BE49-F238E27FC236}">
                <a16:creationId xmlns:a16="http://schemas.microsoft.com/office/drawing/2014/main" id="{BE379A8D-149A-7C2A-18F4-0D88CDF2A12F}"/>
              </a:ext>
            </a:extLst>
          </p:cNvPr>
          <p:cNvSpPr/>
          <p:nvPr/>
        </p:nvSpPr>
        <p:spPr>
          <a:xfrm>
            <a:off x="6218917" y="1121983"/>
            <a:ext cx="5400873" cy="2717286"/>
          </a:xfrm>
          <a:prstGeom prst="roundRect">
            <a:avLst>
              <a:gd name="adj" fmla="val 5298"/>
            </a:avLst>
          </a:prstGeom>
          <a:solidFill>
            <a:srgbClr val="0D3D66">
              <a:alpha val="65000"/>
            </a:srgbClr>
          </a:solidFill>
          <a:ln w="9525">
            <a:solidFill>
              <a:srgbClr val="00C6A7">
                <a:alpha val="18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91" name="Text 34">
            <a:extLst>
              <a:ext uri="{FF2B5EF4-FFF2-40B4-BE49-F238E27FC236}">
                <a16:creationId xmlns:a16="http://schemas.microsoft.com/office/drawing/2014/main" id="{20B238C8-8F95-6FA1-5E72-7BC4F682EDE9}"/>
              </a:ext>
            </a:extLst>
          </p:cNvPr>
          <p:cNvSpPr/>
          <p:nvPr/>
        </p:nvSpPr>
        <p:spPr>
          <a:xfrm>
            <a:off x="6727796" y="1217742"/>
            <a:ext cx="1582976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580"/>
              </a:lnSpc>
            </a:pPr>
            <a:r>
              <a:rPr lang="en-US" sz="1067" b="1" kern="0" spc="21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Average Ride Duration Trends by Year</a:t>
            </a:r>
            <a:endParaRPr lang="en-US" sz="1067" dirty="0"/>
          </a:p>
        </p:txBody>
      </p:sp>
      <p:pic>
        <p:nvPicPr>
          <p:cNvPr id="135" name="Picture 134">
            <a:extLst>
              <a:ext uri="{FF2B5EF4-FFF2-40B4-BE49-F238E27FC236}">
                <a16:creationId xmlns:a16="http://schemas.microsoft.com/office/drawing/2014/main" id="{0A03DAD7-5CB8-CBAD-964C-41067778D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161" y="1511341"/>
            <a:ext cx="4800000" cy="1641887"/>
          </a:xfrm>
          <a:prstGeom prst="rect">
            <a:avLst/>
          </a:prstGeom>
        </p:spPr>
      </p:pic>
      <p:sp>
        <p:nvSpPr>
          <p:cNvPr id="192" name="Text 6">
            <a:extLst>
              <a:ext uri="{FF2B5EF4-FFF2-40B4-BE49-F238E27FC236}">
                <a16:creationId xmlns:a16="http://schemas.microsoft.com/office/drawing/2014/main" id="{73A270AF-7350-668A-A185-D2FC675DCB93}"/>
              </a:ext>
            </a:extLst>
          </p:cNvPr>
          <p:cNvSpPr/>
          <p:nvPr/>
        </p:nvSpPr>
        <p:spPr>
          <a:xfrm>
            <a:off x="6218917" y="3926667"/>
            <a:ext cx="5400873" cy="2706587"/>
          </a:xfrm>
          <a:prstGeom prst="roundRect">
            <a:avLst>
              <a:gd name="adj" fmla="val 5298"/>
            </a:avLst>
          </a:prstGeom>
          <a:solidFill>
            <a:srgbClr val="0D3D66">
              <a:alpha val="65000"/>
            </a:srgbClr>
          </a:solidFill>
          <a:ln w="9525">
            <a:solidFill>
              <a:srgbClr val="00C6A7">
                <a:alpha val="18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94" name="Text 34">
            <a:extLst>
              <a:ext uri="{FF2B5EF4-FFF2-40B4-BE49-F238E27FC236}">
                <a16:creationId xmlns:a16="http://schemas.microsoft.com/office/drawing/2014/main" id="{E5E28781-6036-EDEE-A20C-8B077B468CA4}"/>
              </a:ext>
            </a:extLst>
          </p:cNvPr>
          <p:cNvSpPr/>
          <p:nvPr/>
        </p:nvSpPr>
        <p:spPr>
          <a:xfrm>
            <a:off x="6727796" y="4022426"/>
            <a:ext cx="1582976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580"/>
              </a:lnSpc>
            </a:pPr>
            <a:r>
              <a:rPr lang="en-US" sz="1067" b="1" kern="0" spc="21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Long Term(Over 8 hours) Ride Volume Trendy by year</a:t>
            </a:r>
            <a:endParaRPr lang="en-US" sz="1067" dirty="0"/>
          </a:p>
        </p:txBody>
      </p:sp>
      <p:pic>
        <p:nvPicPr>
          <p:cNvPr id="200" name="Graphic 199" descr="Downward trend graph with solid fill">
            <a:extLst>
              <a:ext uri="{FF2B5EF4-FFF2-40B4-BE49-F238E27FC236}">
                <a16:creationId xmlns:a16="http://schemas.microsoft.com/office/drawing/2014/main" id="{B84144A5-6812-AED0-228E-59F910D5C4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1327" y="1174049"/>
            <a:ext cx="273600" cy="292408"/>
          </a:xfrm>
          <a:prstGeom prst="rect">
            <a:avLst/>
          </a:prstGeom>
        </p:spPr>
      </p:pic>
      <p:pic>
        <p:nvPicPr>
          <p:cNvPr id="202" name="Graphic 201" descr="Bar chart with solid fill">
            <a:extLst>
              <a:ext uri="{FF2B5EF4-FFF2-40B4-BE49-F238E27FC236}">
                <a16:creationId xmlns:a16="http://schemas.microsoft.com/office/drawing/2014/main" id="{2FC02FCE-4317-6D17-8B4B-94759CF9CD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8207" y="3979903"/>
            <a:ext cx="271871" cy="271871"/>
          </a:xfrm>
          <a:prstGeom prst="rect">
            <a:avLst/>
          </a:prstGeom>
        </p:spPr>
      </p:pic>
      <p:pic>
        <p:nvPicPr>
          <p:cNvPr id="204" name="Graphic 203" descr="Upward trend with solid fill">
            <a:extLst>
              <a:ext uri="{FF2B5EF4-FFF2-40B4-BE49-F238E27FC236}">
                <a16:creationId xmlns:a16="http://schemas.microsoft.com/office/drawing/2014/main" id="{5206918A-47FC-AD8E-D03B-76742BAEA4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26843" y="3960977"/>
            <a:ext cx="273600" cy="281569"/>
          </a:xfrm>
          <a:prstGeom prst="rect">
            <a:avLst/>
          </a:prstGeom>
        </p:spPr>
      </p:pic>
      <p:sp>
        <p:nvSpPr>
          <p:cNvPr id="208" name="Text 38">
            <a:extLst>
              <a:ext uri="{FF2B5EF4-FFF2-40B4-BE49-F238E27FC236}">
                <a16:creationId xmlns:a16="http://schemas.microsoft.com/office/drawing/2014/main" id="{5142E649-9A77-7B57-54BD-8934A82F1291}"/>
              </a:ext>
            </a:extLst>
          </p:cNvPr>
          <p:cNvSpPr/>
          <p:nvPr/>
        </p:nvSpPr>
        <p:spPr>
          <a:xfrm>
            <a:off x="6246089" y="1126727"/>
            <a:ext cx="5375479" cy="28773"/>
          </a:xfrm>
          <a:custGeom>
            <a:avLst/>
            <a:gdLst/>
            <a:ahLst/>
            <a:cxnLst/>
            <a:rect l="l" t="t" r="r" b="b"/>
            <a:pathLst>
              <a:path w="4031609" h="21580">
                <a:moveTo>
                  <a:pt x="86360" y="0"/>
                </a:moveTo>
                <a:lnTo>
                  <a:pt x="3945249" y="0"/>
                </a:lnTo>
                <a:lnTo>
                  <a:pt x="3966664" y="2698"/>
                </a:lnTo>
                <a:lnTo>
                  <a:pt x="3975294" y="5395"/>
                </a:lnTo>
                <a:lnTo>
                  <a:pt x="3981749" y="8093"/>
                </a:lnTo>
                <a:lnTo>
                  <a:pt x="3987048" y="10790"/>
                </a:lnTo>
                <a:lnTo>
                  <a:pt x="3991591" y="13488"/>
                </a:lnTo>
                <a:lnTo>
                  <a:pt x="3995583" y="16185"/>
                </a:lnTo>
                <a:lnTo>
                  <a:pt x="3999145" y="18883"/>
                </a:lnTo>
                <a:lnTo>
                  <a:pt x="4002359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15A0FF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209" name="Text 38">
            <a:extLst>
              <a:ext uri="{FF2B5EF4-FFF2-40B4-BE49-F238E27FC236}">
                <a16:creationId xmlns:a16="http://schemas.microsoft.com/office/drawing/2014/main" id="{8590448A-D904-7C4F-1201-B4B447FAC7F9}"/>
              </a:ext>
            </a:extLst>
          </p:cNvPr>
          <p:cNvSpPr/>
          <p:nvPr/>
        </p:nvSpPr>
        <p:spPr>
          <a:xfrm>
            <a:off x="6244311" y="3924822"/>
            <a:ext cx="5375479" cy="28773"/>
          </a:xfrm>
          <a:custGeom>
            <a:avLst/>
            <a:gdLst/>
            <a:ahLst/>
            <a:cxnLst/>
            <a:rect l="l" t="t" r="r" b="b"/>
            <a:pathLst>
              <a:path w="4031609" h="21580">
                <a:moveTo>
                  <a:pt x="86360" y="0"/>
                </a:moveTo>
                <a:lnTo>
                  <a:pt x="3945249" y="0"/>
                </a:lnTo>
                <a:lnTo>
                  <a:pt x="3966664" y="2698"/>
                </a:lnTo>
                <a:lnTo>
                  <a:pt x="3975294" y="5395"/>
                </a:lnTo>
                <a:lnTo>
                  <a:pt x="3981749" y="8093"/>
                </a:lnTo>
                <a:lnTo>
                  <a:pt x="3987048" y="10790"/>
                </a:lnTo>
                <a:lnTo>
                  <a:pt x="3991591" y="13488"/>
                </a:lnTo>
                <a:lnTo>
                  <a:pt x="3995583" y="16185"/>
                </a:lnTo>
                <a:lnTo>
                  <a:pt x="3999145" y="18883"/>
                </a:lnTo>
                <a:lnTo>
                  <a:pt x="4002359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15A0FF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210" name="Text 38">
            <a:extLst>
              <a:ext uri="{FF2B5EF4-FFF2-40B4-BE49-F238E27FC236}">
                <a16:creationId xmlns:a16="http://schemas.microsoft.com/office/drawing/2014/main" id="{11D40B3F-2D5A-3570-FACF-35DADD3CF5EC}"/>
              </a:ext>
            </a:extLst>
          </p:cNvPr>
          <p:cNvSpPr/>
          <p:nvPr/>
        </p:nvSpPr>
        <p:spPr>
          <a:xfrm>
            <a:off x="647705" y="3923748"/>
            <a:ext cx="5375479" cy="28773"/>
          </a:xfrm>
          <a:custGeom>
            <a:avLst/>
            <a:gdLst/>
            <a:ahLst/>
            <a:cxnLst/>
            <a:rect l="l" t="t" r="r" b="b"/>
            <a:pathLst>
              <a:path w="4031609" h="21580">
                <a:moveTo>
                  <a:pt x="86360" y="0"/>
                </a:moveTo>
                <a:lnTo>
                  <a:pt x="3945249" y="0"/>
                </a:lnTo>
                <a:lnTo>
                  <a:pt x="3966664" y="2698"/>
                </a:lnTo>
                <a:lnTo>
                  <a:pt x="3975294" y="5395"/>
                </a:lnTo>
                <a:lnTo>
                  <a:pt x="3981749" y="8093"/>
                </a:lnTo>
                <a:lnTo>
                  <a:pt x="3987048" y="10790"/>
                </a:lnTo>
                <a:lnTo>
                  <a:pt x="3991591" y="13488"/>
                </a:lnTo>
                <a:lnTo>
                  <a:pt x="3995583" y="16185"/>
                </a:lnTo>
                <a:lnTo>
                  <a:pt x="3999145" y="18883"/>
                </a:lnTo>
                <a:lnTo>
                  <a:pt x="4002359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15A0FF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212" name="Text 5">
            <a:extLst>
              <a:ext uri="{FF2B5EF4-FFF2-40B4-BE49-F238E27FC236}">
                <a16:creationId xmlns:a16="http://schemas.microsoft.com/office/drawing/2014/main" id="{199D1E92-B02D-9420-D3FB-577E21B414AF}"/>
              </a:ext>
            </a:extLst>
          </p:cNvPr>
          <p:cNvSpPr/>
          <p:nvPr/>
        </p:nvSpPr>
        <p:spPr>
          <a:xfrm>
            <a:off x="609600" y="945754"/>
            <a:ext cx="496093" cy="28773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15A0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0D33506C-992E-BEF4-42D8-F968ABF3E03D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908459" y="4345199"/>
            <a:ext cx="4800000" cy="1641600"/>
          </a:xfrm>
          <a:prstGeom prst="rect">
            <a:avLst/>
          </a:prstGeom>
        </p:spPr>
      </p:pic>
      <p:sp>
        <p:nvSpPr>
          <p:cNvPr id="104" name="Text 34">
            <a:extLst>
              <a:ext uri="{FF2B5EF4-FFF2-40B4-BE49-F238E27FC236}">
                <a16:creationId xmlns:a16="http://schemas.microsoft.com/office/drawing/2014/main" id="{9C3C1969-6C42-66AB-FE3E-125A722B0374}"/>
              </a:ext>
            </a:extLst>
          </p:cNvPr>
          <p:cNvSpPr/>
          <p:nvPr/>
        </p:nvSpPr>
        <p:spPr>
          <a:xfrm>
            <a:off x="1171641" y="5243708"/>
            <a:ext cx="214487" cy="995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33" b="1" kern="0" spc="21" dirty="0">
                <a:solidFill>
                  <a:srgbClr val="ED7D3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15,341</a:t>
            </a:r>
          </a:p>
        </p:txBody>
      </p:sp>
      <p:sp>
        <p:nvSpPr>
          <p:cNvPr id="105" name="Text 34">
            <a:extLst>
              <a:ext uri="{FF2B5EF4-FFF2-40B4-BE49-F238E27FC236}">
                <a16:creationId xmlns:a16="http://schemas.microsoft.com/office/drawing/2014/main" id="{8970C3A9-2F39-2AB1-85C1-45A717BBAEEB}"/>
              </a:ext>
            </a:extLst>
          </p:cNvPr>
          <p:cNvSpPr/>
          <p:nvPr/>
        </p:nvSpPr>
        <p:spPr>
          <a:xfrm>
            <a:off x="1177817" y="5740105"/>
            <a:ext cx="214487" cy="995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33" b="1" kern="0" spc="21" dirty="0">
                <a:solidFill>
                  <a:srgbClr val="0070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2,105</a:t>
            </a:r>
          </a:p>
        </p:txBody>
      </p:sp>
      <p:sp>
        <p:nvSpPr>
          <p:cNvPr id="106" name="Text 34">
            <a:extLst>
              <a:ext uri="{FF2B5EF4-FFF2-40B4-BE49-F238E27FC236}">
                <a16:creationId xmlns:a16="http://schemas.microsoft.com/office/drawing/2014/main" id="{97B37F87-C654-2985-07F4-957A65972E3A}"/>
              </a:ext>
            </a:extLst>
          </p:cNvPr>
          <p:cNvSpPr/>
          <p:nvPr/>
        </p:nvSpPr>
        <p:spPr>
          <a:xfrm>
            <a:off x="5495678" y="5593374"/>
            <a:ext cx="214487" cy="995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33" b="1" kern="0" spc="21" dirty="0">
                <a:solidFill>
                  <a:srgbClr val="0070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5,777</a:t>
            </a:r>
          </a:p>
        </p:txBody>
      </p:sp>
      <p:sp>
        <p:nvSpPr>
          <p:cNvPr id="107" name="Text 34">
            <a:extLst>
              <a:ext uri="{FF2B5EF4-FFF2-40B4-BE49-F238E27FC236}">
                <a16:creationId xmlns:a16="http://schemas.microsoft.com/office/drawing/2014/main" id="{F88F0E7E-6FD2-AE4B-34DF-C316561EE8B9}"/>
              </a:ext>
            </a:extLst>
          </p:cNvPr>
          <p:cNvSpPr/>
          <p:nvPr/>
        </p:nvSpPr>
        <p:spPr>
          <a:xfrm>
            <a:off x="5495678" y="5193918"/>
            <a:ext cx="214487" cy="995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33" b="1" kern="0" spc="21" dirty="0">
                <a:solidFill>
                  <a:srgbClr val="ED7D3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17,179</a:t>
            </a: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FAABABFB-1F45-6026-A16E-AFE136193524}"/>
              </a:ext>
            </a:extLst>
          </p:cNvPr>
          <p:cNvGrpSpPr/>
          <p:nvPr/>
        </p:nvGrpSpPr>
        <p:grpSpPr>
          <a:xfrm>
            <a:off x="6505327" y="4345199"/>
            <a:ext cx="4808987" cy="1641600"/>
            <a:chOff x="4969046" y="3258899"/>
            <a:chExt cx="3606740" cy="1231200"/>
          </a:xfrm>
        </p:grpSpPr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87B233F3-C78D-A279-900D-0DDE380F6CA0}"/>
                </a:ext>
              </a:extLst>
            </p:cNvPr>
            <p:cNvPicPr>
              <a:picLocks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69046" y="3258899"/>
              <a:ext cx="3600000" cy="1231200"/>
            </a:xfrm>
            <a:prstGeom prst="rect">
              <a:avLst/>
            </a:prstGeom>
          </p:spPr>
        </p:pic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58D592B-06B1-1A33-319E-A38781C4FE5C}"/>
                </a:ext>
              </a:extLst>
            </p:cNvPr>
            <p:cNvSpPr/>
            <p:nvPr/>
          </p:nvSpPr>
          <p:spPr>
            <a:xfrm>
              <a:off x="5273675" y="3326249"/>
              <a:ext cx="3117850" cy="1082675"/>
            </a:xfrm>
            <a:custGeom>
              <a:avLst/>
              <a:gdLst>
                <a:gd name="csX0" fmla="*/ 3114675 w 3117850"/>
                <a:gd name="csY0" fmla="*/ 1079500 h 1082675"/>
                <a:gd name="csX1" fmla="*/ 3117850 w 3117850"/>
                <a:gd name="csY1" fmla="*/ 250825 h 1082675"/>
                <a:gd name="csX2" fmla="*/ 2771775 w 3117850"/>
                <a:gd name="csY2" fmla="*/ 0 h 1082675"/>
                <a:gd name="csX3" fmla="*/ 2425700 w 3117850"/>
                <a:gd name="csY3" fmla="*/ 53975 h 1082675"/>
                <a:gd name="csX4" fmla="*/ 2079625 w 3117850"/>
                <a:gd name="csY4" fmla="*/ 219075 h 1082675"/>
                <a:gd name="csX5" fmla="*/ 1730375 w 3117850"/>
                <a:gd name="csY5" fmla="*/ 139700 h 1082675"/>
                <a:gd name="csX6" fmla="*/ 1384300 w 3117850"/>
                <a:gd name="csY6" fmla="*/ 244475 h 1082675"/>
                <a:gd name="csX7" fmla="*/ 1038225 w 3117850"/>
                <a:gd name="csY7" fmla="*/ 654050 h 1082675"/>
                <a:gd name="csX8" fmla="*/ 692150 w 3117850"/>
                <a:gd name="csY8" fmla="*/ 800100 h 1082675"/>
                <a:gd name="csX9" fmla="*/ 346075 w 3117850"/>
                <a:gd name="csY9" fmla="*/ 977900 h 1082675"/>
                <a:gd name="csX10" fmla="*/ 0 w 3117850"/>
                <a:gd name="csY10" fmla="*/ 911225 h 1082675"/>
                <a:gd name="csX11" fmla="*/ 3175 w 3117850"/>
                <a:gd name="csY11" fmla="*/ 1082675 h 1082675"/>
                <a:gd name="csX12" fmla="*/ 3114675 w 3117850"/>
                <a:gd name="csY12" fmla="*/ 1079500 h 10826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3117850" h="1082675">
                  <a:moveTo>
                    <a:pt x="3114675" y="1079500"/>
                  </a:moveTo>
                  <a:cubicBezTo>
                    <a:pt x="3115733" y="803275"/>
                    <a:pt x="3116792" y="527050"/>
                    <a:pt x="3117850" y="250825"/>
                  </a:cubicBezTo>
                  <a:lnTo>
                    <a:pt x="2771775" y="0"/>
                  </a:lnTo>
                  <a:lnTo>
                    <a:pt x="2425700" y="53975"/>
                  </a:lnTo>
                  <a:lnTo>
                    <a:pt x="2079625" y="219075"/>
                  </a:lnTo>
                  <a:lnTo>
                    <a:pt x="1730375" y="139700"/>
                  </a:lnTo>
                  <a:lnTo>
                    <a:pt x="1384300" y="244475"/>
                  </a:lnTo>
                  <a:lnTo>
                    <a:pt x="1038225" y="654050"/>
                  </a:lnTo>
                  <a:lnTo>
                    <a:pt x="692150" y="800100"/>
                  </a:lnTo>
                  <a:lnTo>
                    <a:pt x="346075" y="977900"/>
                  </a:lnTo>
                  <a:lnTo>
                    <a:pt x="0" y="911225"/>
                  </a:lnTo>
                  <a:cubicBezTo>
                    <a:pt x="1058" y="968375"/>
                    <a:pt x="2117" y="1025525"/>
                    <a:pt x="3175" y="1082675"/>
                  </a:cubicBezTo>
                  <a:lnTo>
                    <a:pt x="3114675" y="1079500"/>
                  </a:lnTo>
                  <a:close/>
                </a:path>
              </a:pathLst>
            </a:custGeom>
            <a:solidFill>
              <a:schemeClr val="accent2">
                <a:alpha val="63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44592AE-8998-3498-494B-6BC02AE07762}"/>
                </a:ext>
              </a:extLst>
            </p:cNvPr>
            <p:cNvSpPr/>
            <p:nvPr/>
          </p:nvSpPr>
          <p:spPr>
            <a:xfrm>
              <a:off x="5276850" y="4126349"/>
              <a:ext cx="3117850" cy="285750"/>
            </a:xfrm>
            <a:custGeom>
              <a:avLst/>
              <a:gdLst>
                <a:gd name="csX0" fmla="*/ 3117850 w 3117850"/>
                <a:gd name="csY0" fmla="*/ 285750 h 285750"/>
                <a:gd name="csX1" fmla="*/ 3111500 w 3117850"/>
                <a:gd name="csY1" fmla="*/ 50800 h 285750"/>
                <a:gd name="csX2" fmla="*/ 2768600 w 3117850"/>
                <a:gd name="csY2" fmla="*/ 0 h 285750"/>
                <a:gd name="csX3" fmla="*/ 2422525 w 3117850"/>
                <a:gd name="csY3" fmla="*/ 38100 h 285750"/>
                <a:gd name="csX4" fmla="*/ 2073275 w 3117850"/>
                <a:gd name="csY4" fmla="*/ 123825 h 285750"/>
                <a:gd name="csX5" fmla="*/ 1730375 w 3117850"/>
                <a:gd name="csY5" fmla="*/ 130175 h 285750"/>
                <a:gd name="csX6" fmla="*/ 1381125 w 3117850"/>
                <a:gd name="csY6" fmla="*/ 184150 h 285750"/>
                <a:gd name="csX7" fmla="*/ 688975 w 3117850"/>
                <a:gd name="csY7" fmla="*/ 88900 h 285750"/>
                <a:gd name="csX8" fmla="*/ 342900 w 3117850"/>
                <a:gd name="csY8" fmla="*/ 228600 h 285750"/>
                <a:gd name="csX9" fmla="*/ 0 w 3117850"/>
                <a:gd name="csY9" fmla="*/ 161925 h 285750"/>
                <a:gd name="csX10" fmla="*/ 3175 w 3117850"/>
                <a:gd name="csY10" fmla="*/ 282575 h 285750"/>
                <a:gd name="csX11" fmla="*/ 3117850 w 3117850"/>
                <a:gd name="csY11" fmla="*/ 285750 h 2857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3117850" h="285750">
                  <a:moveTo>
                    <a:pt x="3117850" y="285750"/>
                  </a:moveTo>
                  <a:lnTo>
                    <a:pt x="3111500" y="50800"/>
                  </a:lnTo>
                  <a:lnTo>
                    <a:pt x="2768600" y="0"/>
                  </a:lnTo>
                  <a:lnTo>
                    <a:pt x="2422525" y="38100"/>
                  </a:lnTo>
                  <a:lnTo>
                    <a:pt x="2073275" y="123825"/>
                  </a:lnTo>
                  <a:lnTo>
                    <a:pt x="1730375" y="130175"/>
                  </a:lnTo>
                  <a:lnTo>
                    <a:pt x="1381125" y="184150"/>
                  </a:lnTo>
                  <a:lnTo>
                    <a:pt x="688975" y="88900"/>
                  </a:lnTo>
                  <a:lnTo>
                    <a:pt x="342900" y="228600"/>
                  </a:lnTo>
                  <a:lnTo>
                    <a:pt x="0" y="161925"/>
                  </a:lnTo>
                  <a:cubicBezTo>
                    <a:pt x="1058" y="202142"/>
                    <a:pt x="2117" y="242358"/>
                    <a:pt x="3175" y="282575"/>
                  </a:cubicBezTo>
                  <a:lnTo>
                    <a:pt x="3117850" y="285750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sp>
          <p:nvSpPr>
            <p:cNvPr id="108" name="Text 34">
              <a:extLst>
                <a:ext uri="{FF2B5EF4-FFF2-40B4-BE49-F238E27FC236}">
                  <a16:creationId xmlns:a16="http://schemas.microsoft.com/office/drawing/2014/main" id="{66588783-4FAF-7A37-0F3C-DD39F77FD3D6}"/>
                </a:ext>
              </a:extLst>
            </p:cNvPr>
            <p:cNvSpPr/>
            <p:nvPr/>
          </p:nvSpPr>
          <p:spPr>
            <a:xfrm>
              <a:off x="5127879" y="4208175"/>
              <a:ext cx="160865" cy="7468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r>
                <a:rPr lang="en-US" sz="533" b="1" kern="0" spc="21" dirty="0">
                  <a:solidFill>
                    <a:srgbClr val="ED7D31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1,566</a:t>
              </a:r>
            </a:p>
          </p:txBody>
        </p:sp>
        <p:sp>
          <p:nvSpPr>
            <p:cNvPr id="109" name="Text 34">
              <a:extLst>
                <a:ext uri="{FF2B5EF4-FFF2-40B4-BE49-F238E27FC236}">
                  <a16:creationId xmlns:a16="http://schemas.microsoft.com/office/drawing/2014/main" id="{DA0AC273-A220-43FE-096E-E6AADA0BABB8}"/>
                </a:ext>
              </a:extLst>
            </p:cNvPr>
            <p:cNvSpPr/>
            <p:nvPr/>
          </p:nvSpPr>
          <p:spPr>
            <a:xfrm>
              <a:off x="5127879" y="4287795"/>
              <a:ext cx="160865" cy="7468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r>
                <a:rPr lang="en-US" sz="533" b="1" kern="0" spc="21" dirty="0">
                  <a:solidFill>
                    <a:srgbClr val="0087E2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1,122</a:t>
              </a:r>
            </a:p>
          </p:txBody>
        </p:sp>
        <p:sp>
          <p:nvSpPr>
            <p:cNvPr id="110" name="Text 34">
              <a:extLst>
                <a:ext uri="{FF2B5EF4-FFF2-40B4-BE49-F238E27FC236}">
                  <a16:creationId xmlns:a16="http://schemas.microsoft.com/office/drawing/2014/main" id="{6DDA538D-1E2F-CD37-3B95-A5CF8B39F47B}"/>
                </a:ext>
              </a:extLst>
            </p:cNvPr>
            <p:cNvSpPr/>
            <p:nvPr/>
          </p:nvSpPr>
          <p:spPr>
            <a:xfrm>
              <a:off x="8414921" y="4232371"/>
              <a:ext cx="160865" cy="7468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r>
                <a:rPr lang="en-US" sz="533" b="1" kern="0" spc="21" dirty="0">
                  <a:solidFill>
                    <a:srgbClr val="0087E2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2,053</a:t>
              </a:r>
            </a:p>
          </p:txBody>
        </p:sp>
        <p:sp>
          <p:nvSpPr>
            <p:cNvPr id="111" name="Text 34">
              <a:extLst>
                <a:ext uri="{FF2B5EF4-FFF2-40B4-BE49-F238E27FC236}">
                  <a16:creationId xmlns:a16="http://schemas.microsoft.com/office/drawing/2014/main" id="{EAB4FF6D-C588-2318-D2CB-208375A86135}"/>
                </a:ext>
              </a:extLst>
            </p:cNvPr>
            <p:cNvSpPr/>
            <p:nvPr/>
          </p:nvSpPr>
          <p:spPr>
            <a:xfrm>
              <a:off x="8405059" y="3536273"/>
              <a:ext cx="160865" cy="7468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r>
                <a:rPr lang="en-US" sz="533" b="1" kern="0" spc="21" dirty="0">
                  <a:solidFill>
                    <a:srgbClr val="ED7D31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6,918</a:t>
              </a:r>
            </a:p>
          </p:txBody>
        </p:sp>
        <p:sp>
          <p:nvSpPr>
            <p:cNvPr id="144" name="Text 34">
              <a:extLst>
                <a:ext uri="{FF2B5EF4-FFF2-40B4-BE49-F238E27FC236}">
                  <a16:creationId xmlns:a16="http://schemas.microsoft.com/office/drawing/2014/main" id="{6AE4FC38-B4AF-4EFE-AFF3-936C87C2996B}"/>
                </a:ext>
              </a:extLst>
            </p:cNvPr>
            <p:cNvSpPr/>
            <p:nvPr/>
          </p:nvSpPr>
          <p:spPr>
            <a:xfrm>
              <a:off x="8095496" y="3275739"/>
              <a:ext cx="160865" cy="7468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r>
                <a:rPr lang="en-US" sz="533" b="1" kern="0" spc="21" dirty="0">
                  <a:solidFill>
                    <a:srgbClr val="ED7D31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8,893</a:t>
              </a:r>
            </a:p>
          </p:txBody>
        </p:sp>
      </p:grpSp>
      <p:sp>
        <p:nvSpPr>
          <p:cNvPr id="112" name="Text 34">
            <a:extLst>
              <a:ext uri="{FF2B5EF4-FFF2-40B4-BE49-F238E27FC236}">
                <a16:creationId xmlns:a16="http://schemas.microsoft.com/office/drawing/2014/main" id="{F743F66D-BB66-9B57-9AF5-023EE3F99A54}"/>
              </a:ext>
            </a:extLst>
          </p:cNvPr>
          <p:cNvSpPr/>
          <p:nvPr/>
        </p:nvSpPr>
        <p:spPr>
          <a:xfrm>
            <a:off x="6700443" y="2161122"/>
            <a:ext cx="214487" cy="995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33" b="1" kern="0" spc="21" dirty="0">
                <a:solidFill>
                  <a:srgbClr val="8E1E8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1,812</a:t>
            </a:r>
          </a:p>
        </p:txBody>
      </p:sp>
      <p:sp>
        <p:nvSpPr>
          <p:cNvPr id="113" name="Text 34">
            <a:extLst>
              <a:ext uri="{FF2B5EF4-FFF2-40B4-BE49-F238E27FC236}">
                <a16:creationId xmlns:a16="http://schemas.microsoft.com/office/drawing/2014/main" id="{E7C6159C-0354-DF9A-16CA-FAF12B1DD721}"/>
              </a:ext>
            </a:extLst>
          </p:cNvPr>
          <p:cNvSpPr/>
          <p:nvPr/>
        </p:nvSpPr>
        <p:spPr>
          <a:xfrm>
            <a:off x="6732313" y="2847945"/>
            <a:ext cx="214487" cy="995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33" b="1" kern="0" spc="21" dirty="0">
                <a:solidFill>
                  <a:srgbClr val="168B1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705</a:t>
            </a:r>
          </a:p>
        </p:txBody>
      </p:sp>
      <p:sp>
        <p:nvSpPr>
          <p:cNvPr id="114" name="Text 34">
            <a:extLst>
              <a:ext uri="{FF2B5EF4-FFF2-40B4-BE49-F238E27FC236}">
                <a16:creationId xmlns:a16="http://schemas.microsoft.com/office/drawing/2014/main" id="{1A6A7D71-1C0C-6DEF-81F4-DC4691A020EB}"/>
              </a:ext>
            </a:extLst>
          </p:cNvPr>
          <p:cNvSpPr/>
          <p:nvPr/>
        </p:nvSpPr>
        <p:spPr>
          <a:xfrm>
            <a:off x="11062675" y="2875707"/>
            <a:ext cx="214487" cy="879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33" b="1" kern="0" spc="21" dirty="0">
                <a:solidFill>
                  <a:srgbClr val="168B1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702</a:t>
            </a:r>
          </a:p>
        </p:txBody>
      </p:sp>
      <p:sp>
        <p:nvSpPr>
          <p:cNvPr id="115" name="Text 34">
            <a:extLst>
              <a:ext uri="{FF2B5EF4-FFF2-40B4-BE49-F238E27FC236}">
                <a16:creationId xmlns:a16="http://schemas.microsoft.com/office/drawing/2014/main" id="{49EE6371-D7EB-1540-6567-85D806EDFDC6}"/>
              </a:ext>
            </a:extLst>
          </p:cNvPr>
          <p:cNvSpPr/>
          <p:nvPr/>
        </p:nvSpPr>
        <p:spPr>
          <a:xfrm>
            <a:off x="11062675" y="2653663"/>
            <a:ext cx="214487" cy="879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33" b="1" kern="0" spc="21" dirty="0">
                <a:solidFill>
                  <a:srgbClr val="8E1E8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1,072</a:t>
            </a: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41C842F0-DA74-C728-EE7F-1DC27D7F2795}"/>
              </a:ext>
            </a:extLst>
          </p:cNvPr>
          <p:cNvGrpSpPr/>
          <p:nvPr/>
        </p:nvGrpSpPr>
        <p:grpSpPr>
          <a:xfrm>
            <a:off x="6511779" y="1264293"/>
            <a:ext cx="131423" cy="132588"/>
            <a:chOff x="4785267" y="970143"/>
            <a:chExt cx="98567" cy="99441"/>
          </a:xfrm>
        </p:grpSpPr>
        <p:sp>
          <p:nvSpPr>
            <p:cNvPr id="117" name="Rectangle: Rounded Corners 116">
              <a:extLst>
                <a:ext uri="{FF2B5EF4-FFF2-40B4-BE49-F238E27FC236}">
                  <a16:creationId xmlns:a16="http://schemas.microsoft.com/office/drawing/2014/main" id="{797F484F-1E2E-75D7-3A0D-9A43B255CCCD}"/>
                </a:ext>
              </a:extLst>
            </p:cNvPr>
            <p:cNvSpPr/>
            <p:nvPr/>
          </p:nvSpPr>
          <p:spPr>
            <a:xfrm>
              <a:off x="4785267" y="981192"/>
              <a:ext cx="22098" cy="88392"/>
            </a:xfrm>
            <a:prstGeom prst="roundRect">
              <a:avLst>
                <a:gd name="adj" fmla="val 25000"/>
              </a:avLst>
            </a:prstGeom>
            <a:noFill/>
            <a:ln w="10319" cap="rnd">
              <a:solidFill>
                <a:srgbClr val="15A0FF"/>
              </a:solidFill>
              <a:prstDash val="solid"/>
              <a:round/>
            </a:ln>
          </p:spPr>
          <p:txBody>
            <a:bodyPr/>
            <a:lstStyle/>
            <a:p>
              <a:endParaRPr lang="en-CA" sz="2400"/>
            </a:p>
          </p:txBody>
        </p:sp>
        <p:sp>
          <p:nvSpPr>
            <p:cNvPr id="118" name="Rectangle: Rounded Corners 117">
              <a:extLst>
                <a:ext uri="{FF2B5EF4-FFF2-40B4-BE49-F238E27FC236}">
                  <a16:creationId xmlns:a16="http://schemas.microsoft.com/office/drawing/2014/main" id="{07EA8DA0-EA49-CB92-68A2-A1F7474AC1E6}"/>
                </a:ext>
              </a:extLst>
            </p:cNvPr>
            <p:cNvSpPr/>
            <p:nvPr/>
          </p:nvSpPr>
          <p:spPr>
            <a:xfrm>
              <a:off x="4861736" y="1003290"/>
              <a:ext cx="22098" cy="66294"/>
            </a:xfrm>
            <a:prstGeom prst="roundRect">
              <a:avLst>
                <a:gd name="adj" fmla="val 25000"/>
              </a:avLst>
            </a:prstGeom>
            <a:noFill/>
            <a:ln w="10319" cap="rnd">
              <a:solidFill>
                <a:srgbClr val="15A0FF"/>
              </a:solidFill>
              <a:prstDash val="solid"/>
              <a:round/>
            </a:ln>
          </p:spPr>
          <p:txBody>
            <a:bodyPr/>
            <a:lstStyle/>
            <a:p>
              <a:endParaRPr lang="en-CA" sz="2400"/>
            </a:p>
          </p:txBody>
        </p:sp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09C5D2F4-ACD5-C1B0-0C28-CE37F8F483A7}"/>
                </a:ext>
              </a:extLst>
            </p:cNvPr>
            <p:cNvSpPr/>
            <p:nvPr/>
          </p:nvSpPr>
          <p:spPr>
            <a:xfrm>
              <a:off x="4823763" y="970143"/>
              <a:ext cx="22098" cy="99441"/>
            </a:xfrm>
            <a:prstGeom prst="roundRect">
              <a:avLst>
                <a:gd name="adj" fmla="val 25000"/>
              </a:avLst>
            </a:prstGeom>
            <a:noFill/>
            <a:ln w="10319" cap="rnd">
              <a:solidFill>
                <a:srgbClr val="15A0FF"/>
              </a:solidFill>
              <a:prstDash val="solid"/>
              <a:round/>
            </a:ln>
          </p:spPr>
          <p:txBody>
            <a:bodyPr/>
            <a:lstStyle/>
            <a:p>
              <a:endParaRPr lang="en-CA" sz="2400"/>
            </a:p>
          </p:txBody>
        </p:sp>
      </p:grp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E8CBCD6-3EDB-532C-42F9-1DC70DFE0555}"/>
              </a:ext>
            </a:extLst>
          </p:cNvPr>
          <p:cNvSpPr/>
          <p:nvPr/>
        </p:nvSpPr>
        <p:spPr>
          <a:xfrm>
            <a:off x="907412" y="4326112"/>
            <a:ext cx="4800000" cy="1670400"/>
          </a:xfrm>
          <a:prstGeom prst="roundRect">
            <a:avLst>
              <a:gd name="adj" fmla="val 2737"/>
            </a:avLst>
          </a:prstGeom>
          <a:noFill/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24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67BBBAF-2795-FA63-B762-F56AE381C7ED}"/>
              </a:ext>
            </a:extLst>
          </p:cNvPr>
          <p:cNvSpPr/>
          <p:nvPr/>
        </p:nvSpPr>
        <p:spPr>
          <a:xfrm>
            <a:off x="6504807" y="4336592"/>
            <a:ext cx="4800000" cy="1665600"/>
          </a:xfrm>
          <a:prstGeom prst="roundRect">
            <a:avLst>
              <a:gd name="adj" fmla="val 2737"/>
            </a:avLst>
          </a:prstGeom>
          <a:noFill/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240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D7DF99F-BEBE-230C-B65A-B795BC0618BC}"/>
              </a:ext>
            </a:extLst>
          </p:cNvPr>
          <p:cNvSpPr/>
          <p:nvPr/>
        </p:nvSpPr>
        <p:spPr>
          <a:xfrm>
            <a:off x="6475384" y="1499937"/>
            <a:ext cx="4800000" cy="1656000"/>
          </a:xfrm>
          <a:prstGeom prst="roundRect">
            <a:avLst>
              <a:gd name="adj" fmla="val 2737"/>
            </a:avLst>
          </a:prstGeom>
          <a:noFill/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2400"/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C8027D41-B2C7-CFDC-011A-E3C357809A0C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E4002B">
              <a:alpha val="87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7" name="Text 28">
            <a:extLst>
              <a:ext uri="{FF2B5EF4-FFF2-40B4-BE49-F238E27FC236}">
                <a16:creationId xmlns:a16="http://schemas.microsoft.com/office/drawing/2014/main" id="{D733A4DD-54D6-1285-3A9C-27BA1ECC81C0}"/>
              </a:ext>
            </a:extLst>
          </p:cNvPr>
          <p:cNvSpPr/>
          <p:nvPr/>
        </p:nvSpPr>
        <p:spPr>
          <a:xfrm>
            <a:off x="893298" y="3258837"/>
            <a:ext cx="4876735" cy="514001"/>
          </a:xfrm>
          <a:prstGeom prst="roundRect">
            <a:avLst>
              <a:gd name="adj" fmla="val 7779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27" name="Graphic 26" descr="Good Idea outline">
            <a:extLst>
              <a:ext uri="{FF2B5EF4-FFF2-40B4-BE49-F238E27FC236}">
                <a16:creationId xmlns:a16="http://schemas.microsoft.com/office/drawing/2014/main" id="{0F5DD658-F1EC-F775-4877-DB28C52B90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0079" y="3359749"/>
            <a:ext cx="336000" cy="336000"/>
          </a:xfrm>
          <a:prstGeom prst="rect">
            <a:avLst/>
          </a:prstGeom>
        </p:spPr>
      </p:pic>
      <p:sp>
        <p:nvSpPr>
          <p:cNvPr id="29" name="Text 66">
            <a:extLst>
              <a:ext uri="{FF2B5EF4-FFF2-40B4-BE49-F238E27FC236}">
                <a16:creationId xmlns:a16="http://schemas.microsoft.com/office/drawing/2014/main" id="{DC736190-F3A1-A4C7-59B1-F8F55419493C}"/>
              </a:ext>
            </a:extLst>
          </p:cNvPr>
          <p:cNvSpPr/>
          <p:nvPr/>
        </p:nvSpPr>
        <p:spPr>
          <a:xfrm>
            <a:off x="1365639" y="3275810"/>
            <a:ext cx="4478192" cy="505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15"/>
              </a:lnSpc>
            </a:pPr>
            <a:r>
              <a:rPr lang="en-US" sz="8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riders</a:t>
            </a:r>
            <a:r>
              <a:rPr lang="en-US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’ Top 10 starting-station share slightly increased in 2017 and begin declining in 2018(-7%).</a:t>
            </a:r>
          </a:p>
          <a:p>
            <a:pPr>
              <a:lnSpc>
                <a:spcPts val="1315"/>
              </a:lnSpc>
            </a:pPr>
            <a:r>
              <a:rPr lang="en-US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 </a:t>
            </a:r>
            <a:r>
              <a:rPr lang="en-US" sz="800" b="1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sharply during the 2020 pandemic (-14%)</a:t>
            </a:r>
            <a:r>
              <a:rPr lang="en-US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remaining low through 2025(10%). </a:t>
            </a:r>
          </a:p>
          <a:p>
            <a:pPr>
              <a:lnSpc>
                <a:spcPts val="1315"/>
              </a:lnSpc>
            </a:pPr>
            <a:r>
              <a:rPr lang="en-US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members’ Top 10 starting-station share decreased over the years: 11%(2016) -&gt; 6.0%(2025).</a:t>
            </a:r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67D68011-80EB-F85F-D267-15EB0300AD80}"/>
              </a:ext>
            </a:extLst>
          </p:cNvPr>
          <p:cNvSpPr/>
          <p:nvPr/>
        </p:nvSpPr>
        <p:spPr>
          <a:xfrm>
            <a:off x="6451314" y="3267592"/>
            <a:ext cx="4862999" cy="514001"/>
          </a:xfrm>
          <a:prstGeom prst="roundRect">
            <a:avLst>
              <a:gd name="adj" fmla="val 7779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33" name="Text 66">
            <a:extLst>
              <a:ext uri="{FF2B5EF4-FFF2-40B4-BE49-F238E27FC236}">
                <a16:creationId xmlns:a16="http://schemas.microsoft.com/office/drawing/2014/main" id="{8216147A-608F-3657-6FE8-2E04BC5B72AA}"/>
              </a:ext>
            </a:extLst>
          </p:cNvPr>
          <p:cNvSpPr/>
          <p:nvPr/>
        </p:nvSpPr>
        <p:spPr>
          <a:xfrm>
            <a:off x="6909164" y="3280726"/>
            <a:ext cx="4450987" cy="505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15"/>
              </a:lnSpc>
            </a:pPr>
            <a:r>
              <a:rPr lang="en-US" sz="800" b="1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r>
              <a:rPr lang="en-US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’s avg ride duration </a:t>
            </a:r>
            <a:r>
              <a:rPr lang="en-US" sz="800" b="1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remained stable over time</a:t>
            </a:r>
            <a:r>
              <a:rPr lang="en-US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with a slight fluctuation during the pandemic. </a:t>
            </a:r>
          </a:p>
          <a:p>
            <a:pPr>
              <a:lnSpc>
                <a:spcPts val="1315"/>
              </a:lnSpc>
            </a:pPr>
            <a:r>
              <a:rPr lang="en-US" sz="800" b="1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riders</a:t>
            </a:r>
            <a:r>
              <a:rPr lang="en-US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’ avg ride duration rose sharply in 2018(</a:t>
            </a:r>
            <a:r>
              <a:rPr lang="en-US" sz="800" b="1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+30%</a:t>
            </a:r>
            <a:r>
              <a:rPr lang="en-US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and declined after the pandemic(</a:t>
            </a:r>
            <a:r>
              <a:rPr lang="en-US" sz="800" b="1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-26%, -21%</a:t>
            </a:r>
            <a:r>
              <a:rPr lang="en-US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</a:p>
          <a:p>
            <a:pPr>
              <a:lnSpc>
                <a:spcPts val="1315"/>
              </a:lnSpc>
            </a:pPr>
            <a:r>
              <a:rPr lang="en-US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Overall, casual riders’ avg ride duration </a:t>
            </a:r>
            <a:r>
              <a:rPr lang="en-US" sz="800" b="1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decreased 41%</a:t>
            </a:r>
            <a:r>
              <a:rPr lang="en-US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from </a:t>
            </a:r>
            <a:r>
              <a:rPr lang="en-US" sz="800" b="1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1,812 seconds(2016)</a:t>
            </a:r>
            <a:r>
              <a:rPr lang="en-US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</a:t>
            </a:r>
            <a:r>
              <a:rPr lang="en-US" sz="800" b="1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1,072 seconds(2025)</a:t>
            </a:r>
            <a:r>
              <a:rPr lang="en-US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  <p:pic>
        <p:nvPicPr>
          <p:cNvPr id="35" name="Graphic 34" descr="Badge Tick1 with solid fill">
            <a:extLst>
              <a:ext uri="{FF2B5EF4-FFF2-40B4-BE49-F238E27FC236}">
                <a16:creationId xmlns:a16="http://schemas.microsoft.com/office/drawing/2014/main" id="{A6AB9129-ED54-2906-B6CB-F2B1655929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91620" y="3334881"/>
            <a:ext cx="96000" cy="96000"/>
          </a:xfrm>
          <a:prstGeom prst="rect">
            <a:avLst/>
          </a:prstGeom>
        </p:spPr>
      </p:pic>
      <p:pic>
        <p:nvPicPr>
          <p:cNvPr id="37" name="Graphic 36" descr="Badge Tick1 with solid fill">
            <a:extLst>
              <a:ext uri="{FF2B5EF4-FFF2-40B4-BE49-F238E27FC236}">
                <a16:creationId xmlns:a16="http://schemas.microsoft.com/office/drawing/2014/main" id="{84E718B4-68D4-1B54-5833-436812544B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91620" y="3499380"/>
            <a:ext cx="96000" cy="96000"/>
          </a:xfrm>
          <a:prstGeom prst="rect">
            <a:avLst/>
          </a:prstGeom>
        </p:spPr>
      </p:pic>
      <p:pic>
        <p:nvPicPr>
          <p:cNvPr id="39" name="Graphic 38" descr="Badge Tick1 with solid fill">
            <a:extLst>
              <a:ext uri="{FF2B5EF4-FFF2-40B4-BE49-F238E27FC236}">
                <a16:creationId xmlns:a16="http://schemas.microsoft.com/office/drawing/2014/main" id="{24982A81-18EF-0698-9631-A697F99970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91620" y="3663877"/>
            <a:ext cx="96000" cy="96000"/>
          </a:xfrm>
          <a:prstGeom prst="rect">
            <a:avLst/>
          </a:prstGeom>
        </p:spPr>
      </p:pic>
      <p:pic>
        <p:nvPicPr>
          <p:cNvPr id="41" name="Graphic 40" descr="Artificial Intelligence outline">
            <a:extLst>
              <a:ext uri="{FF2B5EF4-FFF2-40B4-BE49-F238E27FC236}">
                <a16:creationId xmlns:a16="http://schemas.microsoft.com/office/drawing/2014/main" id="{4CA6827B-7130-0EE1-C968-DB51392E4D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37789" y="3356273"/>
            <a:ext cx="336000" cy="336000"/>
          </a:xfrm>
          <a:prstGeom prst="rect">
            <a:avLst/>
          </a:prstGeom>
        </p:spPr>
      </p:pic>
      <p:sp>
        <p:nvSpPr>
          <p:cNvPr id="43" name="Text 28">
            <a:extLst>
              <a:ext uri="{FF2B5EF4-FFF2-40B4-BE49-F238E27FC236}">
                <a16:creationId xmlns:a16="http://schemas.microsoft.com/office/drawing/2014/main" id="{F891C13A-A7DC-5EE2-E30D-3F84D9B751A1}"/>
              </a:ext>
            </a:extLst>
          </p:cNvPr>
          <p:cNvSpPr/>
          <p:nvPr/>
        </p:nvSpPr>
        <p:spPr>
          <a:xfrm>
            <a:off x="884485" y="6060786"/>
            <a:ext cx="4819200" cy="514001"/>
          </a:xfrm>
          <a:prstGeom prst="roundRect">
            <a:avLst>
              <a:gd name="adj" fmla="val 7779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45" name="Text 67">
            <a:extLst>
              <a:ext uri="{FF2B5EF4-FFF2-40B4-BE49-F238E27FC236}">
                <a16:creationId xmlns:a16="http://schemas.microsoft.com/office/drawing/2014/main" id="{3287E305-3A4C-3446-FBA5-CB31B2AE7ED1}"/>
              </a:ext>
            </a:extLst>
          </p:cNvPr>
          <p:cNvSpPr/>
          <p:nvPr/>
        </p:nvSpPr>
        <p:spPr>
          <a:xfrm>
            <a:off x="913355" y="6082170"/>
            <a:ext cx="4800000" cy="1270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47" name="Text 66">
            <a:extLst>
              <a:ext uri="{FF2B5EF4-FFF2-40B4-BE49-F238E27FC236}">
                <a16:creationId xmlns:a16="http://schemas.microsoft.com/office/drawing/2014/main" id="{A3CFD33D-EAFE-4913-9924-9D8E20D13670}"/>
              </a:ext>
            </a:extLst>
          </p:cNvPr>
          <p:cNvSpPr/>
          <p:nvPr/>
        </p:nvSpPr>
        <p:spPr>
          <a:xfrm>
            <a:off x="1401831" y="6074043"/>
            <a:ext cx="4323088" cy="51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Mid-term(2-8 hours) ride volume for </a:t>
            </a:r>
            <a:r>
              <a:rPr lang="en-US" sz="800" b="1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riders</a:t>
            </a:r>
            <a:r>
              <a:rPr lang="en-US" sz="800" b="1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sharply up to the pandemic period.</a:t>
            </a:r>
          </a:p>
          <a:p>
            <a:r>
              <a:rPr lang="en-US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declined afterward but still show </a:t>
            </a:r>
            <a:r>
              <a:rPr lang="en-US" sz="800" b="1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+12% increase </a:t>
            </a:r>
            <a:r>
              <a:rPr lang="en-US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15,341(2016) to 17,179(2025).</a:t>
            </a:r>
            <a:br>
              <a:rPr lang="en-US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 ride volume for </a:t>
            </a:r>
            <a:r>
              <a:rPr lang="en-US" sz="800" b="1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</a:t>
            </a:r>
            <a:r>
              <a:rPr lang="en-US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fluctuated but increased steadily</a:t>
            </a:r>
            <a:r>
              <a:rPr lang="en-US" sz="800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overall, more than </a:t>
            </a:r>
            <a:r>
              <a:rPr lang="en-US" sz="800" b="1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doubling(2.7x)</a:t>
            </a:r>
            <a:r>
              <a:rPr lang="en-US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rising from 2,105 -&gt; 5,777.</a:t>
            </a:r>
          </a:p>
        </p:txBody>
      </p:sp>
      <p:pic>
        <p:nvPicPr>
          <p:cNvPr id="49" name="Graphic 48" descr="Head with gears outline">
            <a:extLst>
              <a:ext uri="{FF2B5EF4-FFF2-40B4-BE49-F238E27FC236}">
                <a16:creationId xmlns:a16="http://schemas.microsoft.com/office/drawing/2014/main" id="{0F358427-9F81-AA19-DD3D-56DC1B9768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38725" y="6151421"/>
            <a:ext cx="336000" cy="336000"/>
          </a:xfrm>
          <a:prstGeom prst="rect">
            <a:avLst/>
          </a:prstGeom>
        </p:spPr>
      </p:pic>
      <p:pic>
        <p:nvPicPr>
          <p:cNvPr id="51" name="Graphic 50" descr="Badge Tick1 with solid fill">
            <a:extLst>
              <a:ext uri="{FF2B5EF4-FFF2-40B4-BE49-F238E27FC236}">
                <a16:creationId xmlns:a16="http://schemas.microsoft.com/office/drawing/2014/main" id="{7A7108E7-B32C-0257-070C-167E483D7E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79503" y="6082885"/>
            <a:ext cx="96000" cy="96000"/>
          </a:xfrm>
          <a:prstGeom prst="rect">
            <a:avLst/>
          </a:prstGeom>
        </p:spPr>
      </p:pic>
      <p:pic>
        <p:nvPicPr>
          <p:cNvPr id="53" name="Graphic 52" descr="Badge Tick1 with solid fill">
            <a:extLst>
              <a:ext uri="{FF2B5EF4-FFF2-40B4-BE49-F238E27FC236}">
                <a16:creationId xmlns:a16="http://schemas.microsoft.com/office/drawing/2014/main" id="{B1363A5D-5A08-30AB-DF70-59F7CFB739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79503" y="6217748"/>
            <a:ext cx="96000" cy="96000"/>
          </a:xfrm>
          <a:prstGeom prst="rect">
            <a:avLst/>
          </a:prstGeom>
        </p:spPr>
      </p:pic>
      <p:pic>
        <p:nvPicPr>
          <p:cNvPr id="55" name="Graphic 54" descr="Badge Tick1 with solid fill">
            <a:extLst>
              <a:ext uri="{FF2B5EF4-FFF2-40B4-BE49-F238E27FC236}">
                <a16:creationId xmlns:a16="http://schemas.microsoft.com/office/drawing/2014/main" id="{3EB1B646-DF14-22D8-E202-89E39EA12D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79503" y="6339907"/>
            <a:ext cx="96000" cy="96000"/>
          </a:xfrm>
          <a:prstGeom prst="rect">
            <a:avLst/>
          </a:prstGeom>
        </p:spPr>
      </p:pic>
      <p:sp>
        <p:nvSpPr>
          <p:cNvPr id="57" name="Text 28">
            <a:extLst>
              <a:ext uri="{FF2B5EF4-FFF2-40B4-BE49-F238E27FC236}">
                <a16:creationId xmlns:a16="http://schemas.microsoft.com/office/drawing/2014/main" id="{7D0728E4-153A-C4D8-3EE2-26B9D2ADAB73}"/>
              </a:ext>
            </a:extLst>
          </p:cNvPr>
          <p:cNvSpPr/>
          <p:nvPr/>
        </p:nvSpPr>
        <p:spPr>
          <a:xfrm>
            <a:off x="6489419" y="6057005"/>
            <a:ext cx="4824894" cy="514001"/>
          </a:xfrm>
          <a:prstGeom prst="roundRect">
            <a:avLst>
              <a:gd name="adj" fmla="val 7779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59" name="Graphic 58" descr="Dinosaur Head Skeleton outline">
            <a:extLst>
              <a:ext uri="{FF2B5EF4-FFF2-40B4-BE49-F238E27FC236}">
                <a16:creationId xmlns:a16="http://schemas.microsoft.com/office/drawing/2014/main" id="{8A06B019-AA08-5671-F935-B4852C2CFAD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98456" y="6132140"/>
            <a:ext cx="312000" cy="336000"/>
          </a:xfrm>
          <a:prstGeom prst="rect">
            <a:avLst/>
          </a:prstGeom>
        </p:spPr>
      </p:pic>
      <p:sp>
        <p:nvSpPr>
          <p:cNvPr id="61" name="Text 66">
            <a:extLst>
              <a:ext uri="{FF2B5EF4-FFF2-40B4-BE49-F238E27FC236}">
                <a16:creationId xmlns:a16="http://schemas.microsoft.com/office/drawing/2014/main" id="{45089B6D-36A3-8749-C739-006E1C8A436B}"/>
              </a:ext>
            </a:extLst>
          </p:cNvPr>
          <p:cNvSpPr/>
          <p:nvPr/>
        </p:nvSpPr>
        <p:spPr>
          <a:xfrm>
            <a:off x="7006191" y="6079885"/>
            <a:ext cx="4362998" cy="482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CA" altLang="ko-KR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Long-term(over 8 hours) ride volume for </a:t>
            </a:r>
            <a:r>
              <a:rPr lang="en-CA" altLang="ko-KR" sz="800" b="1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riders </a:t>
            </a:r>
            <a:r>
              <a:rPr lang="en-CA" altLang="ko-KR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significantly overall, rising </a:t>
            </a:r>
            <a:r>
              <a:rPr lang="en-CA" altLang="ko-KR" sz="800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342%</a:t>
            </a:r>
            <a:r>
              <a:rPr lang="en-CA" altLang="ko-KR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r>
              <a:rPr lang="en-CA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rides include extremely long durations(over one day): </a:t>
            </a:r>
            <a:r>
              <a:rPr lang="en-CA" sz="800" b="1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6,153</a:t>
            </a:r>
            <a:r>
              <a:rPr lang="en-CA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rides in 2024 and </a:t>
            </a:r>
            <a:r>
              <a:rPr lang="en-CA" sz="800" b="1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4,762</a:t>
            </a:r>
            <a:r>
              <a:rPr lang="en-CA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rides in 2025.</a:t>
            </a:r>
          </a:p>
          <a:p>
            <a:r>
              <a:rPr lang="en-CA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ride volume for members fluctuated over time and ultimately doubled, also including over-one-day durations:  </a:t>
            </a:r>
            <a:r>
              <a:rPr lang="en-CA" sz="800" b="1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1,443</a:t>
            </a:r>
            <a:r>
              <a:rPr lang="en-CA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rides in 2024 and </a:t>
            </a:r>
            <a:r>
              <a:rPr lang="en-CA" sz="800" b="1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1,014</a:t>
            </a:r>
            <a:r>
              <a:rPr lang="en-CA" sz="800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rides in 2025.</a:t>
            </a:r>
            <a:endParaRPr lang="en-US" sz="800" dirty="0">
              <a:solidFill>
                <a:srgbClr val="0087E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64" name="Graphic 63" descr="Badge Tick1 with solid fill">
            <a:extLst>
              <a:ext uri="{FF2B5EF4-FFF2-40B4-BE49-F238E27FC236}">
                <a16:creationId xmlns:a16="http://schemas.microsoft.com/office/drawing/2014/main" id="{DFB7A5D6-0727-D879-69ED-CF7F16E0C9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75285" y="6094879"/>
            <a:ext cx="96000" cy="96000"/>
          </a:xfrm>
          <a:prstGeom prst="rect">
            <a:avLst/>
          </a:prstGeom>
        </p:spPr>
      </p:pic>
      <p:pic>
        <p:nvPicPr>
          <p:cNvPr id="66" name="Graphic 65" descr="Badge Tick1 with solid fill">
            <a:extLst>
              <a:ext uri="{FF2B5EF4-FFF2-40B4-BE49-F238E27FC236}">
                <a16:creationId xmlns:a16="http://schemas.microsoft.com/office/drawing/2014/main" id="{4615FC40-5B3C-3DD1-F3F0-2FE17360B7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75285" y="6217040"/>
            <a:ext cx="96000" cy="96000"/>
          </a:xfrm>
          <a:prstGeom prst="rect">
            <a:avLst/>
          </a:prstGeom>
        </p:spPr>
      </p:pic>
      <p:pic>
        <p:nvPicPr>
          <p:cNvPr id="68" name="Graphic 67" descr="Badge Tick1 with solid fill">
            <a:extLst>
              <a:ext uri="{FF2B5EF4-FFF2-40B4-BE49-F238E27FC236}">
                <a16:creationId xmlns:a16="http://schemas.microsoft.com/office/drawing/2014/main" id="{A1C4BBF6-2B47-6A72-F8DD-357BF9B54C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75285" y="6339199"/>
            <a:ext cx="96000" cy="96000"/>
          </a:xfrm>
          <a:prstGeom prst="rect">
            <a:avLst/>
          </a:prstGeom>
        </p:spPr>
      </p:pic>
      <p:pic>
        <p:nvPicPr>
          <p:cNvPr id="85" name="Graphic 84" descr="Badge Tick1 with solid fill">
            <a:extLst>
              <a:ext uri="{FF2B5EF4-FFF2-40B4-BE49-F238E27FC236}">
                <a16:creationId xmlns:a16="http://schemas.microsoft.com/office/drawing/2014/main" id="{FC01B17F-9A11-8CC1-A14F-E1463D4C98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46079" y="3326923"/>
            <a:ext cx="96000" cy="96000"/>
          </a:xfrm>
          <a:prstGeom prst="rect">
            <a:avLst/>
          </a:prstGeom>
        </p:spPr>
      </p:pic>
      <p:pic>
        <p:nvPicPr>
          <p:cNvPr id="86" name="Graphic 85" descr="Badge Tick1 with solid fill">
            <a:extLst>
              <a:ext uri="{FF2B5EF4-FFF2-40B4-BE49-F238E27FC236}">
                <a16:creationId xmlns:a16="http://schemas.microsoft.com/office/drawing/2014/main" id="{EE781224-ADE2-A276-D844-F49D6E2EFE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46079" y="3491421"/>
            <a:ext cx="96000" cy="96000"/>
          </a:xfrm>
          <a:prstGeom prst="rect">
            <a:avLst/>
          </a:prstGeom>
        </p:spPr>
      </p:pic>
      <p:pic>
        <p:nvPicPr>
          <p:cNvPr id="87" name="Graphic 86" descr="Badge Tick1 with solid fill">
            <a:extLst>
              <a:ext uri="{FF2B5EF4-FFF2-40B4-BE49-F238E27FC236}">
                <a16:creationId xmlns:a16="http://schemas.microsoft.com/office/drawing/2014/main" id="{BA5E0273-4052-6539-EA22-B01DD07098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46079" y="3655919"/>
            <a:ext cx="96000" cy="96000"/>
          </a:xfrm>
          <a:prstGeom prst="rect">
            <a:avLst/>
          </a:prstGeom>
        </p:spPr>
      </p:pic>
      <p:sp>
        <p:nvSpPr>
          <p:cNvPr id="129" name="Text 34">
            <a:extLst>
              <a:ext uri="{FF2B5EF4-FFF2-40B4-BE49-F238E27FC236}">
                <a16:creationId xmlns:a16="http://schemas.microsoft.com/office/drawing/2014/main" id="{9F33F180-66DA-D048-7BF2-8D25E67ADC26}"/>
              </a:ext>
            </a:extLst>
          </p:cNvPr>
          <p:cNvSpPr/>
          <p:nvPr/>
        </p:nvSpPr>
        <p:spPr>
          <a:xfrm>
            <a:off x="6498546" y="1526061"/>
            <a:ext cx="214487" cy="995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7" kern="0" spc="21" dirty="0">
                <a:solidFill>
                  <a:srgbClr val="5C5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Seconds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773250C-49BC-4646-CB19-DB72AEB7FC7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6616" y="1515255"/>
            <a:ext cx="4800000" cy="1637972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18C3017-8A17-D933-BC56-C1D609D0F072}"/>
              </a:ext>
            </a:extLst>
          </p:cNvPr>
          <p:cNvSpPr/>
          <p:nvPr/>
        </p:nvSpPr>
        <p:spPr>
          <a:xfrm>
            <a:off x="907412" y="1508873"/>
            <a:ext cx="4809600" cy="1643481"/>
          </a:xfrm>
          <a:prstGeom prst="roundRect">
            <a:avLst>
              <a:gd name="adj" fmla="val 2737"/>
            </a:avLst>
          </a:prstGeom>
          <a:noFill/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2400"/>
          </a:p>
        </p:txBody>
      </p:sp>
      <p:sp>
        <p:nvSpPr>
          <p:cNvPr id="16" name="Text 34">
            <a:extLst>
              <a:ext uri="{FF2B5EF4-FFF2-40B4-BE49-F238E27FC236}">
                <a16:creationId xmlns:a16="http://schemas.microsoft.com/office/drawing/2014/main" id="{FFB713D1-E64E-6624-FF1F-3A135C8A0105}"/>
              </a:ext>
            </a:extLst>
          </p:cNvPr>
          <p:cNvSpPr/>
          <p:nvPr/>
        </p:nvSpPr>
        <p:spPr>
          <a:xfrm>
            <a:off x="1126947" y="1677546"/>
            <a:ext cx="214487" cy="995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33" b="1" kern="0" spc="21" dirty="0">
                <a:solidFill>
                  <a:srgbClr val="8E1E8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33%</a:t>
            </a:r>
          </a:p>
        </p:txBody>
      </p:sp>
      <p:sp>
        <p:nvSpPr>
          <p:cNvPr id="25" name="Text 34">
            <a:extLst>
              <a:ext uri="{FF2B5EF4-FFF2-40B4-BE49-F238E27FC236}">
                <a16:creationId xmlns:a16="http://schemas.microsoft.com/office/drawing/2014/main" id="{24F5DE36-D002-C8CC-FAF7-63375392072A}"/>
              </a:ext>
            </a:extLst>
          </p:cNvPr>
          <p:cNvSpPr/>
          <p:nvPr/>
        </p:nvSpPr>
        <p:spPr>
          <a:xfrm>
            <a:off x="5489199" y="2748368"/>
            <a:ext cx="214487" cy="995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33" b="1" kern="0" spc="21" dirty="0">
                <a:solidFill>
                  <a:srgbClr val="8E1E8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10%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CF101CEC-FCD2-14DC-2744-96EC34FE2998}"/>
              </a:ext>
            </a:extLst>
          </p:cNvPr>
          <p:cNvSpPr/>
          <p:nvPr/>
        </p:nvSpPr>
        <p:spPr>
          <a:xfrm>
            <a:off x="1354666" y="3863284"/>
            <a:ext cx="4119033" cy="2032000"/>
          </a:xfrm>
          <a:custGeom>
            <a:avLst/>
            <a:gdLst>
              <a:gd name="csX0" fmla="*/ 3089275 w 3089275"/>
              <a:gd name="csY0" fmla="*/ 1514475 h 1524000"/>
              <a:gd name="csX1" fmla="*/ 3089275 w 3089275"/>
              <a:gd name="csY1" fmla="*/ 1028700 h 1524000"/>
              <a:gd name="csX2" fmla="*/ 2746375 w 3089275"/>
              <a:gd name="csY2" fmla="*/ 809625 h 1524000"/>
              <a:gd name="csX3" fmla="*/ 2406650 w 3089275"/>
              <a:gd name="csY3" fmla="*/ 873125 h 1524000"/>
              <a:gd name="csX4" fmla="*/ 2060575 w 3089275"/>
              <a:gd name="csY4" fmla="*/ 641350 h 1524000"/>
              <a:gd name="csX5" fmla="*/ 1727200 w 3089275"/>
              <a:gd name="csY5" fmla="*/ 111125 h 1524000"/>
              <a:gd name="csX6" fmla="*/ 1381125 w 3089275"/>
              <a:gd name="csY6" fmla="*/ 0 h 1524000"/>
              <a:gd name="csX7" fmla="*/ 1028700 w 3089275"/>
              <a:gd name="csY7" fmla="*/ 517525 h 1524000"/>
              <a:gd name="csX8" fmla="*/ 688975 w 3089275"/>
              <a:gd name="csY8" fmla="*/ 622300 h 1524000"/>
              <a:gd name="csX9" fmla="*/ 346075 w 3089275"/>
              <a:gd name="csY9" fmla="*/ 1069975 h 1524000"/>
              <a:gd name="csX10" fmla="*/ 0 w 3089275"/>
              <a:gd name="csY10" fmla="*/ 1085850 h 1524000"/>
              <a:gd name="csX11" fmla="*/ 3175 w 3089275"/>
              <a:gd name="csY11" fmla="*/ 1524000 h 1524000"/>
              <a:gd name="csX12" fmla="*/ 3089275 w 3089275"/>
              <a:gd name="csY12" fmla="*/ 1514475 h 1524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089275" h="1524000">
                <a:moveTo>
                  <a:pt x="3089275" y="1514475"/>
                </a:moveTo>
                <a:lnTo>
                  <a:pt x="3089275" y="1028700"/>
                </a:lnTo>
                <a:lnTo>
                  <a:pt x="2746375" y="809625"/>
                </a:lnTo>
                <a:lnTo>
                  <a:pt x="2406650" y="873125"/>
                </a:lnTo>
                <a:lnTo>
                  <a:pt x="2060575" y="641350"/>
                </a:lnTo>
                <a:lnTo>
                  <a:pt x="1727200" y="111125"/>
                </a:lnTo>
                <a:lnTo>
                  <a:pt x="1381125" y="0"/>
                </a:lnTo>
                <a:lnTo>
                  <a:pt x="1028700" y="517525"/>
                </a:lnTo>
                <a:lnTo>
                  <a:pt x="688975" y="622300"/>
                </a:lnTo>
                <a:lnTo>
                  <a:pt x="346075" y="1069975"/>
                </a:lnTo>
                <a:lnTo>
                  <a:pt x="0" y="1085850"/>
                </a:lnTo>
                <a:cubicBezTo>
                  <a:pt x="1058" y="1231900"/>
                  <a:pt x="2117" y="1377950"/>
                  <a:pt x="3175" y="1524000"/>
                </a:cubicBezTo>
                <a:lnTo>
                  <a:pt x="3089275" y="1514475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400"/>
          </a:p>
        </p:txBody>
      </p: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27412F45-19EF-D489-9282-A8C61F8EDD2D}"/>
              </a:ext>
            </a:extLst>
          </p:cNvPr>
          <p:cNvSpPr/>
          <p:nvPr/>
        </p:nvSpPr>
        <p:spPr>
          <a:xfrm>
            <a:off x="1354668" y="5655734"/>
            <a:ext cx="4119033" cy="241300"/>
          </a:xfrm>
          <a:custGeom>
            <a:avLst/>
            <a:gdLst>
              <a:gd name="csX0" fmla="*/ 3089275 w 3089275"/>
              <a:gd name="csY0" fmla="*/ 177800 h 180975"/>
              <a:gd name="csX1" fmla="*/ 3086100 w 3089275"/>
              <a:gd name="csY1" fmla="*/ 12700 h 180975"/>
              <a:gd name="csX2" fmla="*/ 2743200 w 3089275"/>
              <a:gd name="csY2" fmla="*/ 22225 h 180975"/>
              <a:gd name="csX3" fmla="*/ 2397125 w 3089275"/>
              <a:gd name="csY3" fmla="*/ 0 h 180975"/>
              <a:gd name="csX4" fmla="*/ 2060575 w 3089275"/>
              <a:gd name="csY4" fmla="*/ 38100 h 180975"/>
              <a:gd name="csX5" fmla="*/ 1717675 w 3089275"/>
              <a:gd name="csY5" fmla="*/ 34925 h 180975"/>
              <a:gd name="csX6" fmla="*/ 1028700 w 3089275"/>
              <a:gd name="csY6" fmla="*/ 114300 h 180975"/>
              <a:gd name="csX7" fmla="*/ 685800 w 3089275"/>
              <a:gd name="csY7" fmla="*/ 104775 h 180975"/>
              <a:gd name="csX8" fmla="*/ 342900 w 3089275"/>
              <a:gd name="csY8" fmla="*/ 133350 h 180975"/>
              <a:gd name="csX9" fmla="*/ 0 w 3089275"/>
              <a:gd name="csY9" fmla="*/ 114300 h 180975"/>
              <a:gd name="csX10" fmla="*/ 0 w 3089275"/>
              <a:gd name="csY10" fmla="*/ 180975 h 180975"/>
              <a:gd name="csX11" fmla="*/ 3089275 w 3089275"/>
              <a:gd name="csY11" fmla="*/ 177800 h 1809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89275" h="180975">
                <a:moveTo>
                  <a:pt x="3089275" y="177800"/>
                </a:moveTo>
                <a:cubicBezTo>
                  <a:pt x="3088217" y="122767"/>
                  <a:pt x="3087158" y="67733"/>
                  <a:pt x="3086100" y="12700"/>
                </a:cubicBezTo>
                <a:lnTo>
                  <a:pt x="2743200" y="22225"/>
                </a:lnTo>
                <a:lnTo>
                  <a:pt x="2397125" y="0"/>
                </a:lnTo>
                <a:lnTo>
                  <a:pt x="2060575" y="38100"/>
                </a:lnTo>
                <a:lnTo>
                  <a:pt x="1717675" y="34925"/>
                </a:lnTo>
                <a:lnTo>
                  <a:pt x="1028700" y="114300"/>
                </a:lnTo>
                <a:lnTo>
                  <a:pt x="685800" y="104775"/>
                </a:lnTo>
                <a:lnTo>
                  <a:pt x="342900" y="133350"/>
                </a:lnTo>
                <a:lnTo>
                  <a:pt x="0" y="114300"/>
                </a:lnTo>
                <a:lnTo>
                  <a:pt x="0" y="180975"/>
                </a:lnTo>
                <a:lnTo>
                  <a:pt x="3089275" y="177800"/>
                </a:lnTo>
                <a:close/>
              </a:path>
            </a:pathLst>
          </a:custGeom>
          <a:solidFill>
            <a:schemeClr val="accent1">
              <a:alpha val="83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400"/>
          </a:p>
        </p:txBody>
      </p:sp>
      <p:sp>
        <p:nvSpPr>
          <p:cNvPr id="42" name="Text 34">
            <a:extLst>
              <a:ext uri="{FF2B5EF4-FFF2-40B4-BE49-F238E27FC236}">
                <a16:creationId xmlns:a16="http://schemas.microsoft.com/office/drawing/2014/main" id="{705AA43C-E516-6338-3A5F-4715DBB116E1}"/>
              </a:ext>
            </a:extLst>
          </p:cNvPr>
          <p:cNvSpPr/>
          <p:nvPr/>
        </p:nvSpPr>
        <p:spPr>
          <a:xfrm>
            <a:off x="1709131" y="1508873"/>
            <a:ext cx="214487" cy="995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33" b="1" kern="0" spc="21" dirty="0">
                <a:solidFill>
                  <a:srgbClr val="8E1E8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35%</a:t>
            </a:r>
          </a:p>
        </p:txBody>
      </p:sp>
      <p:sp>
        <p:nvSpPr>
          <p:cNvPr id="44" name="Text 34">
            <a:extLst>
              <a:ext uri="{FF2B5EF4-FFF2-40B4-BE49-F238E27FC236}">
                <a16:creationId xmlns:a16="http://schemas.microsoft.com/office/drawing/2014/main" id="{6456AC7F-F3F3-3AEF-DCC8-CD36F5FE0D4F}"/>
              </a:ext>
            </a:extLst>
          </p:cNvPr>
          <p:cNvSpPr/>
          <p:nvPr/>
        </p:nvSpPr>
        <p:spPr>
          <a:xfrm>
            <a:off x="2217131" y="1835556"/>
            <a:ext cx="214487" cy="995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33" b="1" kern="0" spc="21" dirty="0">
                <a:solidFill>
                  <a:srgbClr val="8E1E8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28%</a:t>
            </a:r>
          </a:p>
        </p:txBody>
      </p:sp>
      <p:sp>
        <p:nvSpPr>
          <p:cNvPr id="46" name="Text 34">
            <a:extLst>
              <a:ext uri="{FF2B5EF4-FFF2-40B4-BE49-F238E27FC236}">
                <a16:creationId xmlns:a16="http://schemas.microsoft.com/office/drawing/2014/main" id="{4DB3B9E2-0DA3-3D01-2570-8579C6C1B35E}"/>
              </a:ext>
            </a:extLst>
          </p:cNvPr>
          <p:cNvSpPr/>
          <p:nvPr/>
        </p:nvSpPr>
        <p:spPr>
          <a:xfrm>
            <a:off x="3182609" y="2568473"/>
            <a:ext cx="214487" cy="995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33" b="1" kern="0" spc="21" dirty="0">
                <a:solidFill>
                  <a:srgbClr val="8E1E8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12%</a:t>
            </a:r>
          </a:p>
        </p:txBody>
      </p:sp>
      <p:sp>
        <p:nvSpPr>
          <p:cNvPr id="48" name="Text 34">
            <a:extLst>
              <a:ext uri="{FF2B5EF4-FFF2-40B4-BE49-F238E27FC236}">
                <a16:creationId xmlns:a16="http://schemas.microsoft.com/office/drawing/2014/main" id="{8A90FFC6-97C8-5AC3-D204-9FA8D81F5254}"/>
              </a:ext>
            </a:extLst>
          </p:cNvPr>
          <p:cNvSpPr/>
          <p:nvPr/>
        </p:nvSpPr>
        <p:spPr>
          <a:xfrm>
            <a:off x="1134421" y="2686789"/>
            <a:ext cx="214487" cy="995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33" b="1" kern="0" spc="21" dirty="0">
                <a:solidFill>
                  <a:srgbClr val="168B1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11%</a:t>
            </a:r>
          </a:p>
        </p:txBody>
      </p:sp>
      <p:sp>
        <p:nvSpPr>
          <p:cNvPr id="50" name="Text 34">
            <a:extLst>
              <a:ext uri="{FF2B5EF4-FFF2-40B4-BE49-F238E27FC236}">
                <a16:creationId xmlns:a16="http://schemas.microsoft.com/office/drawing/2014/main" id="{6EA56EDC-8537-9B67-8A19-7E4E76CFFEAF}"/>
              </a:ext>
            </a:extLst>
          </p:cNvPr>
          <p:cNvSpPr/>
          <p:nvPr/>
        </p:nvSpPr>
        <p:spPr>
          <a:xfrm>
            <a:off x="5510433" y="2919697"/>
            <a:ext cx="214487" cy="995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33" b="1" kern="0" spc="21" dirty="0">
                <a:solidFill>
                  <a:srgbClr val="168B1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6%</a:t>
            </a:r>
          </a:p>
        </p:txBody>
      </p:sp>
      <p:sp>
        <p:nvSpPr>
          <p:cNvPr id="52" name="Text 34">
            <a:extLst>
              <a:ext uri="{FF2B5EF4-FFF2-40B4-BE49-F238E27FC236}">
                <a16:creationId xmlns:a16="http://schemas.microsoft.com/office/drawing/2014/main" id="{6CAA2135-32BE-F97A-E929-BDC918520594}"/>
              </a:ext>
            </a:extLst>
          </p:cNvPr>
          <p:cNvSpPr/>
          <p:nvPr/>
        </p:nvSpPr>
        <p:spPr>
          <a:xfrm>
            <a:off x="2688086" y="1931526"/>
            <a:ext cx="214487" cy="995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33" b="1" kern="0" spc="21" dirty="0">
                <a:solidFill>
                  <a:srgbClr val="8E1E8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26%</a:t>
            </a:r>
          </a:p>
        </p:txBody>
      </p:sp>
    </p:spTree>
    <p:extLst>
      <p:ext uri="{BB962C8B-B14F-4D97-AF65-F5344CB8AC3E}">
        <p14:creationId xmlns:p14="http://schemas.microsoft.com/office/powerpoint/2010/main" val="3243805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C3565-7AAF-EA14-0640-ED361E4C1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0">
            <a:extLst>
              <a:ext uri="{FF2B5EF4-FFF2-40B4-BE49-F238E27FC236}">
                <a16:creationId xmlns:a16="http://schemas.microsoft.com/office/drawing/2014/main" id="{096BE373-06BE-A585-8A63-26975614B6A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C122C">
                  <a:alpha val="96863"/>
                </a:srgbClr>
              </a:gs>
              <a:gs pos="50000">
                <a:srgbClr val="002060">
                  <a:alpha val="92000"/>
                </a:srgbClr>
              </a:gs>
              <a:gs pos="100000">
                <a:srgbClr val="15A0FF">
                  <a:alpha val="8000"/>
                </a:srgbClr>
              </a:gs>
            </a:gsLst>
            <a:lin ang="420000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FA2DCE97-F852-953B-8A06-853B4AD1CC9B}"/>
              </a:ext>
            </a:extLst>
          </p:cNvPr>
          <p:cNvSpPr/>
          <p:nvPr/>
        </p:nvSpPr>
        <p:spPr>
          <a:xfrm>
            <a:off x="8001000" y="0"/>
            <a:ext cx="4191000" cy="3810000"/>
          </a:xfrm>
          <a:prstGeom prst="ellipse">
            <a:avLst/>
          </a:prstGeom>
          <a:noFill/>
          <a:ln w="9525">
            <a:solidFill>
              <a:srgbClr val="00C6A7">
                <a:alpha val="6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BAF5209-79D0-696D-5654-EB3A0ADC0FCE}"/>
              </a:ext>
            </a:extLst>
          </p:cNvPr>
          <p:cNvSpPr/>
          <p:nvPr/>
        </p:nvSpPr>
        <p:spPr>
          <a:xfrm>
            <a:off x="7999412" y="0"/>
            <a:ext cx="3620293" cy="3048000"/>
          </a:xfrm>
          <a:prstGeom prst="ellipse">
            <a:avLst/>
          </a:prstGeom>
          <a:noFill/>
          <a:ln w="9525">
            <a:solidFill>
              <a:srgbClr val="00C6A7">
                <a:alpha val="6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5C3EC89-CED8-63D4-7DF9-F972A875D420}"/>
              </a:ext>
            </a:extLst>
          </p:cNvPr>
          <p:cNvSpPr/>
          <p:nvPr/>
        </p:nvSpPr>
        <p:spPr>
          <a:xfrm>
            <a:off x="0" y="5525293"/>
            <a:ext cx="1332707" cy="1332707"/>
          </a:xfrm>
          <a:prstGeom prst="ellipse">
            <a:avLst/>
          </a:prstGeom>
          <a:noFill/>
          <a:ln w="9525">
            <a:solidFill>
              <a:srgbClr val="00C6A7">
                <a:alpha val="6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E93EFD0-A81B-301E-B101-EB9B1B64BFD6}"/>
              </a:ext>
            </a:extLst>
          </p:cNvPr>
          <p:cNvSpPr/>
          <p:nvPr/>
        </p:nvSpPr>
        <p:spPr>
          <a:xfrm>
            <a:off x="609601" y="529960"/>
            <a:ext cx="47228" cy="419893"/>
          </a:xfrm>
          <a:prstGeom prst="roundRect">
            <a:avLst>
              <a:gd name="adj" fmla="val 60953"/>
            </a:avLst>
          </a:prstGeom>
          <a:gradFill rotWithShape="1">
            <a:gsLst>
              <a:gs pos="0">
                <a:srgbClr val="15A0FF"/>
              </a:gs>
              <a:gs pos="100000">
                <a:srgbClr val="00C6A7">
                  <a:alpha val="3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78A902B-D05C-875E-57DD-8C782C9E21E5}"/>
              </a:ext>
            </a:extLst>
          </p:cNvPr>
          <p:cNvSpPr/>
          <p:nvPr/>
        </p:nvSpPr>
        <p:spPr>
          <a:xfrm>
            <a:off x="840721" y="553997"/>
            <a:ext cx="3763516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3300"/>
              </a:lnSpc>
            </a:pPr>
            <a:r>
              <a:rPr lang="en-US" sz="3000" kern="0" spc="6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Casual Riders Can Be Converted to Annual Members?</a:t>
            </a:r>
            <a:endParaRPr lang="en-US" sz="3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2F17EB2-781F-84B0-ECF6-668EDE99D41A}"/>
              </a:ext>
            </a:extLst>
          </p:cNvPr>
          <p:cNvSpPr/>
          <p:nvPr/>
        </p:nvSpPr>
        <p:spPr>
          <a:xfrm>
            <a:off x="846119" y="941863"/>
            <a:ext cx="844862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00"/>
              </a:lnSpc>
              <a:spcAft>
                <a:spcPts val="2707"/>
              </a:spcAft>
            </a:pPr>
            <a:r>
              <a:rPr lang="en-US" sz="1200" kern="0" spc="96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CYCLISTIC BIKE-SHARE · CONCLUSION &amp; KEY INSIGHTS</a:t>
            </a:r>
            <a:endParaRPr lang="en-US" sz="1200" dirty="0">
              <a:solidFill>
                <a:srgbClr val="0087E2"/>
              </a:solidFill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6FB7444-F423-612A-46AE-A92D74196831}"/>
              </a:ext>
            </a:extLst>
          </p:cNvPr>
          <p:cNvSpPr/>
          <p:nvPr/>
        </p:nvSpPr>
        <p:spPr>
          <a:xfrm>
            <a:off x="609601" y="1564481"/>
            <a:ext cx="5400873" cy="2173288"/>
          </a:xfrm>
          <a:prstGeom prst="roundRect">
            <a:avLst>
              <a:gd name="adj" fmla="val 5298"/>
            </a:avLst>
          </a:prstGeom>
          <a:solidFill>
            <a:schemeClr val="bg2">
              <a:lumMod val="25000"/>
              <a:alpha val="55000"/>
            </a:schemeClr>
          </a:solidFill>
          <a:ln w="9525">
            <a:solidFill>
              <a:srgbClr val="00C6A7">
                <a:alpha val="20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D6797DE-C851-BC75-50B7-7D372F359092}"/>
              </a:ext>
            </a:extLst>
          </p:cNvPr>
          <p:cNvSpPr/>
          <p:nvPr/>
        </p:nvSpPr>
        <p:spPr>
          <a:xfrm>
            <a:off x="889794" y="1824236"/>
            <a:ext cx="496093" cy="496093"/>
          </a:xfrm>
          <a:prstGeom prst="roundRect">
            <a:avLst>
              <a:gd name="adj" fmla="val 23211"/>
            </a:avLst>
          </a:prstGeom>
          <a:solidFill>
            <a:srgbClr val="00C6A7">
              <a:alpha val="12000"/>
            </a:srgbClr>
          </a:solidFill>
          <a:ln w="9525">
            <a:solidFill>
              <a:srgbClr val="15A0FF"/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4F78404-32D6-192A-D6AF-7E4A086F305A}"/>
              </a:ext>
            </a:extLst>
          </p:cNvPr>
          <p:cNvSpPr/>
          <p:nvPr/>
        </p:nvSpPr>
        <p:spPr>
          <a:xfrm>
            <a:off x="1569080" y="2000504"/>
            <a:ext cx="4236160" cy="508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3"/>
              </a:lnSpc>
            </a:pPr>
            <a:r>
              <a:rPr lang="en-CA" sz="1333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</a:t>
            </a:r>
            <a:r>
              <a:rPr lang="ko-KR" altLang="en-US" sz="1333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CA" altLang="ko-KR" sz="1333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 Now Behave More Like Commuters</a:t>
            </a:r>
            <a:endParaRPr lang="en-US" sz="1333" b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65A1E933-6765-BBD6-CA23-8BC91ABF3885}"/>
              </a:ext>
            </a:extLst>
          </p:cNvPr>
          <p:cNvSpPr/>
          <p:nvPr/>
        </p:nvSpPr>
        <p:spPr>
          <a:xfrm>
            <a:off x="6181328" y="1564481"/>
            <a:ext cx="5401072" cy="2173288"/>
          </a:xfrm>
          <a:prstGeom prst="roundRect">
            <a:avLst>
              <a:gd name="adj" fmla="val 5298"/>
            </a:avLst>
          </a:prstGeom>
          <a:solidFill>
            <a:schemeClr val="bg2">
              <a:lumMod val="25000"/>
              <a:alpha val="55000"/>
            </a:schemeClr>
          </a:solidFill>
          <a:ln w="9525">
            <a:solidFill>
              <a:srgbClr val="00C6A7">
                <a:alpha val="18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38A9620A-01FB-9251-2D8B-5DCD1B7AE60E}"/>
              </a:ext>
            </a:extLst>
          </p:cNvPr>
          <p:cNvSpPr/>
          <p:nvPr/>
        </p:nvSpPr>
        <p:spPr>
          <a:xfrm>
            <a:off x="6461522" y="1824236"/>
            <a:ext cx="496093" cy="496093"/>
          </a:xfrm>
          <a:prstGeom prst="roundRect">
            <a:avLst>
              <a:gd name="adj" fmla="val 23211"/>
            </a:avLst>
          </a:prstGeom>
          <a:solidFill>
            <a:srgbClr val="00C6A7">
              <a:alpha val="12000"/>
            </a:srgbClr>
          </a:solidFill>
          <a:ln w="9525">
            <a:solidFill>
              <a:srgbClr val="15A0FF"/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13DEA088-45CE-E97F-90D8-0871F5C733CF}"/>
              </a:ext>
            </a:extLst>
          </p:cNvPr>
          <p:cNvSpPr/>
          <p:nvPr/>
        </p:nvSpPr>
        <p:spPr>
          <a:xfrm>
            <a:off x="7146212" y="1992858"/>
            <a:ext cx="4236363" cy="48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3"/>
              </a:lnSpc>
            </a:pPr>
            <a:r>
              <a:rPr lang="en-US" sz="1333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Riders Use the Network More Broadly</a:t>
            </a:r>
            <a:endParaRPr lang="en-US" sz="1333" b="1" dirty="0">
              <a:solidFill>
                <a:schemeClr val="bg1"/>
              </a:solidFill>
            </a:endParaRP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4768CA33-8D23-FA30-DB0A-9E26ECCD79B0}"/>
              </a:ext>
            </a:extLst>
          </p:cNvPr>
          <p:cNvSpPr/>
          <p:nvPr/>
        </p:nvSpPr>
        <p:spPr>
          <a:xfrm>
            <a:off x="609601" y="3908624"/>
            <a:ext cx="5400873" cy="2173288"/>
          </a:xfrm>
          <a:prstGeom prst="roundRect">
            <a:avLst>
              <a:gd name="adj" fmla="val 5298"/>
            </a:avLst>
          </a:prstGeom>
          <a:solidFill>
            <a:schemeClr val="bg2">
              <a:lumMod val="25000"/>
              <a:alpha val="71000"/>
            </a:schemeClr>
          </a:solidFill>
          <a:ln w="9525">
            <a:solidFill>
              <a:srgbClr val="00C6A7">
                <a:alpha val="18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9F7ECE1B-C00A-DD37-51BB-800FBF138797}"/>
              </a:ext>
            </a:extLst>
          </p:cNvPr>
          <p:cNvSpPr/>
          <p:nvPr/>
        </p:nvSpPr>
        <p:spPr>
          <a:xfrm>
            <a:off x="889794" y="4168379"/>
            <a:ext cx="496093" cy="496093"/>
          </a:xfrm>
          <a:prstGeom prst="roundRect">
            <a:avLst>
              <a:gd name="adj" fmla="val 23211"/>
            </a:avLst>
          </a:prstGeom>
          <a:solidFill>
            <a:srgbClr val="00C6A7">
              <a:alpha val="12000"/>
            </a:srgbClr>
          </a:solidFill>
          <a:ln w="9525">
            <a:solidFill>
              <a:srgbClr val="15A0FF"/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163C0FD2-8ED2-7D88-B475-2144B11C00CC}"/>
              </a:ext>
            </a:extLst>
          </p:cNvPr>
          <p:cNvSpPr/>
          <p:nvPr/>
        </p:nvSpPr>
        <p:spPr>
          <a:xfrm>
            <a:off x="6181328" y="3908624"/>
            <a:ext cx="5401072" cy="2173288"/>
          </a:xfrm>
          <a:prstGeom prst="roundRect">
            <a:avLst>
              <a:gd name="adj" fmla="val 5298"/>
            </a:avLst>
          </a:prstGeom>
          <a:solidFill>
            <a:schemeClr val="bg2">
              <a:lumMod val="25000"/>
              <a:alpha val="80000"/>
            </a:schemeClr>
          </a:solidFill>
          <a:ln w="9525">
            <a:solidFill>
              <a:srgbClr val="00C6A7">
                <a:alpha val="18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40FDD400-7CEA-AD10-B399-25DCA28506D7}"/>
              </a:ext>
            </a:extLst>
          </p:cNvPr>
          <p:cNvSpPr/>
          <p:nvPr/>
        </p:nvSpPr>
        <p:spPr>
          <a:xfrm>
            <a:off x="6461522" y="4168379"/>
            <a:ext cx="496093" cy="496093"/>
          </a:xfrm>
          <a:prstGeom prst="roundRect">
            <a:avLst>
              <a:gd name="adj" fmla="val 23211"/>
            </a:avLst>
          </a:prstGeom>
          <a:solidFill>
            <a:srgbClr val="00C6A7">
              <a:alpha val="12000"/>
            </a:srgbClr>
          </a:solidFill>
          <a:ln w="9525">
            <a:solidFill>
              <a:srgbClr val="15A0FF"/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FA780AD1-18F7-57BD-6256-C4EAC64CCAF7}"/>
              </a:ext>
            </a:extLst>
          </p:cNvPr>
          <p:cNvSpPr/>
          <p:nvPr/>
        </p:nvSpPr>
        <p:spPr>
          <a:xfrm>
            <a:off x="7146212" y="4356936"/>
            <a:ext cx="4236363" cy="26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3"/>
              </a:lnSpc>
            </a:pPr>
            <a:r>
              <a:rPr lang="en-US" sz="1347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Riders Drive Cyclistic’s Growth</a:t>
            </a:r>
          </a:p>
        </p:txBody>
      </p:sp>
      <p:sp>
        <p:nvSpPr>
          <p:cNvPr id="44" name="Text 38">
            <a:extLst>
              <a:ext uri="{FF2B5EF4-FFF2-40B4-BE49-F238E27FC236}">
                <a16:creationId xmlns:a16="http://schemas.microsoft.com/office/drawing/2014/main" id="{4433E5A0-ED8E-8A60-916D-B055F9ADA800}"/>
              </a:ext>
            </a:extLst>
          </p:cNvPr>
          <p:cNvSpPr/>
          <p:nvPr/>
        </p:nvSpPr>
        <p:spPr>
          <a:xfrm>
            <a:off x="596901" y="1577182"/>
            <a:ext cx="5375479" cy="28773"/>
          </a:xfrm>
          <a:custGeom>
            <a:avLst/>
            <a:gdLst/>
            <a:ahLst/>
            <a:cxnLst/>
            <a:rect l="l" t="t" r="r" b="b"/>
            <a:pathLst>
              <a:path w="4031609" h="21580">
                <a:moveTo>
                  <a:pt x="86360" y="0"/>
                </a:moveTo>
                <a:lnTo>
                  <a:pt x="3945249" y="0"/>
                </a:lnTo>
                <a:lnTo>
                  <a:pt x="3966664" y="2698"/>
                </a:lnTo>
                <a:lnTo>
                  <a:pt x="3975294" y="5395"/>
                </a:lnTo>
                <a:lnTo>
                  <a:pt x="3981749" y="8093"/>
                </a:lnTo>
                <a:lnTo>
                  <a:pt x="3987048" y="10790"/>
                </a:lnTo>
                <a:lnTo>
                  <a:pt x="3991591" y="13488"/>
                </a:lnTo>
                <a:lnTo>
                  <a:pt x="3995583" y="16185"/>
                </a:lnTo>
                <a:lnTo>
                  <a:pt x="3999145" y="18883"/>
                </a:lnTo>
                <a:lnTo>
                  <a:pt x="4002359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15A0FF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45" name="Text 39">
            <a:extLst>
              <a:ext uri="{FF2B5EF4-FFF2-40B4-BE49-F238E27FC236}">
                <a16:creationId xmlns:a16="http://schemas.microsoft.com/office/drawing/2014/main" id="{56B556FD-FA21-AE5B-5EBB-3C57AFD7385B}"/>
              </a:ext>
            </a:extLst>
          </p:cNvPr>
          <p:cNvSpPr/>
          <p:nvPr/>
        </p:nvSpPr>
        <p:spPr>
          <a:xfrm>
            <a:off x="6168628" y="1577182"/>
            <a:ext cx="5375669" cy="28773"/>
          </a:xfrm>
          <a:custGeom>
            <a:avLst/>
            <a:gdLst/>
            <a:ahLst/>
            <a:cxnLst/>
            <a:rect l="l" t="t" r="r" b="b"/>
            <a:pathLst>
              <a:path w="4031752" h="21580">
                <a:moveTo>
                  <a:pt x="86360" y="0"/>
                </a:moveTo>
                <a:lnTo>
                  <a:pt x="3945391" y="0"/>
                </a:lnTo>
                <a:lnTo>
                  <a:pt x="3966807" y="2698"/>
                </a:lnTo>
                <a:lnTo>
                  <a:pt x="3975437" y="5395"/>
                </a:lnTo>
                <a:lnTo>
                  <a:pt x="3981891" y="8093"/>
                </a:lnTo>
                <a:lnTo>
                  <a:pt x="3987191" y="10790"/>
                </a:lnTo>
                <a:lnTo>
                  <a:pt x="3991734" y="13488"/>
                </a:lnTo>
                <a:lnTo>
                  <a:pt x="3995726" y="16185"/>
                </a:lnTo>
                <a:lnTo>
                  <a:pt x="3999288" y="18883"/>
                </a:lnTo>
                <a:lnTo>
                  <a:pt x="4002502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15A0FF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46" name="Text 40">
            <a:extLst>
              <a:ext uri="{FF2B5EF4-FFF2-40B4-BE49-F238E27FC236}">
                <a16:creationId xmlns:a16="http://schemas.microsoft.com/office/drawing/2014/main" id="{4CCF2642-BD5D-A130-A4ED-A77DBB8D6D8A}"/>
              </a:ext>
            </a:extLst>
          </p:cNvPr>
          <p:cNvSpPr/>
          <p:nvPr/>
        </p:nvSpPr>
        <p:spPr>
          <a:xfrm>
            <a:off x="596901" y="3921324"/>
            <a:ext cx="5375479" cy="28773"/>
          </a:xfrm>
          <a:custGeom>
            <a:avLst/>
            <a:gdLst/>
            <a:ahLst/>
            <a:cxnLst/>
            <a:rect l="l" t="t" r="r" b="b"/>
            <a:pathLst>
              <a:path w="4031609" h="21580">
                <a:moveTo>
                  <a:pt x="86360" y="0"/>
                </a:moveTo>
                <a:lnTo>
                  <a:pt x="3945249" y="0"/>
                </a:lnTo>
                <a:lnTo>
                  <a:pt x="3966664" y="2698"/>
                </a:lnTo>
                <a:lnTo>
                  <a:pt x="3975294" y="5395"/>
                </a:lnTo>
                <a:lnTo>
                  <a:pt x="3981749" y="8093"/>
                </a:lnTo>
                <a:lnTo>
                  <a:pt x="3987048" y="10790"/>
                </a:lnTo>
                <a:lnTo>
                  <a:pt x="3991591" y="13488"/>
                </a:lnTo>
                <a:lnTo>
                  <a:pt x="3995583" y="16185"/>
                </a:lnTo>
                <a:lnTo>
                  <a:pt x="3999145" y="18883"/>
                </a:lnTo>
                <a:lnTo>
                  <a:pt x="4002359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15A0FF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47" name="Text 41">
            <a:extLst>
              <a:ext uri="{FF2B5EF4-FFF2-40B4-BE49-F238E27FC236}">
                <a16:creationId xmlns:a16="http://schemas.microsoft.com/office/drawing/2014/main" id="{A068CFAC-EF38-FA3D-3F52-D3A2D5B999F3}"/>
              </a:ext>
            </a:extLst>
          </p:cNvPr>
          <p:cNvSpPr/>
          <p:nvPr/>
        </p:nvSpPr>
        <p:spPr>
          <a:xfrm>
            <a:off x="6168628" y="3921324"/>
            <a:ext cx="5375669" cy="28773"/>
          </a:xfrm>
          <a:custGeom>
            <a:avLst/>
            <a:gdLst/>
            <a:ahLst/>
            <a:cxnLst/>
            <a:rect l="l" t="t" r="r" b="b"/>
            <a:pathLst>
              <a:path w="4031752" h="21580">
                <a:moveTo>
                  <a:pt x="86360" y="0"/>
                </a:moveTo>
                <a:lnTo>
                  <a:pt x="3945391" y="0"/>
                </a:lnTo>
                <a:lnTo>
                  <a:pt x="3966807" y="2698"/>
                </a:lnTo>
                <a:lnTo>
                  <a:pt x="3975437" y="5395"/>
                </a:lnTo>
                <a:lnTo>
                  <a:pt x="3981891" y="8093"/>
                </a:lnTo>
                <a:lnTo>
                  <a:pt x="3987191" y="10790"/>
                </a:lnTo>
                <a:lnTo>
                  <a:pt x="3991734" y="13488"/>
                </a:lnTo>
                <a:lnTo>
                  <a:pt x="3995726" y="16185"/>
                </a:lnTo>
                <a:lnTo>
                  <a:pt x="3999288" y="18883"/>
                </a:lnTo>
                <a:lnTo>
                  <a:pt x="4002502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15A0FF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CEA2D5E3-107E-F5C3-05AD-302F4C6726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40579" y="4423547"/>
            <a:ext cx="185340" cy="185340"/>
          </a:xfrm>
          <a:prstGeom prst="rect">
            <a:avLst/>
          </a:prstGeom>
        </p:spPr>
      </p:pic>
      <p:pic>
        <p:nvPicPr>
          <p:cNvPr id="56" name="Graphic 55" descr="Fireworks with solid fill">
            <a:extLst>
              <a:ext uri="{FF2B5EF4-FFF2-40B4-BE49-F238E27FC236}">
                <a16:creationId xmlns:a16="http://schemas.microsoft.com/office/drawing/2014/main" id="{B7FF49E0-AC8C-C1B7-9C83-F906C643A9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54067" y="4240791"/>
            <a:ext cx="240271" cy="240271"/>
          </a:xfrm>
          <a:prstGeom prst="rect">
            <a:avLst/>
          </a:prstGeom>
        </p:spPr>
      </p:pic>
      <p:grpSp>
        <p:nvGrpSpPr>
          <p:cNvPr id="77" name="Group 76">
            <a:extLst>
              <a:ext uri="{FF2B5EF4-FFF2-40B4-BE49-F238E27FC236}">
                <a16:creationId xmlns:a16="http://schemas.microsoft.com/office/drawing/2014/main" id="{662C167D-A2FA-82EA-F313-F691627E766B}"/>
              </a:ext>
            </a:extLst>
          </p:cNvPr>
          <p:cNvGrpSpPr/>
          <p:nvPr/>
        </p:nvGrpSpPr>
        <p:grpSpPr>
          <a:xfrm>
            <a:off x="989308" y="1917599"/>
            <a:ext cx="282893" cy="245973"/>
            <a:chOff x="4619549" y="201030"/>
            <a:chExt cx="809567" cy="827077"/>
          </a:xfrm>
        </p:grpSpPr>
        <p:pic>
          <p:nvPicPr>
            <p:cNvPr id="60" name="Graphic 59" descr="City with solid fill">
              <a:extLst>
                <a:ext uri="{FF2B5EF4-FFF2-40B4-BE49-F238E27FC236}">
                  <a16:creationId xmlns:a16="http://schemas.microsoft.com/office/drawing/2014/main" id="{B8D234D3-CC03-20AA-2C85-5E154D629BB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26272" y="201030"/>
              <a:ext cx="365097" cy="660021"/>
            </a:xfrm>
            <a:prstGeom prst="rect">
              <a:avLst/>
            </a:prstGeom>
          </p:spPr>
        </p:pic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3470BF5F-9C65-DC14-393A-54B805E84772}"/>
                </a:ext>
              </a:extLst>
            </p:cNvPr>
            <p:cNvSpPr/>
            <p:nvPr/>
          </p:nvSpPr>
          <p:spPr>
            <a:xfrm>
              <a:off x="5279517" y="313733"/>
              <a:ext cx="149599" cy="261918"/>
            </a:xfrm>
            <a:custGeom>
              <a:avLst/>
              <a:gdLst>
                <a:gd name="csX0" fmla="*/ 109547 w 149599"/>
                <a:gd name="csY0" fmla="*/ 140818 h 261918"/>
                <a:gd name="csX1" fmla="*/ 134198 w 149599"/>
                <a:gd name="csY1" fmla="*/ 140818 h 261918"/>
                <a:gd name="csX2" fmla="*/ 74876 w 149599"/>
                <a:gd name="csY2" fmla="*/ 0 h 261918"/>
                <a:gd name="csX3" fmla="*/ 15411 w 149599"/>
                <a:gd name="csY3" fmla="*/ 140818 h 261918"/>
                <a:gd name="csX4" fmla="*/ 40062 w 149599"/>
                <a:gd name="csY4" fmla="*/ 140818 h 261918"/>
                <a:gd name="csX5" fmla="*/ 0 w 149599"/>
                <a:gd name="csY5" fmla="*/ 224485 h 261918"/>
                <a:gd name="csX6" fmla="*/ 59474 w 149599"/>
                <a:gd name="csY6" fmla="*/ 224485 h 261918"/>
                <a:gd name="csX7" fmla="*/ 59474 w 149599"/>
                <a:gd name="csY7" fmla="*/ 261918 h 261918"/>
                <a:gd name="csX8" fmla="*/ 90288 w 149599"/>
                <a:gd name="csY8" fmla="*/ 261918 h 261918"/>
                <a:gd name="csX9" fmla="*/ 90288 w 149599"/>
                <a:gd name="csY9" fmla="*/ 224485 h 261918"/>
                <a:gd name="csX10" fmla="*/ 149600 w 149599"/>
                <a:gd name="csY10" fmla="*/ 224485 h 261918"/>
                <a:gd name="csX11" fmla="*/ 109547 w 149599"/>
                <a:gd name="csY11" fmla="*/ 140818 h 261918"/>
                <a:gd name="csX12" fmla="*/ 109547 w 149599"/>
                <a:gd name="csY12" fmla="*/ 140818 h 2619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49599" h="261918">
                  <a:moveTo>
                    <a:pt x="109547" y="140818"/>
                  </a:moveTo>
                  <a:lnTo>
                    <a:pt x="134198" y="140818"/>
                  </a:lnTo>
                  <a:lnTo>
                    <a:pt x="74876" y="0"/>
                  </a:lnTo>
                  <a:lnTo>
                    <a:pt x="15411" y="140818"/>
                  </a:lnTo>
                  <a:lnTo>
                    <a:pt x="40062" y="140818"/>
                  </a:lnTo>
                  <a:lnTo>
                    <a:pt x="0" y="224485"/>
                  </a:lnTo>
                  <a:lnTo>
                    <a:pt x="59474" y="224485"/>
                  </a:lnTo>
                  <a:lnTo>
                    <a:pt x="59474" y="261918"/>
                  </a:lnTo>
                  <a:lnTo>
                    <a:pt x="90288" y="261918"/>
                  </a:lnTo>
                  <a:lnTo>
                    <a:pt x="90288" y="224485"/>
                  </a:lnTo>
                  <a:lnTo>
                    <a:pt x="149600" y="224485"/>
                  </a:lnTo>
                  <a:lnTo>
                    <a:pt x="109547" y="140818"/>
                  </a:lnTo>
                  <a:lnTo>
                    <a:pt x="109547" y="140818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CA" sz="240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FFC47604-B968-BCF2-C31B-9A7C78EDA022}"/>
                </a:ext>
              </a:extLst>
            </p:cNvPr>
            <p:cNvSpPr/>
            <p:nvPr/>
          </p:nvSpPr>
          <p:spPr>
            <a:xfrm>
              <a:off x="4619549" y="447076"/>
              <a:ext cx="707311" cy="581031"/>
            </a:xfrm>
            <a:custGeom>
              <a:avLst/>
              <a:gdLst>
                <a:gd name="csX0" fmla="*/ 474812 w 707311"/>
                <a:gd name="csY0" fmla="*/ 72577 h 581031"/>
                <a:gd name="csX1" fmla="*/ 639661 w 707311"/>
                <a:gd name="csY1" fmla="*/ 164294 h 581031"/>
                <a:gd name="csX2" fmla="*/ 683914 w 707311"/>
                <a:gd name="csY2" fmla="*/ 332477 h 581031"/>
                <a:gd name="csX3" fmla="*/ 523361 w 707311"/>
                <a:gd name="csY3" fmla="*/ 581032 h 581031"/>
                <a:gd name="csX4" fmla="*/ 0 w 707311"/>
                <a:gd name="csY4" fmla="*/ 581032 h 581031"/>
                <a:gd name="csX5" fmla="*/ 417052 w 707311"/>
                <a:gd name="csY5" fmla="*/ 323599 h 581031"/>
                <a:gd name="csX6" fmla="*/ 466725 w 707311"/>
                <a:gd name="csY6" fmla="*/ 161932 h 581031"/>
                <a:gd name="csX7" fmla="*/ 380448 w 707311"/>
                <a:gd name="csY7" fmla="*/ 72206 h 581031"/>
                <a:gd name="csX8" fmla="*/ 476250 w 707311"/>
                <a:gd name="csY8" fmla="*/ 7 h 581031"/>
                <a:gd name="csX9" fmla="*/ 514350 w 707311"/>
                <a:gd name="csY9" fmla="*/ 7 h 581031"/>
                <a:gd name="csX10" fmla="*/ 474812 w 707311"/>
                <a:gd name="csY10" fmla="*/ 72577 h 5810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7311" h="581031">
                  <a:moveTo>
                    <a:pt x="474812" y="72577"/>
                  </a:moveTo>
                  <a:cubicBezTo>
                    <a:pt x="514750" y="99609"/>
                    <a:pt x="621573" y="151416"/>
                    <a:pt x="639661" y="164294"/>
                  </a:cubicBezTo>
                  <a:cubicBezTo>
                    <a:pt x="664959" y="182296"/>
                    <a:pt x="747141" y="222825"/>
                    <a:pt x="683914" y="332477"/>
                  </a:cubicBezTo>
                  <a:cubicBezTo>
                    <a:pt x="620687" y="442128"/>
                    <a:pt x="562127" y="522929"/>
                    <a:pt x="523361" y="581032"/>
                  </a:cubicBezTo>
                  <a:lnTo>
                    <a:pt x="0" y="581032"/>
                  </a:lnTo>
                  <a:cubicBezTo>
                    <a:pt x="130131" y="474209"/>
                    <a:pt x="330460" y="386064"/>
                    <a:pt x="417052" y="323599"/>
                  </a:cubicBezTo>
                  <a:cubicBezTo>
                    <a:pt x="503644" y="261134"/>
                    <a:pt x="508340" y="213948"/>
                    <a:pt x="466725" y="161932"/>
                  </a:cubicBezTo>
                  <a:cubicBezTo>
                    <a:pt x="428625" y="114307"/>
                    <a:pt x="394449" y="100886"/>
                    <a:pt x="380448" y="72206"/>
                  </a:cubicBezTo>
                  <a:cubicBezTo>
                    <a:pt x="355521" y="21171"/>
                    <a:pt x="445541" y="-432"/>
                    <a:pt x="476250" y="7"/>
                  </a:cubicBezTo>
                  <a:cubicBezTo>
                    <a:pt x="479974" y="7"/>
                    <a:pt x="514350" y="7"/>
                    <a:pt x="514350" y="7"/>
                  </a:cubicBezTo>
                  <a:cubicBezTo>
                    <a:pt x="514350" y="7"/>
                    <a:pt x="434864" y="45555"/>
                    <a:pt x="474812" y="72577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CA" sz="2400"/>
            </a:p>
          </p:txBody>
        </p:sp>
      </p:grpSp>
      <p:pic>
        <p:nvPicPr>
          <p:cNvPr id="80" name="Graphic 79" descr="Cycling with solid fill">
            <a:extLst>
              <a:ext uri="{FF2B5EF4-FFF2-40B4-BE49-F238E27FC236}">
                <a16:creationId xmlns:a16="http://schemas.microsoft.com/office/drawing/2014/main" id="{850CFECA-DFBC-E516-EC50-FD45CEAA6C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5475" y="2063653"/>
            <a:ext cx="173828" cy="173828"/>
          </a:xfrm>
          <a:prstGeom prst="rect">
            <a:avLst/>
          </a:prstGeom>
        </p:spPr>
      </p:pic>
      <p:sp>
        <p:nvSpPr>
          <p:cNvPr id="117" name="Freeform: Shape 116">
            <a:extLst>
              <a:ext uri="{FF2B5EF4-FFF2-40B4-BE49-F238E27FC236}">
                <a16:creationId xmlns:a16="http://schemas.microsoft.com/office/drawing/2014/main" id="{0B35578C-BC48-C74B-3CD8-2352E2D5A1EC}"/>
              </a:ext>
            </a:extLst>
          </p:cNvPr>
          <p:cNvSpPr/>
          <p:nvPr/>
        </p:nvSpPr>
        <p:spPr>
          <a:xfrm>
            <a:off x="1081565" y="4291260"/>
            <a:ext cx="46136" cy="46136"/>
          </a:xfrm>
          <a:custGeom>
            <a:avLst/>
            <a:gdLst>
              <a:gd name="csX0" fmla="*/ 17301 w 34602"/>
              <a:gd name="csY0" fmla="*/ 34602 h 34602"/>
              <a:gd name="csX1" fmla="*/ 34603 w 34602"/>
              <a:gd name="csY1" fmla="*/ 17301 h 34602"/>
              <a:gd name="csX2" fmla="*/ 17301 w 34602"/>
              <a:gd name="csY2" fmla="*/ 0 h 34602"/>
              <a:gd name="csX3" fmla="*/ 0 w 34602"/>
              <a:gd name="csY3" fmla="*/ 17301 h 34602"/>
              <a:gd name="csX4" fmla="*/ 17301 w 34602"/>
              <a:gd name="csY4" fmla="*/ 34602 h 34602"/>
              <a:gd name="csX5" fmla="*/ 17301 w 34602"/>
              <a:gd name="csY5" fmla="*/ 5767 h 34602"/>
              <a:gd name="csX6" fmla="*/ 28835 w 34602"/>
              <a:gd name="csY6" fmla="*/ 17301 h 34602"/>
              <a:gd name="csX7" fmla="*/ 17301 w 34602"/>
              <a:gd name="csY7" fmla="*/ 28835 h 34602"/>
              <a:gd name="csX8" fmla="*/ 5767 w 34602"/>
              <a:gd name="csY8" fmla="*/ 17301 h 34602"/>
              <a:gd name="csX9" fmla="*/ 17301 w 34602"/>
              <a:gd name="csY9" fmla="*/ 5767 h 346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34602" h="34602">
                <a:moveTo>
                  <a:pt x="17301" y="34602"/>
                </a:moveTo>
                <a:cubicBezTo>
                  <a:pt x="26856" y="34602"/>
                  <a:pt x="34603" y="26856"/>
                  <a:pt x="34603" y="17301"/>
                </a:cubicBezTo>
                <a:cubicBezTo>
                  <a:pt x="34603" y="7746"/>
                  <a:pt x="26856" y="0"/>
                  <a:pt x="17301" y="0"/>
                </a:cubicBezTo>
                <a:cubicBezTo>
                  <a:pt x="7746" y="0"/>
                  <a:pt x="0" y="7746"/>
                  <a:pt x="0" y="17301"/>
                </a:cubicBezTo>
                <a:cubicBezTo>
                  <a:pt x="0" y="26856"/>
                  <a:pt x="7746" y="34602"/>
                  <a:pt x="17301" y="34602"/>
                </a:cubicBezTo>
                <a:close/>
                <a:moveTo>
                  <a:pt x="17301" y="5767"/>
                </a:moveTo>
                <a:cubicBezTo>
                  <a:pt x="23671" y="5767"/>
                  <a:pt x="28835" y="10931"/>
                  <a:pt x="28835" y="17301"/>
                </a:cubicBezTo>
                <a:cubicBezTo>
                  <a:pt x="28835" y="23671"/>
                  <a:pt x="23671" y="28835"/>
                  <a:pt x="17301" y="28835"/>
                </a:cubicBezTo>
                <a:cubicBezTo>
                  <a:pt x="10931" y="28835"/>
                  <a:pt x="5767" y="23671"/>
                  <a:pt x="5767" y="17301"/>
                </a:cubicBezTo>
                <a:cubicBezTo>
                  <a:pt x="5767" y="10931"/>
                  <a:pt x="10931" y="5767"/>
                  <a:pt x="17301" y="5767"/>
                </a:cubicBezTo>
                <a:close/>
              </a:path>
            </a:pathLst>
          </a:custGeom>
          <a:solidFill>
            <a:srgbClr val="FF6600"/>
          </a:solidFill>
          <a:ln w="2877" cap="flat">
            <a:noFill/>
            <a:prstDash val="solid"/>
            <a:miter/>
          </a:ln>
        </p:spPr>
        <p:txBody>
          <a:bodyPr/>
          <a:lstStyle/>
          <a:p>
            <a:endParaRPr lang="en-CA" sz="2400"/>
          </a:p>
        </p:txBody>
      </p:sp>
      <p:sp>
        <p:nvSpPr>
          <p:cNvPr id="120" name="Freeform: Shape 119">
            <a:extLst>
              <a:ext uri="{FF2B5EF4-FFF2-40B4-BE49-F238E27FC236}">
                <a16:creationId xmlns:a16="http://schemas.microsoft.com/office/drawing/2014/main" id="{82729421-14FD-6273-2427-BA7ED2BF9451}"/>
              </a:ext>
            </a:extLst>
          </p:cNvPr>
          <p:cNvSpPr/>
          <p:nvPr/>
        </p:nvSpPr>
        <p:spPr>
          <a:xfrm>
            <a:off x="1002438" y="4255161"/>
            <a:ext cx="16783" cy="18643"/>
          </a:xfrm>
          <a:custGeom>
            <a:avLst/>
            <a:gdLst>
              <a:gd name="csX0" fmla="*/ 5897 w 12587"/>
              <a:gd name="csY0" fmla="*/ 12385 h 13982"/>
              <a:gd name="csX1" fmla="*/ 7036 w 12587"/>
              <a:gd name="csY1" fmla="*/ 13982 h 13982"/>
              <a:gd name="csX2" fmla="*/ 12587 w 12587"/>
              <a:gd name="csY2" fmla="*/ 10037 h 13982"/>
              <a:gd name="csX3" fmla="*/ 11434 w 12587"/>
              <a:gd name="csY3" fmla="*/ 8426 h 13982"/>
              <a:gd name="csX4" fmla="*/ 8054 w 12587"/>
              <a:gd name="csY4" fmla="*/ 2188 h 13982"/>
              <a:gd name="csX5" fmla="*/ 2189 w 12587"/>
              <a:gd name="csY5" fmla="*/ 558 h 13982"/>
              <a:gd name="csX6" fmla="*/ 557 w 12587"/>
              <a:gd name="csY6" fmla="*/ 6423 h 13982"/>
              <a:gd name="csX7" fmla="*/ 1088 w 12587"/>
              <a:gd name="csY7" fmla="*/ 7165 h 139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587" h="13982">
                <a:moveTo>
                  <a:pt x="5897" y="12385"/>
                </a:moveTo>
                <a:lnTo>
                  <a:pt x="7036" y="13982"/>
                </a:lnTo>
                <a:lnTo>
                  <a:pt x="12587" y="10037"/>
                </a:lnTo>
                <a:lnTo>
                  <a:pt x="11434" y="8426"/>
                </a:lnTo>
                <a:lnTo>
                  <a:pt x="8054" y="2188"/>
                </a:lnTo>
                <a:cubicBezTo>
                  <a:pt x="6885" y="118"/>
                  <a:pt x="4259" y="-612"/>
                  <a:pt x="2189" y="558"/>
                </a:cubicBezTo>
                <a:cubicBezTo>
                  <a:pt x="118" y="1727"/>
                  <a:pt x="-612" y="4353"/>
                  <a:pt x="557" y="6423"/>
                </a:cubicBezTo>
                <a:cubicBezTo>
                  <a:pt x="707" y="6689"/>
                  <a:pt x="885" y="6938"/>
                  <a:pt x="1088" y="7165"/>
                </a:cubicBezTo>
                <a:close/>
              </a:path>
            </a:pathLst>
          </a:custGeom>
          <a:solidFill>
            <a:srgbClr val="0087E2"/>
          </a:solidFill>
          <a:ln w="2877" cap="flat">
            <a:noFill/>
            <a:prstDash val="solid"/>
            <a:miter/>
          </a:ln>
        </p:spPr>
        <p:txBody>
          <a:bodyPr/>
          <a:lstStyle/>
          <a:p>
            <a:endParaRPr lang="en-CA" sz="2400"/>
          </a:p>
        </p:txBody>
      </p:sp>
      <p:sp>
        <p:nvSpPr>
          <p:cNvPr id="121" name="Freeform: Shape 120">
            <a:extLst>
              <a:ext uri="{FF2B5EF4-FFF2-40B4-BE49-F238E27FC236}">
                <a16:creationId xmlns:a16="http://schemas.microsoft.com/office/drawing/2014/main" id="{49CE4DCE-891C-936A-0B3B-F5662324DC0D}"/>
              </a:ext>
            </a:extLst>
          </p:cNvPr>
          <p:cNvSpPr/>
          <p:nvPr/>
        </p:nvSpPr>
        <p:spPr>
          <a:xfrm>
            <a:off x="1014012" y="4271640"/>
            <a:ext cx="34905" cy="43075"/>
          </a:xfrm>
          <a:custGeom>
            <a:avLst/>
            <a:gdLst>
              <a:gd name="csX0" fmla="*/ 2203 w 26179"/>
              <a:gd name="csY0" fmla="*/ 10312 h 32306"/>
              <a:gd name="csX1" fmla="*/ 13870 w 26179"/>
              <a:gd name="csY1" fmla="*/ 27901 h 32306"/>
              <a:gd name="csX2" fmla="*/ 18282 w 26179"/>
              <a:gd name="csY2" fmla="*/ 31883 h 32306"/>
              <a:gd name="csX3" fmla="*/ 20343 w 26179"/>
              <a:gd name="csY3" fmla="*/ 31999 h 32306"/>
              <a:gd name="csX4" fmla="*/ 25491 w 26179"/>
              <a:gd name="csY4" fmla="*/ 28325 h 32306"/>
              <a:gd name="csX5" fmla="*/ 26047 w 26179"/>
              <a:gd name="csY5" fmla="*/ 26335 h 32306"/>
              <a:gd name="csX6" fmla="*/ 23711 w 26179"/>
              <a:gd name="csY6" fmla="*/ 20857 h 32306"/>
              <a:gd name="csX7" fmla="*/ 10871 w 26179"/>
              <a:gd name="csY7" fmla="*/ 4132 h 32306"/>
              <a:gd name="csX8" fmla="*/ 5620 w 26179"/>
              <a:gd name="csY8" fmla="*/ 0 h 32306"/>
              <a:gd name="csX9" fmla="*/ 0 w 26179"/>
              <a:gd name="csY9" fmla="*/ 3991 h 323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6179" h="32306">
                <a:moveTo>
                  <a:pt x="2203" y="10312"/>
                </a:moveTo>
                <a:cubicBezTo>
                  <a:pt x="4554" y="17061"/>
                  <a:pt x="8566" y="23110"/>
                  <a:pt x="13870" y="27901"/>
                </a:cubicBezTo>
                <a:lnTo>
                  <a:pt x="18282" y="31883"/>
                </a:lnTo>
                <a:cubicBezTo>
                  <a:pt x="18857" y="32400"/>
                  <a:pt x="19714" y="32448"/>
                  <a:pt x="20343" y="31999"/>
                </a:cubicBezTo>
                <a:lnTo>
                  <a:pt x="25491" y="28325"/>
                </a:lnTo>
                <a:cubicBezTo>
                  <a:pt x="26119" y="27874"/>
                  <a:pt x="26350" y="27047"/>
                  <a:pt x="26047" y="26335"/>
                </a:cubicBezTo>
                <a:lnTo>
                  <a:pt x="23711" y="20857"/>
                </a:lnTo>
                <a:cubicBezTo>
                  <a:pt x="20901" y="14294"/>
                  <a:pt x="16485" y="8542"/>
                  <a:pt x="10871" y="4132"/>
                </a:cubicBezTo>
                <a:lnTo>
                  <a:pt x="5620" y="0"/>
                </a:lnTo>
                <a:lnTo>
                  <a:pt x="0" y="3991"/>
                </a:lnTo>
                <a:close/>
              </a:path>
            </a:pathLst>
          </a:custGeom>
          <a:solidFill>
            <a:srgbClr val="0087E2"/>
          </a:solidFill>
          <a:ln w="2877" cap="flat">
            <a:noFill/>
            <a:prstDash val="solid"/>
            <a:miter/>
          </a:ln>
        </p:spPr>
        <p:txBody>
          <a:bodyPr/>
          <a:lstStyle/>
          <a:p>
            <a:endParaRPr lang="en-CA" sz="2400"/>
          </a:p>
        </p:txBody>
      </p:sp>
      <p:sp>
        <p:nvSpPr>
          <p:cNvPr id="122" name="Freeform: Shape 121">
            <a:extLst>
              <a:ext uri="{FF2B5EF4-FFF2-40B4-BE49-F238E27FC236}">
                <a16:creationId xmlns:a16="http://schemas.microsoft.com/office/drawing/2014/main" id="{48BC1E82-C677-D1F3-EE71-656F957AF597}"/>
              </a:ext>
            </a:extLst>
          </p:cNvPr>
          <p:cNvSpPr/>
          <p:nvPr/>
        </p:nvSpPr>
        <p:spPr>
          <a:xfrm>
            <a:off x="1083591" y="4238675"/>
            <a:ext cx="19048" cy="14164"/>
          </a:xfrm>
          <a:custGeom>
            <a:avLst/>
            <a:gdLst>
              <a:gd name="csX0" fmla="*/ 6097 w 14286"/>
              <a:gd name="csY0" fmla="*/ 10280 h 10623"/>
              <a:gd name="csX1" fmla="*/ 12441 w 14286"/>
              <a:gd name="csY1" fmla="*/ 7079 h 10623"/>
              <a:gd name="csX2" fmla="*/ 14286 w 14286"/>
              <a:gd name="csY2" fmla="*/ 6416 h 10623"/>
              <a:gd name="csX3" fmla="*/ 12003 w 14286"/>
              <a:gd name="csY3" fmla="*/ 0 h 10623"/>
              <a:gd name="csX4" fmla="*/ 10143 w 14286"/>
              <a:gd name="csY4" fmla="*/ 669 h 10623"/>
              <a:gd name="csX5" fmla="*/ 3222 w 14286"/>
              <a:gd name="csY5" fmla="*/ 2220 h 10623"/>
              <a:gd name="csX6" fmla="*/ 189 w 14286"/>
              <a:gd name="csY6" fmla="*/ 7855 h 10623"/>
              <a:gd name="csX7" fmla="*/ 6097 w 14286"/>
              <a:gd name="csY7" fmla="*/ 10280 h 106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4286" h="10623">
                <a:moveTo>
                  <a:pt x="6097" y="10280"/>
                </a:moveTo>
                <a:lnTo>
                  <a:pt x="12441" y="7079"/>
                </a:lnTo>
                <a:lnTo>
                  <a:pt x="14286" y="6416"/>
                </a:lnTo>
                <a:lnTo>
                  <a:pt x="12003" y="0"/>
                </a:lnTo>
                <a:lnTo>
                  <a:pt x="10143" y="669"/>
                </a:lnTo>
                <a:lnTo>
                  <a:pt x="3222" y="2220"/>
                </a:lnTo>
                <a:cubicBezTo>
                  <a:pt x="834" y="2945"/>
                  <a:pt x="-521" y="5462"/>
                  <a:pt x="189" y="7855"/>
                </a:cubicBezTo>
                <a:cubicBezTo>
                  <a:pt x="1160" y="10147"/>
                  <a:pt x="3796" y="11228"/>
                  <a:pt x="6097" y="10280"/>
                </a:cubicBezTo>
                <a:close/>
              </a:path>
            </a:pathLst>
          </a:custGeom>
          <a:solidFill>
            <a:srgbClr val="0087E2"/>
          </a:solidFill>
          <a:ln w="2877" cap="flat">
            <a:noFill/>
            <a:prstDash val="solid"/>
            <a:miter/>
          </a:ln>
        </p:spPr>
        <p:txBody>
          <a:bodyPr/>
          <a:lstStyle/>
          <a:p>
            <a:endParaRPr lang="en-CA" sz="2400"/>
          </a:p>
        </p:txBody>
      </p:sp>
      <p:sp>
        <p:nvSpPr>
          <p:cNvPr id="123" name="Freeform: Shape 122">
            <a:extLst>
              <a:ext uri="{FF2B5EF4-FFF2-40B4-BE49-F238E27FC236}">
                <a16:creationId xmlns:a16="http://schemas.microsoft.com/office/drawing/2014/main" id="{9C591129-B7AA-9DC4-A94A-5CF169EC9B7F}"/>
              </a:ext>
            </a:extLst>
          </p:cNvPr>
          <p:cNvSpPr/>
          <p:nvPr/>
        </p:nvSpPr>
        <p:spPr>
          <a:xfrm>
            <a:off x="1103182" y="4220645"/>
            <a:ext cx="46516" cy="25335"/>
          </a:xfrm>
          <a:custGeom>
            <a:avLst/>
            <a:gdLst>
              <a:gd name="csX0" fmla="*/ 8991 w 34887"/>
              <a:gd name="csY0" fmla="*/ 18607 h 19001"/>
              <a:gd name="csX1" fmla="*/ 29083 w 34887"/>
              <a:gd name="csY1" fmla="*/ 12165 h 19001"/>
              <a:gd name="csX2" fmla="*/ 34115 w 34887"/>
              <a:gd name="csY2" fmla="*/ 8993 h 19001"/>
              <a:gd name="csX3" fmla="*/ 34790 w 34887"/>
              <a:gd name="csY3" fmla="*/ 7044 h 19001"/>
              <a:gd name="csX4" fmla="*/ 32653 w 34887"/>
              <a:gd name="csY4" fmla="*/ 1092 h 19001"/>
              <a:gd name="csX5" fmla="*/ 30894 w 34887"/>
              <a:gd name="csY5" fmla="*/ 14 h 19001"/>
              <a:gd name="csX6" fmla="*/ 25000 w 34887"/>
              <a:gd name="csY6" fmla="*/ 772 h 19001"/>
              <a:gd name="csX7" fmla="*/ 5392 w 34887"/>
              <a:gd name="csY7" fmla="*/ 8558 h 19001"/>
              <a:gd name="csX8" fmla="*/ 0 w 34887"/>
              <a:gd name="csY8" fmla="*/ 12508 h 19001"/>
              <a:gd name="csX9" fmla="*/ 2307 w 34887"/>
              <a:gd name="csY9" fmla="*/ 19002 h 190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34887" h="19001">
                <a:moveTo>
                  <a:pt x="8991" y="18607"/>
                </a:moveTo>
                <a:cubicBezTo>
                  <a:pt x="16123" y="18179"/>
                  <a:pt x="23032" y="15964"/>
                  <a:pt x="29083" y="12165"/>
                </a:cubicBezTo>
                <a:lnTo>
                  <a:pt x="34115" y="8993"/>
                </a:lnTo>
                <a:cubicBezTo>
                  <a:pt x="34771" y="8583"/>
                  <a:pt x="35051" y="7771"/>
                  <a:pt x="34790" y="7044"/>
                </a:cubicBezTo>
                <a:lnTo>
                  <a:pt x="32653" y="1092"/>
                </a:lnTo>
                <a:cubicBezTo>
                  <a:pt x="32394" y="364"/>
                  <a:pt x="31661" y="-85"/>
                  <a:pt x="30894" y="14"/>
                </a:cubicBezTo>
                <a:lnTo>
                  <a:pt x="25000" y="772"/>
                </a:lnTo>
                <a:cubicBezTo>
                  <a:pt x="17914" y="1680"/>
                  <a:pt x="11171" y="4358"/>
                  <a:pt x="5392" y="8558"/>
                </a:cubicBezTo>
                <a:lnTo>
                  <a:pt x="0" y="12508"/>
                </a:lnTo>
                <a:lnTo>
                  <a:pt x="2307" y="19002"/>
                </a:lnTo>
                <a:close/>
              </a:path>
            </a:pathLst>
          </a:custGeom>
          <a:solidFill>
            <a:srgbClr val="0087E2"/>
          </a:solidFill>
          <a:ln w="2877" cap="flat">
            <a:noFill/>
            <a:prstDash val="solid"/>
            <a:miter/>
          </a:ln>
        </p:spPr>
        <p:txBody>
          <a:bodyPr/>
          <a:lstStyle/>
          <a:p>
            <a:endParaRPr lang="en-CA" sz="2400"/>
          </a:p>
        </p:txBody>
      </p:sp>
      <p:sp>
        <p:nvSpPr>
          <p:cNvPr id="124" name="Freeform: Shape 123">
            <a:extLst>
              <a:ext uri="{FF2B5EF4-FFF2-40B4-BE49-F238E27FC236}">
                <a16:creationId xmlns:a16="http://schemas.microsoft.com/office/drawing/2014/main" id="{B2A49655-EEC0-CDD6-E6D4-2B3169C20482}"/>
              </a:ext>
            </a:extLst>
          </p:cNvPr>
          <p:cNvSpPr/>
          <p:nvPr/>
        </p:nvSpPr>
        <p:spPr>
          <a:xfrm>
            <a:off x="1178882" y="4298765"/>
            <a:ext cx="20561" cy="46992"/>
          </a:xfrm>
          <a:custGeom>
            <a:avLst/>
            <a:gdLst>
              <a:gd name="csX0" fmla="*/ 7879 w 15421"/>
              <a:gd name="csY0" fmla="*/ 35245 h 35244"/>
              <a:gd name="csX1" fmla="*/ 14644 w 15421"/>
              <a:gd name="csY1" fmla="*/ 33927 h 35244"/>
              <a:gd name="csX2" fmla="*/ 15249 w 15421"/>
              <a:gd name="csY2" fmla="*/ 27263 h 35244"/>
              <a:gd name="csX3" fmla="*/ 11876 w 15421"/>
              <a:gd name="csY3" fmla="*/ 6438 h 35244"/>
              <a:gd name="csX4" fmla="*/ 9502 w 15421"/>
              <a:gd name="csY4" fmla="*/ 988 h 35244"/>
              <a:gd name="csX5" fmla="*/ 7671 w 15421"/>
              <a:gd name="csY5" fmla="*/ 31 h 35244"/>
              <a:gd name="csX6" fmla="*/ 1469 w 15421"/>
              <a:gd name="csY6" fmla="*/ 1256 h 35244"/>
              <a:gd name="csX7" fmla="*/ 140 w 15421"/>
              <a:gd name="csY7" fmla="*/ 2836 h 35244"/>
              <a:gd name="csX8" fmla="*/ 10 w 15421"/>
              <a:gd name="csY8" fmla="*/ 8776 h 35244"/>
              <a:gd name="csX9" fmla="*/ 4799 w 15421"/>
              <a:gd name="csY9" fmla="*/ 29322 h 35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421" h="35244">
                <a:moveTo>
                  <a:pt x="7879" y="35245"/>
                </a:moveTo>
                <a:lnTo>
                  <a:pt x="14644" y="33927"/>
                </a:lnTo>
                <a:lnTo>
                  <a:pt x="15249" y="27263"/>
                </a:lnTo>
                <a:cubicBezTo>
                  <a:pt x="15891" y="20148"/>
                  <a:pt x="14730" y="12986"/>
                  <a:pt x="11876" y="6438"/>
                </a:cubicBezTo>
                <a:lnTo>
                  <a:pt x="9502" y="988"/>
                </a:lnTo>
                <a:cubicBezTo>
                  <a:pt x="9191" y="280"/>
                  <a:pt x="8430" y="-117"/>
                  <a:pt x="7671" y="31"/>
                </a:cubicBezTo>
                <a:lnTo>
                  <a:pt x="1469" y="1256"/>
                </a:lnTo>
                <a:cubicBezTo>
                  <a:pt x="710" y="1406"/>
                  <a:pt x="157" y="2063"/>
                  <a:pt x="140" y="2836"/>
                </a:cubicBezTo>
                <a:lnTo>
                  <a:pt x="10" y="8776"/>
                </a:lnTo>
                <a:cubicBezTo>
                  <a:pt x="-143" y="15918"/>
                  <a:pt x="1504" y="22984"/>
                  <a:pt x="4799" y="29322"/>
                </a:cubicBezTo>
                <a:close/>
              </a:path>
            </a:pathLst>
          </a:custGeom>
          <a:solidFill>
            <a:srgbClr val="0087E2"/>
          </a:solidFill>
          <a:ln w="2877" cap="flat">
            <a:noFill/>
            <a:prstDash val="solid"/>
            <a:miter/>
          </a:ln>
        </p:spPr>
        <p:txBody>
          <a:bodyPr/>
          <a:lstStyle/>
          <a:p>
            <a:endParaRPr lang="en-CA" sz="2400"/>
          </a:p>
        </p:txBody>
      </p:sp>
      <p:sp>
        <p:nvSpPr>
          <p:cNvPr id="125" name="Freeform: Shape 124">
            <a:extLst>
              <a:ext uri="{FF2B5EF4-FFF2-40B4-BE49-F238E27FC236}">
                <a16:creationId xmlns:a16="http://schemas.microsoft.com/office/drawing/2014/main" id="{4CF5C982-388A-11A0-7A3F-96587064CF87}"/>
              </a:ext>
            </a:extLst>
          </p:cNvPr>
          <p:cNvSpPr/>
          <p:nvPr/>
        </p:nvSpPr>
        <p:spPr>
          <a:xfrm>
            <a:off x="994708" y="4324487"/>
            <a:ext cx="219856" cy="242189"/>
          </a:xfrm>
          <a:custGeom>
            <a:avLst/>
            <a:gdLst>
              <a:gd name="csX0" fmla="*/ 163567 w 164892"/>
              <a:gd name="csY0" fmla="*/ 26513 h 181642"/>
              <a:gd name="csX1" fmla="*/ 154115 w 164892"/>
              <a:gd name="csY1" fmla="*/ 20746 h 181642"/>
              <a:gd name="csX2" fmla="*/ 153674 w 164892"/>
              <a:gd name="csY2" fmla="*/ 19408 h 181642"/>
              <a:gd name="csX3" fmla="*/ 153296 w 164892"/>
              <a:gd name="csY3" fmla="*/ 17485 h 181642"/>
              <a:gd name="csX4" fmla="*/ 146612 w 164892"/>
              <a:gd name="csY4" fmla="*/ 18786 h 181642"/>
              <a:gd name="csX5" fmla="*/ 146993 w 164892"/>
              <a:gd name="csY5" fmla="*/ 20726 h 181642"/>
              <a:gd name="csX6" fmla="*/ 147189 w 164892"/>
              <a:gd name="csY6" fmla="*/ 23457 h 181642"/>
              <a:gd name="csX7" fmla="*/ 143812 w 164892"/>
              <a:gd name="csY7" fmla="*/ 25573 h 181642"/>
              <a:gd name="csX8" fmla="*/ 128339 w 164892"/>
              <a:gd name="csY8" fmla="*/ 38523 h 181642"/>
              <a:gd name="csX9" fmla="*/ 109357 w 164892"/>
              <a:gd name="csY9" fmla="*/ 23549 h 181642"/>
              <a:gd name="csX10" fmla="*/ 106727 w 164892"/>
              <a:gd name="csY10" fmla="*/ 21839 h 181642"/>
              <a:gd name="csX11" fmla="*/ 104671 w 164892"/>
              <a:gd name="csY11" fmla="*/ 20746 h 181642"/>
              <a:gd name="csX12" fmla="*/ 82629 w 164892"/>
              <a:gd name="csY12" fmla="*/ 15637 h 181642"/>
              <a:gd name="csX13" fmla="*/ 60714 w 164892"/>
              <a:gd name="csY13" fmla="*/ 17713 h 181642"/>
              <a:gd name="csX14" fmla="*/ 35284 w 164892"/>
              <a:gd name="csY14" fmla="*/ 25210 h 181642"/>
              <a:gd name="csX15" fmla="*/ 20711 w 164892"/>
              <a:gd name="csY15" fmla="*/ 4985 h 181642"/>
              <a:gd name="csX16" fmla="*/ 5174 w 164892"/>
              <a:gd name="csY16" fmla="*/ 1660 h 181642"/>
              <a:gd name="csX17" fmla="*/ 1775 w 164892"/>
              <a:gd name="csY17" fmla="*/ 17208 h 181642"/>
              <a:gd name="csX18" fmla="*/ 2124 w 164892"/>
              <a:gd name="csY18" fmla="*/ 17721 h 181642"/>
              <a:gd name="csX19" fmla="*/ 21674 w 164892"/>
              <a:gd name="csY19" fmla="*/ 44856 h 181642"/>
              <a:gd name="csX20" fmla="*/ 33995 w 164892"/>
              <a:gd name="csY20" fmla="*/ 49077 h 181642"/>
              <a:gd name="csX21" fmla="*/ 58644 w 164892"/>
              <a:gd name="csY21" fmla="*/ 41796 h 181642"/>
              <a:gd name="csX22" fmla="*/ 58644 w 164892"/>
              <a:gd name="csY22" fmla="*/ 169825 h 181642"/>
              <a:gd name="csX23" fmla="*/ 69293 w 164892"/>
              <a:gd name="csY23" fmla="*/ 181625 h 181642"/>
              <a:gd name="csX24" fmla="*/ 69913 w 164892"/>
              <a:gd name="csY24" fmla="*/ 181642 h 181642"/>
              <a:gd name="csX25" fmla="*/ 81159 w 164892"/>
              <a:gd name="csY25" fmla="*/ 170990 h 181642"/>
              <a:gd name="csX26" fmla="*/ 81173 w 164892"/>
              <a:gd name="csY26" fmla="*/ 170365 h 181642"/>
              <a:gd name="csX27" fmla="*/ 81173 w 164892"/>
              <a:gd name="csY27" fmla="*/ 103412 h 181642"/>
              <a:gd name="csX28" fmla="*/ 85227 w 164892"/>
              <a:gd name="csY28" fmla="*/ 103412 h 181642"/>
              <a:gd name="csX29" fmla="*/ 101265 w 164892"/>
              <a:gd name="csY29" fmla="*/ 124799 h 181642"/>
              <a:gd name="csX30" fmla="*/ 109143 w 164892"/>
              <a:gd name="csY30" fmla="*/ 164197 h 181642"/>
              <a:gd name="csX31" fmla="*/ 122460 w 164892"/>
              <a:gd name="csY31" fmla="*/ 173011 h 181642"/>
              <a:gd name="csX32" fmla="*/ 123624 w 164892"/>
              <a:gd name="csY32" fmla="*/ 172709 h 181642"/>
              <a:gd name="csX33" fmla="*/ 131176 w 164892"/>
              <a:gd name="csY33" fmla="*/ 159390 h 181642"/>
              <a:gd name="csX34" fmla="*/ 122843 w 164892"/>
              <a:gd name="csY34" fmla="*/ 117867 h 181642"/>
              <a:gd name="csX35" fmla="*/ 120825 w 164892"/>
              <a:gd name="csY35" fmla="*/ 113308 h 181642"/>
              <a:gd name="csX36" fmla="*/ 106306 w 164892"/>
              <a:gd name="csY36" fmla="*/ 93988 h 181642"/>
              <a:gd name="csX37" fmla="*/ 106306 w 164892"/>
              <a:gd name="csY37" fmla="*/ 49827 h 181642"/>
              <a:gd name="csX38" fmla="*/ 121589 w 164892"/>
              <a:gd name="csY38" fmla="*/ 61877 h 181642"/>
              <a:gd name="csX39" fmla="*/ 135813 w 164892"/>
              <a:gd name="csY39" fmla="*/ 61667 h 181642"/>
              <a:gd name="csX40" fmla="*/ 160664 w 164892"/>
              <a:gd name="csY40" fmla="*/ 40804 h 181642"/>
              <a:gd name="csX41" fmla="*/ 163567 w 164892"/>
              <a:gd name="csY41" fmla="*/ 26513 h 181642"/>
              <a:gd name="csX42" fmla="*/ 156981 w 164892"/>
              <a:gd name="csY42" fmla="*/ 36364 h 181642"/>
              <a:gd name="csX43" fmla="*/ 132093 w 164892"/>
              <a:gd name="csY43" fmla="*/ 57246 h 181642"/>
              <a:gd name="csX44" fmla="*/ 125144 w 164892"/>
              <a:gd name="csY44" fmla="*/ 57367 h 181642"/>
              <a:gd name="csX45" fmla="*/ 100573 w 164892"/>
              <a:gd name="csY45" fmla="*/ 37981 h 181642"/>
              <a:gd name="csX46" fmla="*/ 100533 w 164892"/>
              <a:gd name="csY46" fmla="*/ 37987 h 181642"/>
              <a:gd name="csX47" fmla="*/ 100527 w 164892"/>
              <a:gd name="csY47" fmla="*/ 38004 h 181642"/>
              <a:gd name="csX48" fmla="*/ 100527 w 164892"/>
              <a:gd name="csY48" fmla="*/ 95903 h 181642"/>
              <a:gd name="csX49" fmla="*/ 116185 w 164892"/>
              <a:gd name="csY49" fmla="*/ 116783 h 181642"/>
              <a:gd name="csX50" fmla="*/ 117177 w 164892"/>
              <a:gd name="csY50" fmla="*/ 119012 h 181642"/>
              <a:gd name="csX51" fmla="*/ 125530 w 164892"/>
              <a:gd name="csY51" fmla="*/ 160598 h 181642"/>
              <a:gd name="csX52" fmla="*/ 121845 w 164892"/>
              <a:gd name="csY52" fmla="*/ 167230 h 181642"/>
              <a:gd name="csX53" fmla="*/ 114878 w 164892"/>
              <a:gd name="csY53" fmla="*/ 163407 h 181642"/>
              <a:gd name="csX54" fmla="*/ 114789 w 164892"/>
              <a:gd name="csY54" fmla="*/ 163064 h 181642"/>
              <a:gd name="csX55" fmla="*/ 106658 w 164892"/>
              <a:gd name="csY55" fmla="*/ 122380 h 181642"/>
              <a:gd name="csX56" fmla="*/ 88105 w 164892"/>
              <a:gd name="csY56" fmla="*/ 97639 h 181642"/>
              <a:gd name="csX57" fmla="*/ 75400 w 164892"/>
              <a:gd name="csY57" fmla="*/ 97639 h 181642"/>
              <a:gd name="csX58" fmla="*/ 75400 w 164892"/>
              <a:gd name="csY58" fmla="*/ 170370 h 181642"/>
              <a:gd name="csX59" fmla="*/ 75400 w 164892"/>
              <a:gd name="csY59" fmla="*/ 170682 h 181642"/>
              <a:gd name="csX60" fmla="*/ 73581 w 164892"/>
              <a:gd name="csY60" fmla="*/ 174477 h 181642"/>
              <a:gd name="csX61" fmla="*/ 69705 w 164892"/>
              <a:gd name="csY61" fmla="*/ 175881 h 181642"/>
              <a:gd name="csX62" fmla="*/ 64411 w 164892"/>
              <a:gd name="csY62" fmla="*/ 169895 h 181642"/>
              <a:gd name="csX63" fmla="*/ 64411 w 164892"/>
              <a:gd name="csY63" fmla="*/ 34129 h 181642"/>
              <a:gd name="csX64" fmla="*/ 64381 w 164892"/>
              <a:gd name="csY64" fmla="*/ 34102 h 181642"/>
              <a:gd name="csX65" fmla="*/ 64373 w 164892"/>
              <a:gd name="csY65" fmla="*/ 34103 h 181642"/>
              <a:gd name="csX66" fmla="*/ 32366 w 164892"/>
              <a:gd name="csY66" fmla="*/ 43549 h 181642"/>
              <a:gd name="csX67" fmla="*/ 26357 w 164892"/>
              <a:gd name="csY67" fmla="*/ 41493 h 181642"/>
              <a:gd name="csX68" fmla="*/ 6806 w 164892"/>
              <a:gd name="csY68" fmla="*/ 14356 h 181642"/>
              <a:gd name="csX69" fmla="*/ 6631 w 164892"/>
              <a:gd name="csY69" fmla="*/ 14114 h 181642"/>
              <a:gd name="csX70" fmla="*/ 8202 w 164892"/>
              <a:gd name="csY70" fmla="*/ 6571 h 181642"/>
              <a:gd name="csX71" fmla="*/ 15988 w 164892"/>
              <a:gd name="csY71" fmla="*/ 8301 h 181642"/>
              <a:gd name="csX72" fmla="*/ 33001 w 164892"/>
              <a:gd name="csY72" fmla="*/ 31894 h 181642"/>
              <a:gd name="csX73" fmla="*/ 61510 w 164892"/>
              <a:gd name="csY73" fmla="*/ 23489 h 181642"/>
              <a:gd name="csX74" fmla="*/ 62179 w 164892"/>
              <a:gd name="csY74" fmla="*/ 23278 h 181642"/>
              <a:gd name="csX75" fmla="*/ 82508 w 164892"/>
              <a:gd name="csY75" fmla="*/ 21392 h 181642"/>
              <a:gd name="csX76" fmla="*/ 102116 w 164892"/>
              <a:gd name="csY76" fmla="*/ 25893 h 181642"/>
              <a:gd name="csX77" fmla="*/ 104068 w 164892"/>
              <a:gd name="csY77" fmla="*/ 26920 h 181642"/>
              <a:gd name="csX78" fmla="*/ 105798 w 164892"/>
              <a:gd name="csY78" fmla="*/ 28053 h 181642"/>
              <a:gd name="csX79" fmla="*/ 128466 w 164892"/>
              <a:gd name="csY79" fmla="*/ 45931 h 181642"/>
              <a:gd name="csX80" fmla="*/ 147059 w 164892"/>
              <a:gd name="csY80" fmla="*/ 30343 h 181642"/>
              <a:gd name="csX81" fmla="*/ 148241 w 164892"/>
              <a:gd name="csY81" fmla="*/ 29599 h 181642"/>
              <a:gd name="csX82" fmla="*/ 152633 w 164892"/>
              <a:gd name="csY82" fmla="*/ 31617 h 181642"/>
              <a:gd name="csX83" fmla="*/ 155998 w 164892"/>
              <a:gd name="csY83" fmla="*/ 26975 h 181642"/>
              <a:gd name="csX84" fmla="*/ 158501 w 164892"/>
              <a:gd name="csY84" fmla="*/ 29230 h 181642"/>
              <a:gd name="csX85" fmla="*/ 156981 w 164892"/>
              <a:gd name="csY85" fmla="*/ 36352 h 1816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</a:cxnLst>
            <a:rect l="l" t="t" r="r" b="b"/>
            <a:pathLst>
              <a:path w="164892" h="181642">
                <a:moveTo>
                  <a:pt x="163567" y="26513"/>
                </a:moveTo>
                <a:cubicBezTo>
                  <a:pt x="161659" y="23054"/>
                  <a:pt x="158064" y="20860"/>
                  <a:pt x="154115" y="20746"/>
                </a:cubicBezTo>
                <a:lnTo>
                  <a:pt x="153674" y="19408"/>
                </a:lnTo>
                <a:lnTo>
                  <a:pt x="153296" y="17485"/>
                </a:lnTo>
                <a:lnTo>
                  <a:pt x="146612" y="18786"/>
                </a:lnTo>
                <a:lnTo>
                  <a:pt x="146993" y="20726"/>
                </a:lnTo>
                <a:lnTo>
                  <a:pt x="147189" y="23457"/>
                </a:lnTo>
                <a:lnTo>
                  <a:pt x="143812" y="25573"/>
                </a:lnTo>
                <a:lnTo>
                  <a:pt x="128339" y="38523"/>
                </a:lnTo>
                <a:lnTo>
                  <a:pt x="109357" y="23549"/>
                </a:lnTo>
                <a:cubicBezTo>
                  <a:pt x="108535" y="22899"/>
                  <a:pt x="107654" y="22327"/>
                  <a:pt x="106727" y="21839"/>
                </a:cubicBezTo>
                <a:lnTo>
                  <a:pt x="104671" y="20746"/>
                </a:lnTo>
                <a:cubicBezTo>
                  <a:pt x="97780" y="17469"/>
                  <a:pt x="90260" y="15726"/>
                  <a:pt x="82629" y="15637"/>
                </a:cubicBezTo>
                <a:cubicBezTo>
                  <a:pt x="75266" y="15405"/>
                  <a:pt x="67903" y="16102"/>
                  <a:pt x="60714" y="17713"/>
                </a:cubicBezTo>
                <a:lnTo>
                  <a:pt x="35284" y="25210"/>
                </a:lnTo>
                <a:lnTo>
                  <a:pt x="20711" y="4985"/>
                </a:lnTo>
                <a:cubicBezTo>
                  <a:pt x="17212" y="-36"/>
                  <a:pt x="10422" y="-1489"/>
                  <a:pt x="5174" y="1660"/>
                </a:cubicBezTo>
                <a:cubicBezTo>
                  <a:pt x="-49" y="5021"/>
                  <a:pt x="-1570" y="11974"/>
                  <a:pt x="1775" y="17208"/>
                </a:cubicBezTo>
                <a:cubicBezTo>
                  <a:pt x="1887" y="17384"/>
                  <a:pt x="2002" y="17554"/>
                  <a:pt x="2124" y="17721"/>
                </a:cubicBezTo>
                <a:lnTo>
                  <a:pt x="21674" y="44856"/>
                </a:lnTo>
                <a:cubicBezTo>
                  <a:pt x="24472" y="48731"/>
                  <a:pt x="29409" y="50422"/>
                  <a:pt x="33995" y="49077"/>
                </a:cubicBezTo>
                <a:lnTo>
                  <a:pt x="58644" y="41796"/>
                </a:lnTo>
                <a:lnTo>
                  <a:pt x="58644" y="169825"/>
                </a:lnTo>
                <a:cubicBezTo>
                  <a:pt x="58534" y="175949"/>
                  <a:pt x="63191" y="181108"/>
                  <a:pt x="69293" y="181625"/>
                </a:cubicBezTo>
                <a:cubicBezTo>
                  <a:pt x="69500" y="181625"/>
                  <a:pt x="69708" y="181642"/>
                  <a:pt x="69913" y="181642"/>
                </a:cubicBezTo>
                <a:cubicBezTo>
                  <a:pt x="75893" y="181635"/>
                  <a:pt x="80827" y="176961"/>
                  <a:pt x="81159" y="170990"/>
                </a:cubicBezTo>
                <a:cubicBezTo>
                  <a:pt x="81159" y="170780"/>
                  <a:pt x="81173" y="170572"/>
                  <a:pt x="81173" y="170365"/>
                </a:cubicBezTo>
                <a:lnTo>
                  <a:pt x="81173" y="103412"/>
                </a:lnTo>
                <a:lnTo>
                  <a:pt x="85227" y="103412"/>
                </a:lnTo>
                <a:lnTo>
                  <a:pt x="101265" y="124799"/>
                </a:lnTo>
                <a:lnTo>
                  <a:pt x="109143" y="164197"/>
                </a:lnTo>
                <a:cubicBezTo>
                  <a:pt x="110386" y="170308"/>
                  <a:pt x="116348" y="174255"/>
                  <a:pt x="122460" y="173011"/>
                </a:cubicBezTo>
                <a:cubicBezTo>
                  <a:pt x="122853" y="172931"/>
                  <a:pt x="123242" y="172830"/>
                  <a:pt x="123624" y="172709"/>
                </a:cubicBezTo>
                <a:cubicBezTo>
                  <a:pt x="129157" y="170829"/>
                  <a:pt x="132403" y="165103"/>
                  <a:pt x="131176" y="159390"/>
                </a:cubicBezTo>
                <a:lnTo>
                  <a:pt x="122843" y="117867"/>
                </a:lnTo>
                <a:cubicBezTo>
                  <a:pt x="122517" y="116216"/>
                  <a:pt x="121828" y="114659"/>
                  <a:pt x="120825" y="113308"/>
                </a:cubicBezTo>
                <a:lnTo>
                  <a:pt x="106306" y="93988"/>
                </a:lnTo>
                <a:lnTo>
                  <a:pt x="106306" y="49827"/>
                </a:lnTo>
                <a:lnTo>
                  <a:pt x="121589" y="61877"/>
                </a:lnTo>
                <a:cubicBezTo>
                  <a:pt x="125786" y="65172"/>
                  <a:pt x="131715" y="65085"/>
                  <a:pt x="135813" y="61667"/>
                </a:cubicBezTo>
                <a:lnTo>
                  <a:pt x="160664" y="40804"/>
                </a:lnTo>
                <a:cubicBezTo>
                  <a:pt x="164902" y="37334"/>
                  <a:pt x="166115" y="31362"/>
                  <a:pt x="163567" y="26513"/>
                </a:cubicBezTo>
                <a:close/>
                <a:moveTo>
                  <a:pt x="156981" y="36364"/>
                </a:moveTo>
                <a:lnTo>
                  <a:pt x="132093" y="57246"/>
                </a:lnTo>
                <a:cubicBezTo>
                  <a:pt x="130097" y="58924"/>
                  <a:pt x="127198" y="58975"/>
                  <a:pt x="125144" y="57367"/>
                </a:cubicBezTo>
                <a:lnTo>
                  <a:pt x="100573" y="37981"/>
                </a:lnTo>
                <a:cubicBezTo>
                  <a:pt x="100561" y="37972"/>
                  <a:pt x="100543" y="37974"/>
                  <a:pt x="100533" y="37987"/>
                </a:cubicBezTo>
                <a:cubicBezTo>
                  <a:pt x="100529" y="37992"/>
                  <a:pt x="100527" y="37998"/>
                  <a:pt x="100527" y="38004"/>
                </a:cubicBezTo>
                <a:lnTo>
                  <a:pt x="100527" y="95903"/>
                </a:lnTo>
                <a:lnTo>
                  <a:pt x="116185" y="116783"/>
                </a:lnTo>
                <a:cubicBezTo>
                  <a:pt x="116678" y="117442"/>
                  <a:pt x="117017" y="118204"/>
                  <a:pt x="117177" y="119012"/>
                </a:cubicBezTo>
                <a:lnTo>
                  <a:pt x="125530" y="160598"/>
                </a:lnTo>
                <a:cubicBezTo>
                  <a:pt x="126146" y="163421"/>
                  <a:pt x="124568" y="166262"/>
                  <a:pt x="121845" y="167230"/>
                </a:cubicBezTo>
                <a:cubicBezTo>
                  <a:pt x="118865" y="168098"/>
                  <a:pt x="115746" y="166387"/>
                  <a:pt x="114878" y="163407"/>
                </a:cubicBezTo>
                <a:cubicBezTo>
                  <a:pt x="114845" y="163293"/>
                  <a:pt x="114815" y="163179"/>
                  <a:pt x="114789" y="163064"/>
                </a:cubicBezTo>
                <a:lnTo>
                  <a:pt x="106658" y="122380"/>
                </a:lnTo>
                <a:lnTo>
                  <a:pt x="88105" y="97639"/>
                </a:lnTo>
                <a:lnTo>
                  <a:pt x="75400" y="97639"/>
                </a:lnTo>
                <a:lnTo>
                  <a:pt x="75400" y="170370"/>
                </a:lnTo>
                <a:lnTo>
                  <a:pt x="75400" y="170682"/>
                </a:lnTo>
                <a:cubicBezTo>
                  <a:pt x="75323" y="172139"/>
                  <a:pt x="74668" y="173504"/>
                  <a:pt x="73581" y="174477"/>
                </a:cubicBezTo>
                <a:cubicBezTo>
                  <a:pt x="72530" y="175447"/>
                  <a:pt x="71133" y="175953"/>
                  <a:pt x="69705" y="175881"/>
                </a:cubicBezTo>
                <a:cubicBezTo>
                  <a:pt x="66639" y="175592"/>
                  <a:pt x="64323" y="172973"/>
                  <a:pt x="64411" y="169895"/>
                </a:cubicBezTo>
                <a:lnTo>
                  <a:pt x="64411" y="34129"/>
                </a:lnTo>
                <a:cubicBezTo>
                  <a:pt x="64410" y="34113"/>
                  <a:pt x="64397" y="34101"/>
                  <a:pt x="64381" y="34102"/>
                </a:cubicBezTo>
                <a:cubicBezTo>
                  <a:pt x="64378" y="34102"/>
                  <a:pt x="64376" y="34102"/>
                  <a:pt x="64373" y="34103"/>
                </a:cubicBezTo>
                <a:lnTo>
                  <a:pt x="32366" y="43549"/>
                </a:lnTo>
                <a:cubicBezTo>
                  <a:pt x="30130" y="44206"/>
                  <a:pt x="27722" y="43382"/>
                  <a:pt x="26357" y="41493"/>
                </a:cubicBezTo>
                <a:lnTo>
                  <a:pt x="6806" y="14356"/>
                </a:lnTo>
                <a:lnTo>
                  <a:pt x="6631" y="14114"/>
                </a:lnTo>
                <a:cubicBezTo>
                  <a:pt x="4999" y="11594"/>
                  <a:pt x="5700" y="8230"/>
                  <a:pt x="8202" y="6571"/>
                </a:cubicBezTo>
                <a:cubicBezTo>
                  <a:pt x="10849" y="5014"/>
                  <a:pt x="14249" y="5769"/>
                  <a:pt x="15988" y="8301"/>
                </a:cubicBezTo>
                <a:lnTo>
                  <a:pt x="33001" y="31894"/>
                </a:lnTo>
                <a:lnTo>
                  <a:pt x="61510" y="23489"/>
                </a:lnTo>
                <a:lnTo>
                  <a:pt x="62179" y="23278"/>
                </a:lnTo>
                <a:cubicBezTo>
                  <a:pt x="68850" y="21802"/>
                  <a:pt x="75680" y="21168"/>
                  <a:pt x="82508" y="21392"/>
                </a:cubicBezTo>
                <a:cubicBezTo>
                  <a:pt x="89292" y="21462"/>
                  <a:pt x="95981" y="22997"/>
                  <a:pt x="102116" y="25893"/>
                </a:cubicBezTo>
                <a:lnTo>
                  <a:pt x="104068" y="26920"/>
                </a:lnTo>
                <a:cubicBezTo>
                  <a:pt x="104678" y="27244"/>
                  <a:pt x="105257" y="27624"/>
                  <a:pt x="105798" y="28053"/>
                </a:cubicBezTo>
                <a:lnTo>
                  <a:pt x="128466" y="45931"/>
                </a:lnTo>
                <a:lnTo>
                  <a:pt x="147059" y="30343"/>
                </a:lnTo>
                <a:lnTo>
                  <a:pt x="148241" y="29599"/>
                </a:lnTo>
                <a:cubicBezTo>
                  <a:pt x="149150" y="31112"/>
                  <a:pt x="150893" y="31913"/>
                  <a:pt x="152633" y="31617"/>
                </a:cubicBezTo>
                <a:cubicBezTo>
                  <a:pt x="154740" y="31103"/>
                  <a:pt x="156164" y="29137"/>
                  <a:pt x="155998" y="26975"/>
                </a:cubicBezTo>
                <a:cubicBezTo>
                  <a:pt x="157055" y="27435"/>
                  <a:pt x="157933" y="28227"/>
                  <a:pt x="158501" y="29230"/>
                </a:cubicBezTo>
                <a:cubicBezTo>
                  <a:pt x="159756" y="31663"/>
                  <a:pt x="159120" y="34644"/>
                  <a:pt x="156981" y="36352"/>
                </a:cubicBezTo>
                <a:close/>
              </a:path>
            </a:pathLst>
          </a:custGeom>
          <a:solidFill>
            <a:srgbClr val="FF6600"/>
          </a:solidFill>
          <a:ln w="2877" cap="flat">
            <a:noFill/>
            <a:prstDash val="solid"/>
            <a:miter/>
          </a:ln>
        </p:spPr>
        <p:txBody>
          <a:bodyPr/>
          <a:lstStyle/>
          <a:p>
            <a:endParaRPr lang="en-CA" sz="2400"/>
          </a:p>
        </p:txBody>
      </p:sp>
      <p:pic>
        <p:nvPicPr>
          <p:cNvPr id="111" name="Graphic 110" descr="Tricycle with solid fill">
            <a:extLst>
              <a:ext uri="{FF2B5EF4-FFF2-40B4-BE49-F238E27FC236}">
                <a16:creationId xmlns:a16="http://schemas.microsoft.com/office/drawing/2014/main" id="{C074D19D-FC03-9225-35CB-C9BEECB7BD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5989" y="4364831"/>
            <a:ext cx="276192" cy="276192"/>
          </a:xfrm>
          <a:prstGeom prst="rect">
            <a:avLst/>
          </a:prstGeom>
        </p:spPr>
      </p:pic>
      <p:pic>
        <p:nvPicPr>
          <p:cNvPr id="128" name="Graphic 127" descr="Map with pin outline">
            <a:extLst>
              <a:ext uri="{FF2B5EF4-FFF2-40B4-BE49-F238E27FC236}">
                <a16:creationId xmlns:a16="http://schemas.microsoft.com/office/drawing/2014/main" id="{FBA7C291-BCC8-F8BB-B3B3-78AF58AC7F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6563376" y="1896162"/>
            <a:ext cx="263649" cy="287317"/>
          </a:xfrm>
          <a:prstGeom prst="rect">
            <a:avLst/>
          </a:prstGeom>
        </p:spPr>
      </p:pic>
      <p:pic>
        <p:nvPicPr>
          <p:cNvPr id="134" name="Image 0" descr="preencoded.png">
            <a:extLst>
              <a:ext uri="{FF2B5EF4-FFF2-40B4-BE49-F238E27FC236}">
                <a16:creationId xmlns:a16="http://schemas.microsoft.com/office/drawing/2014/main" id="{8AF10BA6-930D-2FD5-6C86-7C96C18973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15077" y="2063653"/>
            <a:ext cx="185340" cy="185340"/>
          </a:xfrm>
          <a:prstGeom prst="rect">
            <a:avLst/>
          </a:prstGeom>
        </p:spPr>
      </p:pic>
      <p:sp>
        <p:nvSpPr>
          <p:cNvPr id="140" name="Text 28">
            <a:extLst>
              <a:ext uri="{FF2B5EF4-FFF2-40B4-BE49-F238E27FC236}">
                <a16:creationId xmlns:a16="http://schemas.microsoft.com/office/drawing/2014/main" id="{E6BDBD65-2A0A-8602-8949-41C8873361BC}"/>
              </a:ext>
            </a:extLst>
          </p:cNvPr>
          <p:cNvSpPr/>
          <p:nvPr/>
        </p:nvSpPr>
        <p:spPr>
          <a:xfrm>
            <a:off x="894968" y="2484042"/>
            <a:ext cx="4918373" cy="1140617"/>
          </a:xfrm>
          <a:prstGeom prst="roundRect">
            <a:avLst>
              <a:gd name="adj" fmla="val 7779"/>
            </a:avLst>
          </a:prstGeom>
          <a:gradFill>
            <a:gsLst>
              <a:gs pos="0">
                <a:schemeClr val="accent4">
                  <a:lumMod val="110000"/>
                  <a:satMod val="105000"/>
                  <a:tint val="67000"/>
                  <a:alpha val="65000"/>
                </a:schemeClr>
              </a:gs>
              <a:gs pos="50000">
                <a:schemeClr val="accent4">
                  <a:lumMod val="105000"/>
                  <a:satMod val="103000"/>
                  <a:tint val="73000"/>
                  <a:alpha val="93000"/>
                </a:schemeClr>
              </a:gs>
              <a:gs pos="100000">
                <a:schemeClr val="accent4">
                  <a:lumMod val="105000"/>
                  <a:satMod val="109000"/>
                  <a:tint val="81000"/>
                  <a:alpha val="95000"/>
                </a:schemeClr>
              </a:gs>
            </a:gsLst>
          </a:gradFill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81" name="Text 29">
            <a:extLst>
              <a:ext uri="{FF2B5EF4-FFF2-40B4-BE49-F238E27FC236}">
                <a16:creationId xmlns:a16="http://schemas.microsoft.com/office/drawing/2014/main" id="{EF333AC3-11E8-F007-4549-8F767B11DA93}"/>
              </a:ext>
            </a:extLst>
          </p:cNvPr>
          <p:cNvSpPr/>
          <p:nvPr/>
        </p:nvSpPr>
        <p:spPr>
          <a:xfrm>
            <a:off x="1127702" y="2548729"/>
            <a:ext cx="4422031" cy="923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067" b="1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</a:t>
            </a:r>
            <a:r>
              <a:rPr lang="en-US" sz="1067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casual ridership up </a:t>
            </a:r>
            <a:r>
              <a:rPr lang="en-US" sz="1067" b="1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670%</a:t>
            </a:r>
            <a:r>
              <a:rPr lang="en-US" sz="1067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r>
              <a:rPr lang="en-US" sz="1067" b="1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</a:t>
            </a:r>
            <a:r>
              <a:rPr lang="en-US" sz="1067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up </a:t>
            </a:r>
            <a:r>
              <a:rPr lang="en-US" sz="1067" b="1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271%</a:t>
            </a:r>
            <a:r>
              <a:rPr lang="en-US" sz="1067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1067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casual usage up </a:t>
            </a:r>
            <a:r>
              <a:rPr lang="en-US" sz="1067" b="1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200%</a:t>
            </a:r>
            <a:r>
              <a:rPr lang="en-US" sz="1067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far outpacing weekend growth.</a:t>
            </a:r>
          </a:p>
          <a:p>
            <a:pPr>
              <a:lnSpc>
                <a:spcPct val="150000"/>
              </a:lnSpc>
            </a:pPr>
            <a:r>
              <a:rPr lang="en-US" sz="1067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rise around 8 AM and 5 PM commute-time trips.</a:t>
            </a:r>
          </a:p>
          <a:p>
            <a:pPr>
              <a:lnSpc>
                <a:spcPct val="150000"/>
              </a:lnSpc>
            </a:pPr>
            <a:r>
              <a:rPr lang="en-US" sz="1067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riders increasingly mirror member travel patterns.</a:t>
            </a:r>
          </a:p>
        </p:txBody>
      </p:sp>
      <p:pic>
        <p:nvPicPr>
          <p:cNvPr id="136" name="Graphic 135" descr="Badge Tick1 with solid fill">
            <a:extLst>
              <a:ext uri="{FF2B5EF4-FFF2-40B4-BE49-F238E27FC236}">
                <a16:creationId xmlns:a16="http://schemas.microsoft.com/office/drawing/2014/main" id="{D60FEFB0-70D1-2FFC-BA51-187588B6E9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6544" y="2613019"/>
            <a:ext cx="127128" cy="127128"/>
          </a:xfrm>
          <a:prstGeom prst="rect">
            <a:avLst/>
          </a:prstGeom>
        </p:spPr>
      </p:pic>
      <p:pic>
        <p:nvPicPr>
          <p:cNvPr id="141" name="Graphic 140" descr="Badge Tick1 with solid fill">
            <a:extLst>
              <a:ext uri="{FF2B5EF4-FFF2-40B4-BE49-F238E27FC236}">
                <a16:creationId xmlns:a16="http://schemas.microsoft.com/office/drawing/2014/main" id="{2475BFE4-C0C1-0A6F-E8F2-20B6D864FB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6544" y="2862987"/>
            <a:ext cx="127128" cy="127128"/>
          </a:xfrm>
          <a:prstGeom prst="rect">
            <a:avLst/>
          </a:prstGeom>
        </p:spPr>
      </p:pic>
      <p:pic>
        <p:nvPicPr>
          <p:cNvPr id="142" name="Graphic 141" descr="Badge Tick1 with solid fill">
            <a:extLst>
              <a:ext uri="{FF2B5EF4-FFF2-40B4-BE49-F238E27FC236}">
                <a16:creationId xmlns:a16="http://schemas.microsoft.com/office/drawing/2014/main" id="{535AB451-A270-7F0E-AC3E-6FEA804074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6544" y="3112955"/>
            <a:ext cx="127128" cy="127128"/>
          </a:xfrm>
          <a:prstGeom prst="rect">
            <a:avLst/>
          </a:prstGeom>
        </p:spPr>
      </p:pic>
      <p:pic>
        <p:nvPicPr>
          <p:cNvPr id="143" name="Graphic 142" descr="Badge Tick1 with solid fill">
            <a:extLst>
              <a:ext uri="{FF2B5EF4-FFF2-40B4-BE49-F238E27FC236}">
                <a16:creationId xmlns:a16="http://schemas.microsoft.com/office/drawing/2014/main" id="{374F5CAF-32EC-8D32-677D-AB533A471C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6544" y="3362924"/>
            <a:ext cx="127128" cy="127128"/>
          </a:xfrm>
          <a:prstGeom prst="rect">
            <a:avLst/>
          </a:prstGeom>
        </p:spPr>
      </p:pic>
      <p:sp>
        <p:nvSpPr>
          <p:cNvPr id="144" name="Text 28">
            <a:extLst>
              <a:ext uri="{FF2B5EF4-FFF2-40B4-BE49-F238E27FC236}">
                <a16:creationId xmlns:a16="http://schemas.microsoft.com/office/drawing/2014/main" id="{5A4A6F66-8EF5-255D-198E-2866690AA833}"/>
              </a:ext>
            </a:extLst>
          </p:cNvPr>
          <p:cNvSpPr/>
          <p:nvPr/>
        </p:nvSpPr>
        <p:spPr>
          <a:xfrm>
            <a:off x="6461521" y="2477692"/>
            <a:ext cx="4819200" cy="1140617"/>
          </a:xfrm>
          <a:prstGeom prst="roundRect">
            <a:avLst>
              <a:gd name="adj" fmla="val 7779"/>
            </a:avLst>
          </a:prstGeom>
          <a:gradFill>
            <a:gsLst>
              <a:gs pos="0">
                <a:schemeClr val="accent4">
                  <a:lumMod val="110000"/>
                  <a:satMod val="105000"/>
                  <a:tint val="67000"/>
                  <a:alpha val="65000"/>
                </a:schemeClr>
              </a:gs>
              <a:gs pos="50000">
                <a:schemeClr val="accent4">
                  <a:lumMod val="105000"/>
                  <a:satMod val="103000"/>
                  <a:tint val="73000"/>
                  <a:alpha val="93000"/>
                </a:schemeClr>
              </a:gs>
              <a:gs pos="100000">
                <a:schemeClr val="accent4">
                  <a:lumMod val="105000"/>
                  <a:satMod val="109000"/>
                  <a:tint val="81000"/>
                  <a:alpha val="95000"/>
                </a:schemeClr>
              </a:gs>
            </a:gsLst>
          </a:gradFill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45" name="Text 29">
            <a:extLst>
              <a:ext uri="{FF2B5EF4-FFF2-40B4-BE49-F238E27FC236}">
                <a16:creationId xmlns:a16="http://schemas.microsoft.com/office/drawing/2014/main" id="{E957B278-6792-E47B-516B-B48007C8B08D}"/>
              </a:ext>
            </a:extLst>
          </p:cNvPr>
          <p:cNvSpPr/>
          <p:nvPr/>
        </p:nvSpPr>
        <p:spPr>
          <a:xfrm>
            <a:off x="6694255" y="2542378"/>
            <a:ext cx="4648043" cy="923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067" b="1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station </a:t>
            </a:r>
            <a:r>
              <a:rPr lang="en-US" sz="1067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dropped </a:t>
            </a:r>
            <a:r>
              <a:rPr lang="en-US" sz="1067" b="1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r>
              <a:rPr lang="en-US" sz="1067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CA" sz="1067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CA" sz="1067" b="1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r>
              <a:rPr lang="en-US" sz="1067" b="1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r>
              <a:rPr lang="en-US" sz="1067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1067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trips start from residential neighborhood, not Just tourist areas.</a:t>
            </a:r>
          </a:p>
          <a:p>
            <a:pPr>
              <a:lnSpc>
                <a:spcPct val="150000"/>
              </a:lnSpc>
            </a:pPr>
            <a:r>
              <a:rPr lang="en-US" sz="1067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station usage reflects everyday mobility.</a:t>
            </a:r>
          </a:p>
          <a:p>
            <a:pPr>
              <a:lnSpc>
                <a:spcPct val="150000"/>
              </a:lnSpc>
            </a:pPr>
            <a:r>
              <a:rPr lang="en-US" sz="1067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becomes more relevant as usage diversifies.</a:t>
            </a:r>
          </a:p>
        </p:txBody>
      </p:sp>
      <p:pic>
        <p:nvPicPr>
          <p:cNvPr id="146" name="Graphic 145" descr="Badge Tick1 with solid fill">
            <a:extLst>
              <a:ext uri="{FF2B5EF4-FFF2-40B4-BE49-F238E27FC236}">
                <a16:creationId xmlns:a16="http://schemas.microsoft.com/office/drawing/2014/main" id="{FA1AA563-3175-B1A8-5FF7-9537FFC30A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23097" y="2606668"/>
            <a:ext cx="127128" cy="127128"/>
          </a:xfrm>
          <a:prstGeom prst="rect">
            <a:avLst/>
          </a:prstGeom>
        </p:spPr>
      </p:pic>
      <p:pic>
        <p:nvPicPr>
          <p:cNvPr id="147" name="Graphic 146" descr="Badge Tick1 with solid fill">
            <a:extLst>
              <a:ext uri="{FF2B5EF4-FFF2-40B4-BE49-F238E27FC236}">
                <a16:creationId xmlns:a16="http://schemas.microsoft.com/office/drawing/2014/main" id="{9355E012-D93D-EBF5-D4F3-49735688D6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23097" y="2856636"/>
            <a:ext cx="127128" cy="127128"/>
          </a:xfrm>
          <a:prstGeom prst="rect">
            <a:avLst/>
          </a:prstGeom>
        </p:spPr>
      </p:pic>
      <p:pic>
        <p:nvPicPr>
          <p:cNvPr id="148" name="Graphic 147" descr="Badge Tick1 with solid fill">
            <a:extLst>
              <a:ext uri="{FF2B5EF4-FFF2-40B4-BE49-F238E27FC236}">
                <a16:creationId xmlns:a16="http://schemas.microsoft.com/office/drawing/2014/main" id="{1C9566FF-A0D2-4322-9B4E-27E16452F5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23097" y="3106604"/>
            <a:ext cx="127128" cy="127128"/>
          </a:xfrm>
          <a:prstGeom prst="rect">
            <a:avLst/>
          </a:prstGeom>
        </p:spPr>
      </p:pic>
      <p:pic>
        <p:nvPicPr>
          <p:cNvPr id="149" name="Graphic 148" descr="Badge Tick1 with solid fill">
            <a:extLst>
              <a:ext uri="{FF2B5EF4-FFF2-40B4-BE49-F238E27FC236}">
                <a16:creationId xmlns:a16="http://schemas.microsoft.com/office/drawing/2014/main" id="{0C73D7BE-7AE7-6C84-6BC6-3E13E022D0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23097" y="3356573"/>
            <a:ext cx="127128" cy="127128"/>
          </a:xfrm>
          <a:prstGeom prst="rect">
            <a:avLst/>
          </a:prstGeom>
        </p:spPr>
      </p:pic>
      <p:sp>
        <p:nvSpPr>
          <p:cNvPr id="150" name="Text 28">
            <a:extLst>
              <a:ext uri="{FF2B5EF4-FFF2-40B4-BE49-F238E27FC236}">
                <a16:creationId xmlns:a16="http://schemas.microsoft.com/office/drawing/2014/main" id="{41805C11-0A77-DBC1-AB59-47D4AB0C18DB}"/>
              </a:ext>
            </a:extLst>
          </p:cNvPr>
          <p:cNvSpPr/>
          <p:nvPr/>
        </p:nvSpPr>
        <p:spPr>
          <a:xfrm>
            <a:off x="894968" y="4821516"/>
            <a:ext cx="4918373" cy="1140617"/>
          </a:xfrm>
          <a:prstGeom prst="roundRect">
            <a:avLst>
              <a:gd name="adj" fmla="val 7779"/>
            </a:avLst>
          </a:prstGeom>
          <a:gradFill>
            <a:gsLst>
              <a:gs pos="0">
                <a:schemeClr val="accent4">
                  <a:lumMod val="110000"/>
                  <a:satMod val="105000"/>
                  <a:tint val="67000"/>
                  <a:alpha val="65000"/>
                </a:schemeClr>
              </a:gs>
              <a:gs pos="50000">
                <a:schemeClr val="accent4">
                  <a:lumMod val="105000"/>
                  <a:satMod val="103000"/>
                  <a:tint val="73000"/>
                  <a:alpha val="93000"/>
                </a:schemeClr>
              </a:gs>
              <a:gs pos="100000">
                <a:schemeClr val="accent4">
                  <a:lumMod val="105000"/>
                  <a:satMod val="109000"/>
                  <a:tint val="81000"/>
                  <a:alpha val="95000"/>
                </a:schemeClr>
              </a:gs>
            </a:gsLst>
          </a:gradFill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51" name="Text 29">
            <a:extLst>
              <a:ext uri="{FF2B5EF4-FFF2-40B4-BE49-F238E27FC236}">
                <a16:creationId xmlns:a16="http://schemas.microsoft.com/office/drawing/2014/main" id="{228A0E76-6287-02FE-71C0-F57B898A95C3}"/>
              </a:ext>
            </a:extLst>
          </p:cNvPr>
          <p:cNvSpPr/>
          <p:nvPr/>
        </p:nvSpPr>
        <p:spPr>
          <a:xfrm>
            <a:off x="1127701" y="4886202"/>
            <a:ext cx="4685640" cy="923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067" b="1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duration </a:t>
            </a:r>
            <a:r>
              <a:rPr lang="en-US" sz="1067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</a:t>
            </a:r>
            <a:r>
              <a:rPr lang="en-US" sz="1067" b="1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r>
              <a:rPr lang="en-US" sz="1067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(1,812s -&gt; 1,072s).</a:t>
            </a:r>
          </a:p>
          <a:p>
            <a:pPr>
              <a:lnSpc>
                <a:spcPct val="150000"/>
              </a:lnSpc>
            </a:pPr>
            <a:r>
              <a:rPr lang="en-US" sz="1067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 duration declined post-pandemic.</a:t>
            </a:r>
          </a:p>
          <a:p>
            <a:pPr>
              <a:lnSpc>
                <a:spcPct val="150000"/>
              </a:lnSpc>
            </a:pPr>
            <a:r>
              <a:rPr lang="en-US" sz="1067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Shorter, frequent trips resemble member commuting behavior.</a:t>
            </a:r>
          </a:p>
          <a:p>
            <a:pPr>
              <a:lnSpc>
                <a:spcPct val="150000"/>
              </a:lnSpc>
            </a:pPr>
            <a:r>
              <a:rPr lang="en-US" sz="1067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 a shift from leisure to routine travel.</a:t>
            </a:r>
          </a:p>
        </p:txBody>
      </p:sp>
      <p:pic>
        <p:nvPicPr>
          <p:cNvPr id="152" name="Graphic 151" descr="Badge Tick1 with solid fill">
            <a:extLst>
              <a:ext uri="{FF2B5EF4-FFF2-40B4-BE49-F238E27FC236}">
                <a16:creationId xmlns:a16="http://schemas.microsoft.com/office/drawing/2014/main" id="{12F83356-9262-8C45-14FE-58250CDCB8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6544" y="4950492"/>
            <a:ext cx="127128" cy="127128"/>
          </a:xfrm>
          <a:prstGeom prst="rect">
            <a:avLst/>
          </a:prstGeom>
        </p:spPr>
      </p:pic>
      <p:pic>
        <p:nvPicPr>
          <p:cNvPr id="153" name="Graphic 152" descr="Badge Tick1 with solid fill">
            <a:extLst>
              <a:ext uri="{FF2B5EF4-FFF2-40B4-BE49-F238E27FC236}">
                <a16:creationId xmlns:a16="http://schemas.microsoft.com/office/drawing/2014/main" id="{4CA044DC-1F02-108B-DCF6-C21443445E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6544" y="5200460"/>
            <a:ext cx="127128" cy="127128"/>
          </a:xfrm>
          <a:prstGeom prst="rect">
            <a:avLst/>
          </a:prstGeom>
        </p:spPr>
      </p:pic>
      <p:pic>
        <p:nvPicPr>
          <p:cNvPr id="154" name="Graphic 153" descr="Badge Tick1 with solid fill">
            <a:extLst>
              <a:ext uri="{FF2B5EF4-FFF2-40B4-BE49-F238E27FC236}">
                <a16:creationId xmlns:a16="http://schemas.microsoft.com/office/drawing/2014/main" id="{459C560D-A991-0895-9D1E-0DCE876762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6544" y="5450428"/>
            <a:ext cx="127128" cy="127128"/>
          </a:xfrm>
          <a:prstGeom prst="rect">
            <a:avLst/>
          </a:prstGeom>
        </p:spPr>
      </p:pic>
      <p:pic>
        <p:nvPicPr>
          <p:cNvPr id="155" name="Graphic 154" descr="Badge Tick1 with solid fill">
            <a:extLst>
              <a:ext uri="{FF2B5EF4-FFF2-40B4-BE49-F238E27FC236}">
                <a16:creationId xmlns:a16="http://schemas.microsoft.com/office/drawing/2014/main" id="{24F5E5D3-7B0F-6C64-0B88-1D9F234450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6544" y="5700397"/>
            <a:ext cx="127128" cy="127128"/>
          </a:xfrm>
          <a:prstGeom prst="rect">
            <a:avLst/>
          </a:prstGeom>
        </p:spPr>
      </p:pic>
      <p:sp>
        <p:nvSpPr>
          <p:cNvPr id="156" name="Text 28">
            <a:extLst>
              <a:ext uri="{FF2B5EF4-FFF2-40B4-BE49-F238E27FC236}">
                <a16:creationId xmlns:a16="http://schemas.microsoft.com/office/drawing/2014/main" id="{D68C5A6F-FDD0-875B-85BE-7D5203065803}"/>
              </a:ext>
            </a:extLst>
          </p:cNvPr>
          <p:cNvSpPr/>
          <p:nvPr/>
        </p:nvSpPr>
        <p:spPr>
          <a:xfrm>
            <a:off x="6461521" y="4815165"/>
            <a:ext cx="4819200" cy="1140617"/>
          </a:xfrm>
          <a:prstGeom prst="roundRect">
            <a:avLst>
              <a:gd name="adj" fmla="val 7779"/>
            </a:avLst>
          </a:prstGeom>
          <a:gradFill>
            <a:gsLst>
              <a:gs pos="0">
                <a:schemeClr val="accent4">
                  <a:lumMod val="110000"/>
                  <a:satMod val="105000"/>
                  <a:tint val="67000"/>
                  <a:alpha val="65000"/>
                </a:schemeClr>
              </a:gs>
              <a:gs pos="50000">
                <a:schemeClr val="accent4">
                  <a:lumMod val="105000"/>
                  <a:satMod val="103000"/>
                  <a:tint val="73000"/>
                  <a:alpha val="93000"/>
                </a:schemeClr>
              </a:gs>
              <a:gs pos="100000">
                <a:schemeClr val="accent4">
                  <a:lumMod val="105000"/>
                  <a:satMod val="109000"/>
                  <a:tint val="81000"/>
                  <a:alpha val="95000"/>
                </a:schemeClr>
              </a:gs>
            </a:gsLst>
          </a:gradFill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57" name="Text 29">
            <a:extLst>
              <a:ext uri="{FF2B5EF4-FFF2-40B4-BE49-F238E27FC236}">
                <a16:creationId xmlns:a16="http://schemas.microsoft.com/office/drawing/2014/main" id="{4D0EC1A0-777C-B1D1-5E0F-56381363E10B}"/>
              </a:ext>
            </a:extLst>
          </p:cNvPr>
          <p:cNvSpPr/>
          <p:nvPr/>
        </p:nvSpPr>
        <p:spPr>
          <a:xfrm>
            <a:off x="6694254" y="4879852"/>
            <a:ext cx="4757321" cy="923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067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riders drive most of Cyclistic’s post-pandemic growth : </a:t>
            </a:r>
            <a:r>
              <a:rPr lang="en-US" sz="1067" b="1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136%</a:t>
            </a:r>
            <a:r>
              <a:rPr lang="en-US" sz="1067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over 10 years</a:t>
            </a:r>
          </a:p>
          <a:p>
            <a:pPr>
              <a:lnSpc>
                <a:spcPct val="150000"/>
              </a:lnSpc>
            </a:pPr>
            <a:r>
              <a:rPr lang="en-US" sz="1067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share doubled in winter and rose in summer.</a:t>
            </a:r>
          </a:p>
          <a:p>
            <a:pPr>
              <a:lnSpc>
                <a:spcPct val="150000"/>
              </a:lnSpc>
            </a:pPr>
            <a:r>
              <a:rPr lang="en-US" sz="1067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riders dominate new growth segments(commute-time, long-duration)</a:t>
            </a:r>
          </a:p>
          <a:p>
            <a:pPr>
              <a:lnSpc>
                <a:spcPct val="150000"/>
              </a:lnSpc>
            </a:pPr>
            <a:r>
              <a:rPr lang="en-US" sz="1067" dirty="0">
                <a:solidFill>
                  <a:srgbClr val="1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even a small portion yields major membership gains.</a:t>
            </a:r>
          </a:p>
        </p:txBody>
      </p:sp>
      <p:pic>
        <p:nvPicPr>
          <p:cNvPr id="158" name="Graphic 157" descr="Badge Tick1 with solid fill">
            <a:extLst>
              <a:ext uri="{FF2B5EF4-FFF2-40B4-BE49-F238E27FC236}">
                <a16:creationId xmlns:a16="http://schemas.microsoft.com/office/drawing/2014/main" id="{2E3891B2-5ABE-5559-8F32-AF08363678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23097" y="4944141"/>
            <a:ext cx="127128" cy="127128"/>
          </a:xfrm>
          <a:prstGeom prst="rect">
            <a:avLst/>
          </a:prstGeom>
        </p:spPr>
      </p:pic>
      <p:pic>
        <p:nvPicPr>
          <p:cNvPr id="159" name="Graphic 158" descr="Badge Tick1 with solid fill">
            <a:extLst>
              <a:ext uri="{FF2B5EF4-FFF2-40B4-BE49-F238E27FC236}">
                <a16:creationId xmlns:a16="http://schemas.microsoft.com/office/drawing/2014/main" id="{7757480C-820A-6229-744F-35238CFFC9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23097" y="5194109"/>
            <a:ext cx="127128" cy="127128"/>
          </a:xfrm>
          <a:prstGeom prst="rect">
            <a:avLst/>
          </a:prstGeom>
        </p:spPr>
      </p:pic>
      <p:pic>
        <p:nvPicPr>
          <p:cNvPr id="160" name="Graphic 159" descr="Badge Tick1 with solid fill">
            <a:extLst>
              <a:ext uri="{FF2B5EF4-FFF2-40B4-BE49-F238E27FC236}">
                <a16:creationId xmlns:a16="http://schemas.microsoft.com/office/drawing/2014/main" id="{832871CB-800B-C749-14A8-D709BC190F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23097" y="5444077"/>
            <a:ext cx="127128" cy="127128"/>
          </a:xfrm>
          <a:prstGeom prst="rect">
            <a:avLst/>
          </a:prstGeom>
        </p:spPr>
      </p:pic>
      <p:pic>
        <p:nvPicPr>
          <p:cNvPr id="161" name="Graphic 160" descr="Badge Tick1 with solid fill">
            <a:extLst>
              <a:ext uri="{FF2B5EF4-FFF2-40B4-BE49-F238E27FC236}">
                <a16:creationId xmlns:a16="http://schemas.microsoft.com/office/drawing/2014/main" id="{C39B97C5-8141-19BA-D22D-CD3FE2C267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23097" y="5668647"/>
            <a:ext cx="127128" cy="127128"/>
          </a:xfrm>
          <a:prstGeom prst="rect">
            <a:avLst/>
          </a:prstGeom>
        </p:spPr>
      </p:pic>
      <p:sp>
        <p:nvSpPr>
          <p:cNvPr id="190" name="Text 8">
            <a:extLst>
              <a:ext uri="{FF2B5EF4-FFF2-40B4-BE49-F238E27FC236}">
                <a16:creationId xmlns:a16="http://schemas.microsoft.com/office/drawing/2014/main" id="{C6135718-E088-DAAE-4F4E-AE8CDB61EC35}"/>
              </a:ext>
            </a:extLst>
          </p:cNvPr>
          <p:cNvSpPr/>
          <p:nvPr/>
        </p:nvSpPr>
        <p:spPr>
          <a:xfrm>
            <a:off x="1577181" y="4181788"/>
            <a:ext cx="4568408" cy="1573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40"/>
              </a:lnSpc>
            </a:pPr>
            <a:r>
              <a:rPr lang="en-US" sz="827" b="1" dirty="0">
                <a:solidFill>
                  <a:srgbClr val="15A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TRIP DURATION</a:t>
            </a:r>
            <a:endParaRPr lang="en-US" sz="827" dirty="0">
              <a:solidFill>
                <a:srgbClr val="15A0FF"/>
              </a:solidFill>
            </a:endParaRPr>
          </a:p>
        </p:txBody>
      </p:sp>
      <p:sp>
        <p:nvSpPr>
          <p:cNvPr id="191" name="Text 8">
            <a:extLst>
              <a:ext uri="{FF2B5EF4-FFF2-40B4-BE49-F238E27FC236}">
                <a16:creationId xmlns:a16="http://schemas.microsoft.com/office/drawing/2014/main" id="{E5F81D83-6360-A866-9E6E-61D5CD3E3DB8}"/>
              </a:ext>
            </a:extLst>
          </p:cNvPr>
          <p:cNvSpPr/>
          <p:nvPr/>
        </p:nvSpPr>
        <p:spPr>
          <a:xfrm>
            <a:off x="7146212" y="1820381"/>
            <a:ext cx="4568408" cy="1573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40"/>
              </a:lnSpc>
            </a:pPr>
            <a:r>
              <a:rPr lang="en-US" sz="827" b="1" dirty="0">
                <a:solidFill>
                  <a:srgbClr val="15A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LOCATION USAGE</a:t>
            </a:r>
            <a:endParaRPr lang="en-US" sz="827" dirty="0">
              <a:solidFill>
                <a:srgbClr val="15A0FF"/>
              </a:solidFill>
            </a:endParaRPr>
          </a:p>
        </p:txBody>
      </p:sp>
      <p:sp>
        <p:nvSpPr>
          <p:cNvPr id="192" name="Text 8">
            <a:extLst>
              <a:ext uri="{FF2B5EF4-FFF2-40B4-BE49-F238E27FC236}">
                <a16:creationId xmlns:a16="http://schemas.microsoft.com/office/drawing/2014/main" id="{FBC7A0FC-D9B3-7124-1176-07FA5C2339D7}"/>
              </a:ext>
            </a:extLst>
          </p:cNvPr>
          <p:cNvSpPr/>
          <p:nvPr/>
        </p:nvSpPr>
        <p:spPr>
          <a:xfrm>
            <a:off x="7148909" y="4181788"/>
            <a:ext cx="4568408" cy="1573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40"/>
              </a:lnSpc>
            </a:pPr>
            <a:r>
              <a:rPr lang="en-US" sz="827" b="1" dirty="0">
                <a:solidFill>
                  <a:srgbClr val="15A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POST-PANDEMIC </a:t>
            </a:r>
            <a:endParaRPr lang="en-US" sz="827" dirty="0">
              <a:solidFill>
                <a:srgbClr val="15A0FF"/>
              </a:solidFill>
            </a:endParaRPr>
          </a:p>
        </p:txBody>
      </p:sp>
      <p:sp>
        <p:nvSpPr>
          <p:cNvPr id="193" name="Text 19">
            <a:extLst>
              <a:ext uri="{FF2B5EF4-FFF2-40B4-BE49-F238E27FC236}">
                <a16:creationId xmlns:a16="http://schemas.microsoft.com/office/drawing/2014/main" id="{55B30A60-06EE-3227-3B8C-209997D4E1D2}"/>
              </a:ext>
            </a:extLst>
          </p:cNvPr>
          <p:cNvSpPr/>
          <p:nvPr/>
        </p:nvSpPr>
        <p:spPr>
          <a:xfrm>
            <a:off x="1577181" y="4364832"/>
            <a:ext cx="4236160" cy="354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3"/>
              </a:lnSpc>
            </a:pPr>
            <a:r>
              <a:rPr lang="en-US" sz="1347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Trips Are Shorter and More Practical</a:t>
            </a:r>
          </a:p>
        </p:txBody>
      </p:sp>
      <p:sp>
        <p:nvSpPr>
          <p:cNvPr id="194" name="Text 8">
            <a:extLst>
              <a:ext uri="{FF2B5EF4-FFF2-40B4-BE49-F238E27FC236}">
                <a16:creationId xmlns:a16="http://schemas.microsoft.com/office/drawing/2014/main" id="{6875C975-639A-C2BD-A405-70A845327D98}"/>
              </a:ext>
            </a:extLst>
          </p:cNvPr>
          <p:cNvSpPr/>
          <p:nvPr/>
        </p:nvSpPr>
        <p:spPr>
          <a:xfrm>
            <a:off x="1561993" y="1810800"/>
            <a:ext cx="4568408" cy="1573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40"/>
              </a:lnSpc>
            </a:pPr>
            <a:r>
              <a:rPr lang="en-US" sz="827" b="1" dirty="0">
                <a:solidFill>
                  <a:srgbClr val="15A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BEHAVIOR PATTERN</a:t>
            </a:r>
            <a:endParaRPr lang="en-US" sz="827" dirty="0">
              <a:solidFill>
                <a:srgbClr val="15A0FF"/>
              </a:solidFill>
            </a:endParaRPr>
          </a:p>
        </p:txBody>
      </p:sp>
      <p:sp>
        <p:nvSpPr>
          <p:cNvPr id="99" name="Text 29">
            <a:extLst>
              <a:ext uri="{FF2B5EF4-FFF2-40B4-BE49-F238E27FC236}">
                <a16:creationId xmlns:a16="http://schemas.microsoft.com/office/drawing/2014/main" id="{57FCF0EC-36C1-ADBF-9011-D9E494656B3F}"/>
              </a:ext>
            </a:extLst>
          </p:cNvPr>
          <p:cNvSpPr/>
          <p:nvPr/>
        </p:nvSpPr>
        <p:spPr>
          <a:xfrm>
            <a:off x="0" y="6343819"/>
            <a:ext cx="12192000" cy="514747"/>
          </a:xfrm>
          <a:prstGeom prst="rect">
            <a:avLst/>
          </a:prstGeom>
          <a:gradFill rotWithShape="1">
            <a:gsLst>
              <a:gs pos="0">
                <a:srgbClr val="16204A">
                  <a:alpha val="60000"/>
                </a:srgbClr>
              </a:gs>
              <a:gs pos="100000">
                <a:srgbClr val="0D1B2A">
                  <a:alpha val="6000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01" name="Text 30">
            <a:extLst>
              <a:ext uri="{FF2B5EF4-FFF2-40B4-BE49-F238E27FC236}">
                <a16:creationId xmlns:a16="http://schemas.microsoft.com/office/drawing/2014/main" id="{103142C1-36A0-3378-7942-34ECBE63E0D4}"/>
              </a:ext>
            </a:extLst>
          </p:cNvPr>
          <p:cNvSpPr/>
          <p:nvPr/>
        </p:nvSpPr>
        <p:spPr>
          <a:xfrm>
            <a:off x="0" y="6343820"/>
            <a:ext cx="12192000" cy="12700"/>
          </a:xfrm>
          <a:prstGeom prst="rect">
            <a:avLst/>
          </a:prstGeom>
          <a:solidFill>
            <a:srgbClr val="00C6A7">
              <a:alpha val="2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103" name="Text 32">
            <a:extLst>
              <a:ext uri="{FF2B5EF4-FFF2-40B4-BE49-F238E27FC236}">
                <a16:creationId xmlns:a16="http://schemas.microsoft.com/office/drawing/2014/main" id="{BB112E03-EFD1-C0CD-0F72-D4867ADB323F}"/>
              </a:ext>
            </a:extLst>
          </p:cNvPr>
          <p:cNvSpPr/>
          <p:nvPr/>
        </p:nvSpPr>
        <p:spPr>
          <a:xfrm>
            <a:off x="5693172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5" name="Text 33">
            <a:extLst>
              <a:ext uri="{FF2B5EF4-FFF2-40B4-BE49-F238E27FC236}">
                <a16:creationId xmlns:a16="http://schemas.microsoft.com/office/drawing/2014/main" id="{7B54F531-15E8-D913-C590-80003AD270FB}"/>
              </a:ext>
            </a:extLst>
          </p:cNvPr>
          <p:cNvSpPr/>
          <p:nvPr/>
        </p:nvSpPr>
        <p:spPr>
          <a:xfrm>
            <a:off x="5808265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7" name="Text 34">
            <a:extLst>
              <a:ext uri="{FF2B5EF4-FFF2-40B4-BE49-F238E27FC236}">
                <a16:creationId xmlns:a16="http://schemas.microsoft.com/office/drawing/2014/main" id="{7450406C-C028-B735-B6EA-83954A46EC77}"/>
              </a:ext>
            </a:extLst>
          </p:cNvPr>
          <p:cNvSpPr/>
          <p:nvPr/>
        </p:nvSpPr>
        <p:spPr>
          <a:xfrm>
            <a:off x="5923360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9" name="Text 35">
            <a:extLst>
              <a:ext uri="{FF2B5EF4-FFF2-40B4-BE49-F238E27FC236}">
                <a16:creationId xmlns:a16="http://schemas.microsoft.com/office/drawing/2014/main" id="{E1D494EA-F0E9-0244-68F8-82A54E5BDBC1}"/>
              </a:ext>
            </a:extLst>
          </p:cNvPr>
          <p:cNvSpPr/>
          <p:nvPr/>
        </p:nvSpPr>
        <p:spPr>
          <a:xfrm>
            <a:off x="6038453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12" name="Text 36">
            <a:extLst>
              <a:ext uri="{FF2B5EF4-FFF2-40B4-BE49-F238E27FC236}">
                <a16:creationId xmlns:a16="http://schemas.microsoft.com/office/drawing/2014/main" id="{8B3B9EE1-5041-AE19-8EF8-36E7F7478F08}"/>
              </a:ext>
            </a:extLst>
          </p:cNvPr>
          <p:cNvSpPr/>
          <p:nvPr/>
        </p:nvSpPr>
        <p:spPr>
          <a:xfrm>
            <a:off x="6153547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14" name="Text 37">
            <a:extLst>
              <a:ext uri="{FF2B5EF4-FFF2-40B4-BE49-F238E27FC236}">
                <a16:creationId xmlns:a16="http://schemas.microsoft.com/office/drawing/2014/main" id="{365659F9-0A1D-1AF7-2324-12AD49E7B207}"/>
              </a:ext>
            </a:extLst>
          </p:cNvPr>
          <p:cNvSpPr/>
          <p:nvPr/>
        </p:nvSpPr>
        <p:spPr>
          <a:xfrm>
            <a:off x="6268640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16" name="Text 38">
            <a:extLst>
              <a:ext uri="{FF2B5EF4-FFF2-40B4-BE49-F238E27FC236}">
                <a16:creationId xmlns:a16="http://schemas.microsoft.com/office/drawing/2014/main" id="{3B8CB4CF-EC8C-E8DF-0DCC-53E313E4BCAF}"/>
              </a:ext>
            </a:extLst>
          </p:cNvPr>
          <p:cNvSpPr/>
          <p:nvPr/>
        </p:nvSpPr>
        <p:spPr>
          <a:xfrm>
            <a:off x="6383735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19" name="Text 39">
            <a:extLst>
              <a:ext uri="{FF2B5EF4-FFF2-40B4-BE49-F238E27FC236}">
                <a16:creationId xmlns:a16="http://schemas.microsoft.com/office/drawing/2014/main" id="{C8FB47B7-11D4-0409-864A-4A6F84F75FA6}"/>
              </a:ext>
            </a:extLst>
          </p:cNvPr>
          <p:cNvSpPr/>
          <p:nvPr/>
        </p:nvSpPr>
        <p:spPr>
          <a:xfrm>
            <a:off x="6498828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27" name="Text 40">
            <a:extLst>
              <a:ext uri="{FF2B5EF4-FFF2-40B4-BE49-F238E27FC236}">
                <a16:creationId xmlns:a16="http://schemas.microsoft.com/office/drawing/2014/main" id="{6ED83058-9CDB-41B5-5592-1BBE10E26186}"/>
              </a:ext>
            </a:extLst>
          </p:cNvPr>
          <p:cNvSpPr/>
          <p:nvPr/>
        </p:nvSpPr>
        <p:spPr>
          <a:xfrm>
            <a:off x="6613921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30" name="Text 41">
            <a:extLst>
              <a:ext uri="{FF2B5EF4-FFF2-40B4-BE49-F238E27FC236}">
                <a16:creationId xmlns:a16="http://schemas.microsoft.com/office/drawing/2014/main" id="{53BBC7A1-933E-227A-B8F8-151982094BB2}"/>
              </a:ext>
            </a:extLst>
          </p:cNvPr>
          <p:cNvSpPr/>
          <p:nvPr/>
        </p:nvSpPr>
        <p:spPr>
          <a:xfrm>
            <a:off x="6729016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32" name="Text 42">
            <a:extLst>
              <a:ext uri="{FF2B5EF4-FFF2-40B4-BE49-F238E27FC236}">
                <a16:creationId xmlns:a16="http://schemas.microsoft.com/office/drawing/2014/main" id="{C66A2C38-2AD4-807B-0BFB-E9473FF8DA7A}"/>
              </a:ext>
            </a:extLst>
          </p:cNvPr>
          <p:cNvSpPr/>
          <p:nvPr/>
        </p:nvSpPr>
        <p:spPr>
          <a:xfrm>
            <a:off x="6844109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35" name="Text 43">
            <a:extLst>
              <a:ext uri="{FF2B5EF4-FFF2-40B4-BE49-F238E27FC236}">
                <a16:creationId xmlns:a16="http://schemas.microsoft.com/office/drawing/2014/main" id="{2338F248-FE61-B50E-5457-284107F1302A}"/>
              </a:ext>
            </a:extLst>
          </p:cNvPr>
          <p:cNvSpPr/>
          <p:nvPr/>
        </p:nvSpPr>
        <p:spPr>
          <a:xfrm>
            <a:off x="9235167" y="6504980"/>
            <a:ext cx="2451952" cy="13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ts val="1460"/>
              </a:lnSpc>
            </a:pPr>
            <a:r>
              <a:rPr lang="en-US" sz="973" kern="0" spc="49" dirty="0">
                <a:solidFill>
                  <a:schemeClr val="bg1">
                    <a:lumMod val="50000"/>
                  </a:scheme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Prepared by Younggi Kim </a:t>
            </a:r>
            <a:endParaRPr lang="en-US" sz="973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38" name="Image 3" descr="preencoded.png">
            <a:extLst>
              <a:ext uri="{FF2B5EF4-FFF2-40B4-BE49-F238E27FC236}">
                <a16:creationId xmlns:a16="http://schemas.microsoft.com/office/drawing/2014/main" id="{317BBD4F-E230-52D6-CCDC-5DE3A2F19112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5088" y="6519150"/>
            <a:ext cx="176784" cy="176784"/>
          </a:xfrm>
          <a:prstGeom prst="rect">
            <a:avLst/>
          </a:prstGeom>
        </p:spPr>
      </p:pic>
      <p:sp>
        <p:nvSpPr>
          <p:cNvPr id="162" name="Text 16">
            <a:extLst>
              <a:ext uri="{FF2B5EF4-FFF2-40B4-BE49-F238E27FC236}">
                <a16:creationId xmlns:a16="http://schemas.microsoft.com/office/drawing/2014/main" id="{DA57626C-80BA-1B8D-D888-7353F2BA287A}"/>
              </a:ext>
            </a:extLst>
          </p:cNvPr>
          <p:cNvSpPr/>
          <p:nvPr/>
        </p:nvSpPr>
        <p:spPr>
          <a:xfrm>
            <a:off x="892831" y="6519150"/>
            <a:ext cx="4319349" cy="172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360"/>
              </a:lnSpc>
            </a:pPr>
            <a:r>
              <a:rPr lang="en-US" sz="907" dirty="0">
                <a:solidFill>
                  <a:srgbClr val="6E8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CYCLISTIC BIKE-SHARE · GOOGLE DATA ANALYTICS CAPSTONE</a:t>
            </a:r>
            <a:endParaRPr lang="en-US" sz="907" dirty="0">
              <a:solidFill>
                <a:srgbClr val="6E809F"/>
              </a:solidFill>
            </a:endParaRPr>
          </a:p>
        </p:txBody>
      </p:sp>
      <p:sp>
        <p:nvSpPr>
          <p:cNvPr id="51" name="Text 0">
            <a:extLst>
              <a:ext uri="{FF2B5EF4-FFF2-40B4-BE49-F238E27FC236}">
                <a16:creationId xmlns:a16="http://schemas.microsoft.com/office/drawing/2014/main" id="{D08C6EE4-9EE1-2C8D-66A9-CA6EAC8D6A11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E4002B">
              <a:alpha val="87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917661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0">
            <a:extLst>
              <a:ext uri="{FF2B5EF4-FFF2-40B4-BE49-F238E27FC236}">
                <a16:creationId xmlns:a16="http://schemas.microsoft.com/office/drawing/2014/main" id="{FB67C486-4AE2-EDF2-F4D7-6B600A1C7B86}"/>
              </a:ext>
            </a:extLst>
          </p:cNvPr>
          <p:cNvSpPr/>
          <p:nvPr/>
        </p:nvSpPr>
        <p:spPr>
          <a:xfrm>
            <a:off x="-5160" y="-18288"/>
            <a:ext cx="12192000" cy="6881847"/>
          </a:xfrm>
          <a:prstGeom prst="rect">
            <a:avLst/>
          </a:prstGeom>
          <a:gradFill rotWithShape="1">
            <a:gsLst>
              <a:gs pos="0">
                <a:srgbClr val="0C122C">
                  <a:alpha val="96863"/>
                </a:srgbClr>
              </a:gs>
              <a:gs pos="50000">
                <a:srgbClr val="002060">
                  <a:alpha val="92000"/>
                </a:srgbClr>
              </a:gs>
              <a:gs pos="100000">
                <a:srgbClr val="15A0FF">
                  <a:alpha val="8000"/>
                </a:srgbClr>
              </a:gs>
            </a:gsLst>
            <a:lin ang="420000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-18288"/>
            <a:ext cx="3810000" cy="3429000"/>
          </a:xfrm>
          <a:prstGeom prst="rect">
            <a:avLst/>
          </a:prstGeom>
          <a:gradFill rotWithShape="1">
            <a:gsLst>
              <a:gs pos="0">
                <a:srgbClr val="00C6A7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954293" y="3983005"/>
            <a:ext cx="3237707" cy="2856707"/>
          </a:xfrm>
          <a:prstGeom prst="rect">
            <a:avLst/>
          </a:prstGeom>
          <a:gradFill rotWithShape="1">
            <a:gsLst>
              <a:gs pos="0">
                <a:srgbClr val="00C6A7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81447" y="1506983"/>
            <a:ext cx="10712056" cy="837604"/>
          </a:xfrm>
          <a:prstGeom prst="roundRect">
            <a:avLst>
              <a:gd name="adj" fmla="val 11321"/>
            </a:avLst>
          </a:prstGeom>
          <a:gradFill rotWithShape="1">
            <a:gsLst>
              <a:gs pos="0">
                <a:srgbClr val="00C6A7">
                  <a:alpha val="5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81447" y="3110737"/>
            <a:ext cx="10712056" cy="837604"/>
          </a:xfrm>
          <a:prstGeom prst="roundRect">
            <a:avLst>
              <a:gd name="adj" fmla="val 11321"/>
            </a:avLst>
          </a:prstGeom>
          <a:gradFill rotWithShape="1">
            <a:gsLst>
              <a:gs pos="0">
                <a:srgbClr val="00C6A7">
                  <a:alpha val="5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81447" y="4685873"/>
            <a:ext cx="10712056" cy="837604"/>
          </a:xfrm>
          <a:prstGeom prst="roundRect">
            <a:avLst>
              <a:gd name="adj" fmla="val 11321"/>
            </a:avLst>
          </a:prstGeom>
          <a:gradFill rotWithShape="1">
            <a:gsLst>
              <a:gs pos="0">
                <a:srgbClr val="00C6A7">
                  <a:alpha val="5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43347" y="419894"/>
            <a:ext cx="11839139" cy="185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60"/>
              </a:lnSpc>
            </a:pPr>
            <a:r>
              <a:rPr lang="en-US" sz="973" b="1" kern="0" spc="175" dirty="0">
                <a:solidFill>
                  <a:srgbClr val="008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Next Steps</a:t>
            </a:r>
            <a:endParaRPr lang="en-US" sz="973" dirty="0">
              <a:solidFill>
                <a:srgbClr val="0087E2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743347" y="644493"/>
            <a:ext cx="11516253" cy="416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281"/>
              </a:lnSpc>
            </a:pPr>
            <a:r>
              <a:rPr lang="en-US" sz="2853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Recommended Actions to Convert Casual Riders into Annual Members</a:t>
            </a:r>
            <a:endParaRPr lang="en-US" sz="2853" dirty="0"/>
          </a:p>
        </p:txBody>
      </p:sp>
      <p:sp>
        <p:nvSpPr>
          <p:cNvPr id="12" name="Text 10"/>
          <p:cNvSpPr/>
          <p:nvPr/>
        </p:nvSpPr>
        <p:spPr>
          <a:xfrm>
            <a:off x="743347" y="1194761"/>
            <a:ext cx="10762853" cy="18455"/>
          </a:xfrm>
          <a:prstGeom prst="rect">
            <a:avLst/>
          </a:prstGeom>
          <a:gradFill rotWithShape="1">
            <a:gsLst>
              <a:gs pos="0">
                <a:srgbClr val="0087E2"/>
              </a:gs>
              <a:gs pos="50000">
                <a:srgbClr val="0087E2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43347" y="1494280"/>
            <a:ext cx="10762853" cy="1200000"/>
          </a:xfrm>
          <a:prstGeom prst="roundRect">
            <a:avLst>
              <a:gd name="adj" fmla="val 10988"/>
            </a:avLst>
          </a:prstGeom>
          <a:solidFill>
            <a:srgbClr val="1A2E42">
              <a:alpha val="72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43347" y="1494281"/>
            <a:ext cx="38400" cy="1200000"/>
          </a:xfrm>
          <a:custGeom>
            <a:avLst/>
            <a:gdLst/>
            <a:ahLst/>
            <a:cxnLst/>
            <a:rect l="l" t="t" r="r" b="b"/>
            <a:pathLst>
              <a:path w="28575" h="647254">
                <a:moveTo>
                  <a:pt x="0" y="71120"/>
                </a:moveTo>
                <a:lnTo>
                  <a:pt x="3572" y="48865"/>
                </a:lnTo>
                <a:lnTo>
                  <a:pt x="7144" y="40054"/>
                </a:lnTo>
                <a:lnTo>
                  <a:pt x="10716" y="33579"/>
                </a:lnTo>
                <a:lnTo>
                  <a:pt x="14288" y="28363"/>
                </a:lnTo>
                <a:lnTo>
                  <a:pt x="17859" y="23989"/>
                </a:lnTo>
                <a:lnTo>
                  <a:pt x="21431" y="20237"/>
                </a:lnTo>
                <a:lnTo>
                  <a:pt x="25003" y="16979"/>
                </a:lnTo>
                <a:lnTo>
                  <a:pt x="28575" y="14129"/>
                </a:lnTo>
                <a:lnTo>
                  <a:pt x="28575" y="633125"/>
                </a:lnTo>
                <a:lnTo>
                  <a:pt x="25003" y="630275"/>
                </a:lnTo>
                <a:lnTo>
                  <a:pt x="21431" y="627017"/>
                </a:lnTo>
                <a:lnTo>
                  <a:pt x="17859" y="623265"/>
                </a:lnTo>
                <a:lnTo>
                  <a:pt x="14288" y="618890"/>
                </a:lnTo>
                <a:lnTo>
                  <a:pt x="10716" y="613675"/>
                </a:lnTo>
                <a:lnTo>
                  <a:pt x="7144" y="607199"/>
                </a:lnTo>
                <a:lnTo>
                  <a:pt x="3572" y="598389"/>
                </a:lnTo>
                <a:lnTo>
                  <a:pt x="0" y="576133"/>
                </a:lnTo>
                <a:close/>
              </a:path>
            </a:pathLst>
          </a:custGeom>
          <a:solidFill>
            <a:srgbClr val="00B0F0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72440" y="1863339"/>
            <a:ext cx="419893" cy="461883"/>
          </a:xfrm>
          <a:prstGeom prst="ellipse">
            <a:avLst/>
          </a:prstGeom>
          <a:gradFill rotWithShape="1">
            <a:gsLst>
              <a:gs pos="0">
                <a:srgbClr val="00B0F0"/>
              </a:gs>
              <a:gs pos="100000">
                <a:srgbClr val="0070C0"/>
              </a:gs>
            </a:gsLst>
            <a:lin ang="2700000" scaled="1"/>
          </a:gradFill>
          <a:ln/>
          <a:effectLst>
            <a:outerShdw blurRad="114300" dist="50800" dir="16200000" algn="bl" rotWithShape="0">
              <a:srgbClr val="0087E2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/>
            <a:r>
              <a:rPr lang="en-US" sz="150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7" dirty="0"/>
          </a:p>
        </p:txBody>
      </p:sp>
      <p:sp>
        <p:nvSpPr>
          <p:cNvPr id="16" name="Text 14"/>
          <p:cNvSpPr/>
          <p:nvPr/>
        </p:nvSpPr>
        <p:spPr>
          <a:xfrm>
            <a:off x="1583929" y="1677838"/>
            <a:ext cx="10060583" cy="243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920"/>
              </a:lnSpc>
            </a:pPr>
            <a:r>
              <a:rPr lang="en-US" sz="1467" b="1" dirty="0">
                <a:solidFill>
                  <a:srgbClr val="00B0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Target Casual Riders Showing Commuter-Like Behavior</a:t>
            </a:r>
            <a:endParaRPr lang="en-US" sz="1467" dirty="0">
              <a:solidFill>
                <a:srgbClr val="00B0F0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1583627" y="2038155"/>
            <a:ext cx="10060583" cy="702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3"/>
              </a:lnSpc>
            </a:pPr>
            <a:r>
              <a:rPr lang="en-US" sz="116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riders active at 6-9 AM and 4-6 PM, where casual usage has surged. </a:t>
            </a:r>
          </a:p>
          <a:p>
            <a:pPr>
              <a:lnSpc>
                <a:spcPts val="1683"/>
              </a:lnSpc>
            </a:pPr>
            <a:r>
              <a:rPr lang="en-US" sz="116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commute-focused membership discounts and first-month trial offers. </a:t>
            </a:r>
          </a:p>
          <a:p>
            <a:pPr>
              <a:lnSpc>
                <a:spcPts val="1683"/>
              </a:lnSpc>
            </a:pPr>
            <a:endParaRPr lang="en-US" sz="1160" dirty="0"/>
          </a:p>
        </p:txBody>
      </p:sp>
      <p:sp>
        <p:nvSpPr>
          <p:cNvPr id="18" name="Text 16"/>
          <p:cNvSpPr/>
          <p:nvPr/>
        </p:nvSpPr>
        <p:spPr>
          <a:xfrm>
            <a:off x="10921207" y="1922434"/>
            <a:ext cx="343693" cy="343693"/>
          </a:xfrm>
          <a:prstGeom prst="roundRect">
            <a:avLst>
              <a:gd name="adj" fmla="val 22171"/>
            </a:avLst>
          </a:prstGeom>
          <a:solidFill>
            <a:srgbClr val="00C6A7">
              <a:alpha val="12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04561" y="2003167"/>
            <a:ext cx="176784" cy="17678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43347" y="3098036"/>
            <a:ext cx="10762853" cy="1200000"/>
          </a:xfrm>
          <a:prstGeom prst="roundRect">
            <a:avLst>
              <a:gd name="adj" fmla="val 10988"/>
            </a:avLst>
          </a:prstGeom>
          <a:solidFill>
            <a:srgbClr val="1A2E42">
              <a:alpha val="78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743347" y="3098036"/>
            <a:ext cx="38100" cy="1200000"/>
          </a:xfrm>
          <a:custGeom>
            <a:avLst/>
            <a:gdLst/>
            <a:ahLst/>
            <a:cxnLst/>
            <a:rect l="l" t="t" r="r" b="b"/>
            <a:pathLst>
              <a:path w="28575" h="647254">
                <a:moveTo>
                  <a:pt x="0" y="71120"/>
                </a:moveTo>
                <a:lnTo>
                  <a:pt x="3572" y="48865"/>
                </a:lnTo>
                <a:lnTo>
                  <a:pt x="7144" y="40054"/>
                </a:lnTo>
                <a:lnTo>
                  <a:pt x="10716" y="33579"/>
                </a:lnTo>
                <a:lnTo>
                  <a:pt x="14288" y="28363"/>
                </a:lnTo>
                <a:lnTo>
                  <a:pt x="17859" y="23989"/>
                </a:lnTo>
                <a:lnTo>
                  <a:pt x="21431" y="20237"/>
                </a:lnTo>
                <a:lnTo>
                  <a:pt x="25003" y="16979"/>
                </a:lnTo>
                <a:lnTo>
                  <a:pt x="28575" y="14129"/>
                </a:lnTo>
                <a:lnTo>
                  <a:pt x="28575" y="633125"/>
                </a:lnTo>
                <a:lnTo>
                  <a:pt x="25003" y="630275"/>
                </a:lnTo>
                <a:lnTo>
                  <a:pt x="21431" y="627017"/>
                </a:lnTo>
                <a:lnTo>
                  <a:pt x="17859" y="623265"/>
                </a:lnTo>
                <a:lnTo>
                  <a:pt x="14288" y="618890"/>
                </a:lnTo>
                <a:lnTo>
                  <a:pt x="10716" y="613675"/>
                </a:lnTo>
                <a:lnTo>
                  <a:pt x="7144" y="607199"/>
                </a:lnTo>
                <a:lnTo>
                  <a:pt x="3572" y="598389"/>
                </a:lnTo>
                <a:lnTo>
                  <a:pt x="0" y="576133"/>
                </a:lnTo>
                <a:close/>
              </a:path>
            </a:pathLst>
          </a:custGeom>
          <a:solidFill>
            <a:srgbClr val="00B0F0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972440" y="3467095"/>
            <a:ext cx="419893" cy="461883"/>
          </a:xfrm>
          <a:prstGeom prst="ellipse">
            <a:avLst/>
          </a:prstGeom>
          <a:gradFill rotWithShape="1">
            <a:gsLst>
              <a:gs pos="0">
                <a:srgbClr val="00B0F0"/>
              </a:gs>
              <a:gs pos="100000">
                <a:srgbClr val="0070C0"/>
              </a:gs>
            </a:gsLst>
            <a:lin ang="2700000" scaled="1"/>
          </a:gradFill>
          <a:ln/>
          <a:effectLst>
            <a:outerShdw blurRad="114300" dist="50800" dir="16200000" algn="bl" rotWithShape="0">
              <a:srgbClr val="0087E2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/>
            <a:r>
              <a:rPr lang="en-US" sz="150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7" dirty="0"/>
          </a:p>
        </p:txBody>
      </p:sp>
      <p:sp>
        <p:nvSpPr>
          <p:cNvPr id="23" name="Text 20"/>
          <p:cNvSpPr/>
          <p:nvPr/>
        </p:nvSpPr>
        <p:spPr>
          <a:xfrm>
            <a:off x="1583929" y="3281592"/>
            <a:ext cx="10060583" cy="243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920"/>
              </a:lnSpc>
            </a:pPr>
            <a:r>
              <a:rPr lang="en-US" sz="1467" b="1" dirty="0">
                <a:solidFill>
                  <a:srgbClr val="00B0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Deploy Location-Based Membership Marketing at High-Casual Stations</a:t>
            </a:r>
            <a:endParaRPr lang="en-US" sz="1467" dirty="0">
              <a:solidFill>
                <a:srgbClr val="00B0F0"/>
              </a:solidFill>
            </a:endParaRPr>
          </a:p>
        </p:txBody>
      </p:sp>
      <p:sp>
        <p:nvSpPr>
          <p:cNvPr id="24" name="Text 21"/>
          <p:cNvSpPr/>
          <p:nvPr/>
        </p:nvSpPr>
        <p:spPr>
          <a:xfrm>
            <a:off x="1583929" y="3631589"/>
            <a:ext cx="10060583" cy="517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3"/>
              </a:lnSpc>
            </a:pPr>
            <a:r>
              <a:rPr lang="en-US" sz="116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stations where casual weekday usage is rising and overlaps with member-dense areas.</a:t>
            </a:r>
          </a:p>
          <a:p>
            <a:pPr>
              <a:lnSpc>
                <a:spcPts val="1683"/>
              </a:lnSpc>
            </a:pPr>
            <a:r>
              <a:rPr lang="en-US" sz="116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QR-code membership offers, app push notifications, and station-specific promotions.</a:t>
            </a:r>
          </a:p>
          <a:p>
            <a:pPr>
              <a:lnSpc>
                <a:spcPts val="1683"/>
              </a:lnSpc>
            </a:pPr>
            <a:endParaRPr lang="en-US" sz="1160" dirty="0"/>
          </a:p>
          <a:p>
            <a:pPr>
              <a:lnSpc>
                <a:spcPts val="1683"/>
              </a:lnSpc>
            </a:pPr>
            <a:endParaRPr lang="en-US" sz="1160" dirty="0"/>
          </a:p>
        </p:txBody>
      </p:sp>
      <p:sp>
        <p:nvSpPr>
          <p:cNvPr id="25" name="Text 22"/>
          <p:cNvSpPr/>
          <p:nvPr/>
        </p:nvSpPr>
        <p:spPr>
          <a:xfrm>
            <a:off x="10921207" y="3526190"/>
            <a:ext cx="343693" cy="343693"/>
          </a:xfrm>
          <a:prstGeom prst="roundRect">
            <a:avLst>
              <a:gd name="adj" fmla="val 22171"/>
            </a:avLst>
          </a:prstGeom>
          <a:solidFill>
            <a:srgbClr val="00C6A7">
              <a:alpha val="12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04561" y="3606921"/>
            <a:ext cx="176784" cy="176784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43347" y="4673171"/>
            <a:ext cx="10762853" cy="1200000"/>
          </a:xfrm>
          <a:prstGeom prst="roundRect">
            <a:avLst>
              <a:gd name="adj" fmla="val 10988"/>
            </a:avLst>
          </a:prstGeom>
          <a:solidFill>
            <a:srgbClr val="1A2E42">
              <a:alpha val="86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8" name="Text 24"/>
          <p:cNvSpPr/>
          <p:nvPr/>
        </p:nvSpPr>
        <p:spPr>
          <a:xfrm>
            <a:off x="743347" y="4673172"/>
            <a:ext cx="38100" cy="1200000"/>
          </a:xfrm>
          <a:custGeom>
            <a:avLst/>
            <a:gdLst/>
            <a:ahLst/>
            <a:cxnLst/>
            <a:rect l="l" t="t" r="r" b="b"/>
            <a:pathLst>
              <a:path w="28575" h="647254">
                <a:moveTo>
                  <a:pt x="0" y="71120"/>
                </a:moveTo>
                <a:lnTo>
                  <a:pt x="3572" y="48865"/>
                </a:lnTo>
                <a:lnTo>
                  <a:pt x="7144" y="40054"/>
                </a:lnTo>
                <a:lnTo>
                  <a:pt x="10716" y="33579"/>
                </a:lnTo>
                <a:lnTo>
                  <a:pt x="14288" y="28363"/>
                </a:lnTo>
                <a:lnTo>
                  <a:pt x="17859" y="23989"/>
                </a:lnTo>
                <a:lnTo>
                  <a:pt x="21431" y="20237"/>
                </a:lnTo>
                <a:lnTo>
                  <a:pt x="25003" y="16979"/>
                </a:lnTo>
                <a:lnTo>
                  <a:pt x="28575" y="14129"/>
                </a:lnTo>
                <a:lnTo>
                  <a:pt x="28575" y="633125"/>
                </a:lnTo>
                <a:lnTo>
                  <a:pt x="25003" y="630275"/>
                </a:lnTo>
                <a:lnTo>
                  <a:pt x="21431" y="627017"/>
                </a:lnTo>
                <a:lnTo>
                  <a:pt x="17859" y="623265"/>
                </a:lnTo>
                <a:lnTo>
                  <a:pt x="14288" y="618890"/>
                </a:lnTo>
                <a:lnTo>
                  <a:pt x="10716" y="613675"/>
                </a:lnTo>
                <a:lnTo>
                  <a:pt x="7144" y="607199"/>
                </a:lnTo>
                <a:lnTo>
                  <a:pt x="3572" y="598389"/>
                </a:lnTo>
                <a:lnTo>
                  <a:pt x="0" y="576133"/>
                </a:lnTo>
                <a:close/>
              </a:path>
            </a:pathLst>
          </a:custGeom>
          <a:solidFill>
            <a:srgbClr val="00B0F0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9" name="Text 25"/>
          <p:cNvSpPr/>
          <p:nvPr/>
        </p:nvSpPr>
        <p:spPr>
          <a:xfrm>
            <a:off x="972440" y="5042231"/>
            <a:ext cx="419893" cy="461883"/>
          </a:xfrm>
          <a:prstGeom prst="ellipse">
            <a:avLst/>
          </a:prstGeom>
          <a:gradFill rotWithShape="1">
            <a:gsLst>
              <a:gs pos="0">
                <a:srgbClr val="00B0F0"/>
              </a:gs>
              <a:gs pos="100000">
                <a:srgbClr val="0070C0"/>
              </a:gs>
            </a:gsLst>
            <a:lin ang="2700000" scaled="1"/>
          </a:gradFill>
          <a:ln/>
          <a:effectLst>
            <a:outerShdw blurRad="114300" dist="50800" dir="16200000" algn="bl" rotWithShape="0">
              <a:srgbClr val="0087E2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/>
            <a:r>
              <a:rPr lang="en-US" sz="150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7" dirty="0"/>
          </a:p>
        </p:txBody>
      </p:sp>
      <p:sp>
        <p:nvSpPr>
          <p:cNvPr id="30" name="Text 26"/>
          <p:cNvSpPr/>
          <p:nvPr/>
        </p:nvSpPr>
        <p:spPr>
          <a:xfrm>
            <a:off x="1583929" y="4856728"/>
            <a:ext cx="10060583" cy="243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920"/>
              </a:lnSpc>
            </a:pPr>
            <a:r>
              <a:rPr lang="en-US" sz="1467" b="1" dirty="0">
                <a:solidFill>
                  <a:srgbClr val="00B0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Create Membership Benefits That Match Casual Riders’ Evolving Trip Patterns</a:t>
            </a:r>
            <a:endParaRPr lang="en-US" sz="1467" dirty="0">
              <a:solidFill>
                <a:srgbClr val="00B0F0"/>
              </a:solidFill>
            </a:endParaRPr>
          </a:p>
        </p:txBody>
      </p:sp>
      <p:sp>
        <p:nvSpPr>
          <p:cNvPr id="31" name="Text 27"/>
          <p:cNvSpPr/>
          <p:nvPr/>
        </p:nvSpPr>
        <p:spPr>
          <a:xfrm>
            <a:off x="1583930" y="5176245"/>
            <a:ext cx="9160869" cy="567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683"/>
              </a:lnSpc>
            </a:pPr>
            <a:r>
              <a:rPr lang="en-US" sz="116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perks aligned with new behavior: free short rides, capped long-duration fees, or bundled ride credits.</a:t>
            </a:r>
          </a:p>
          <a:p>
            <a:pPr>
              <a:lnSpc>
                <a:spcPts val="1683"/>
              </a:lnSpc>
            </a:pPr>
            <a:r>
              <a:rPr lang="en-US" sz="116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membership options that accommodate riders who take occasional over-one-day trips.</a:t>
            </a:r>
            <a:endParaRPr lang="en-US" sz="1160" dirty="0"/>
          </a:p>
        </p:txBody>
      </p:sp>
      <p:sp>
        <p:nvSpPr>
          <p:cNvPr id="32" name="Text 28"/>
          <p:cNvSpPr/>
          <p:nvPr/>
        </p:nvSpPr>
        <p:spPr>
          <a:xfrm>
            <a:off x="10921207" y="5098702"/>
            <a:ext cx="343693" cy="343693"/>
          </a:xfrm>
          <a:prstGeom prst="roundRect">
            <a:avLst>
              <a:gd name="adj" fmla="val 22171"/>
            </a:avLst>
          </a:prstGeom>
          <a:solidFill>
            <a:srgbClr val="00C6A7">
              <a:alpha val="12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04561" y="5182056"/>
            <a:ext cx="176784" cy="176784"/>
          </a:xfrm>
          <a:prstGeom prst="rect">
            <a:avLst/>
          </a:prstGeom>
        </p:spPr>
      </p:pic>
      <p:sp>
        <p:nvSpPr>
          <p:cNvPr id="82" name="Text 29">
            <a:extLst>
              <a:ext uri="{FF2B5EF4-FFF2-40B4-BE49-F238E27FC236}">
                <a16:creationId xmlns:a16="http://schemas.microsoft.com/office/drawing/2014/main" id="{F414B28D-3103-764E-29E7-96FE3EF06379}"/>
              </a:ext>
            </a:extLst>
          </p:cNvPr>
          <p:cNvSpPr/>
          <p:nvPr/>
        </p:nvSpPr>
        <p:spPr>
          <a:xfrm>
            <a:off x="0" y="6343819"/>
            <a:ext cx="12192000" cy="514747"/>
          </a:xfrm>
          <a:prstGeom prst="rect">
            <a:avLst/>
          </a:prstGeom>
          <a:gradFill rotWithShape="1">
            <a:gsLst>
              <a:gs pos="0">
                <a:srgbClr val="16204A">
                  <a:alpha val="60000"/>
                </a:srgbClr>
              </a:gs>
              <a:gs pos="100000">
                <a:srgbClr val="0D1B2A">
                  <a:alpha val="6000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84" name="Text 30">
            <a:extLst>
              <a:ext uri="{FF2B5EF4-FFF2-40B4-BE49-F238E27FC236}">
                <a16:creationId xmlns:a16="http://schemas.microsoft.com/office/drawing/2014/main" id="{3E2A9AA7-410C-23BA-E3C8-7BAA75A5E0FE}"/>
              </a:ext>
            </a:extLst>
          </p:cNvPr>
          <p:cNvSpPr/>
          <p:nvPr/>
        </p:nvSpPr>
        <p:spPr>
          <a:xfrm>
            <a:off x="0" y="6343820"/>
            <a:ext cx="12192000" cy="12700"/>
          </a:xfrm>
          <a:prstGeom prst="rect">
            <a:avLst/>
          </a:prstGeom>
          <a:solidFill>
            <a:srgbClr val="00C6A7">
              <a:alpha val="2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86" name="Text 32">
            <a:extLst>
              <a:ext uri="{FF2B5EF4-FFF2-40B4-BE49-F238E27FC236}">
                <a16:creationId xmlns:a16="http://schemas.microsoft.com/office/drawing/2014/main" id="{87E9440C-503C-5F3D-2012-E48DBB87C4A0}"/>
              </a:ext>
            </a:extLst>
          </p:cNvPr>
          <p:cNvSpPr/>
          <p:nvPr/>
        </p:nvSpPr>
        <p:spPr>
          <a:xfrm>
            <a:off x="5693172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8" name="Text 33">
            <a:extLst>
              <a:ext uri="{FF2B5EF4-FFF2-40B4-BE49-F238E27FC236}">
                <a16:creationId xmlns:a16="http://schemas.microsoft.com/office/drawing/2014/main" id="{8CAAFCE5-C163-6030-BF9F-F0207AE61B24}"/>
              </a:ext>
            </a:extLst>
          </p:cNvPr>
          <p:cNvSpPr/>
          <p:nvPr/>
        </p:nvSpPr>
        <p:spPr>
          <a:xfrm>
            <a:off x="5808265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0" name="Text 34">
            <a:extLst>
              <a:ext uri="{FF2B5EF4-FFF2-40B4-BE49-F238E27FC236}">
                <a16:creationId xmlns:a16="http://schemas.microsoft.com/office/drawing/2014/main" id="{60717036-5771-60AE-F71D-1F37557192D5}"/>
              </a:ext>
            </a:extLst>
          </p:cNvPr>
          <p:cNvSpPr/>
          <p:nvPr/>
        </p:nvSpPr>
        <p:spPr>
          <a:xfrm>
            <a:off x="5923360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2" name="Text 35">
            <a:extLst>
              <a:ext uri="{FF2B5EF4-FFF2-40B4-BE49-F238E27FC236}">
                <a16:creationId xmlns:a16="http://schemas.microsoft.com/office/drawing/2014/main" id="{864974EA-465E-6BFC-4221-E8F64EF572E8}"/>
              </a:ext>
            </a:extLst>
          </p:cNvPr>
          <p:cNvSpPr/>
          <p:nvPr/>
        </p:nvSpPr>
        <p:spPr>
          <a:xfrm>
            <a:off x="6038453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4" name="Text 36">
            <a:extLst>
              <a:ext uri="{FF2B5EF4-FFF2-40B4-BE49-F238E27FC236}">
                <a16:creationId xmlns:a16="http://schemas.microsoft.com/office/drawing/2014/main" id="{0657CF1D-0259-6A9A-BB08-3DBF26472C4B}"/>
              </a:ext>
            </a:extLst>
          </p:cNvPr>
          <p:cNvSpPr/>
          <p:nvPr/>
        </p:nvSpPr>
        <p:spPr>
          <a:xfrm>
            <a:off x="6153547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6" name="Text 37">
            <a:extLst>
              <a:ext uri="{FF2B5EF4-FFF2-40B4-BE49-F238E27FC236}">
                <a16:creationId xmlns:a16="http://schemas.microsoft.com/office/drawing/2014/main" id="{28946A3E-EAFA-9A3B-EE64-ECEF69259D32}"/>
              </a:ext>
            </a:extLst>
          </p:cNvPr>
          <p:cNvSpPr/>
          <p:nvPr/>
        </p:nvSpPr>
        <p:spPr>
          <a:xfrm>
            <a:off x="6268640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8" name="Text 38">
            <a:extLst>
              <a:ext uri="{FF2B5EF4-FFF2-40B4-BE49-F238E27FC236}">
                <a16:creationId xmlns:a16="http://schemas.microsoft.com/office/drawing/2014/main" id="{0C2C3E56-0EA1-4180-638F-D21629C77550}"/>
              </a:ext>
            </a:extLst>
          </p:cNvPr>
          <p:cNvSpPr/>
          <p:nvPr/>
        </p:nvSpPr>
        <p:spPr>
          <a:xfrm>
            <a:off x="6383735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0" name="Text 39">
            <a:extLst>
              <a:ext uri="{FF2B5EF4-FFF2-40B4-BE49-F238E27FC236}">
                <a16:creationId xmlns:a16="http://schemas.microsoft.com/office/drawing/2014/main" id="{ECA7942F-CA73-6ED0-3832-2F76EC274BF6}"/>
              </a:ext>
            </a:extLst>
          </p:cNvPr>
          <p:cNvSpPr/>
          <p:nvPr/>
        </p:nvSpPr>
        <p:spPr>
          <a:xfrm>
            <a:off x="6498828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2" name="Text 40">
            <a:extLst>
              <a:ext uri="{FF2B5EF4-FFF2-40B4-BE49-F238E27FC236}">
                <a16:creationId xmlns:a16="http://schemas.microsoft.com/office/drawing/2014/main" id="{1D943C3F-3349-4E4C-5313-DCBFB91BA80B}"/>
              </a:ext>
            </a:extLst>
          </p:cNvPr>
          <p:cNvSpPr/>
          <p:nvPr/>
        </p:nvSpPr>
        <p:spPr>
          <a:xfrm>
            <a:off x="6613921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4" name="Text 41">
            <a:extLst>
              <a:ext uri="{FF2B5EF4-FFF2-40B4-BE49-F238E27FC236}">
                <a16:creationId xmlns:a16="http://schemas.microsoft.com/office/drawing/2014/main" id="{CFE7E0E9-21B2-7B69-8C87-EE27FD1DB040}"/>
              </a:ext>
            </a:extLst>
          </p:cNvPr>
          <p:cNvSpPr/>
          <p:nvPr/>
        </p:nvSpPr>
        <p:spPr>
          <a:xfrm>
            <a:off x="6729016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6" name="Text 42">
            <a:extLst>
              <a:ext uri="{FF2B5EF4-FFF2-40B4-BE49-F238E27FC236}">
                <a16:creationId xmlns:a16="http://schemas.microsoft.com/office/drawing/2014/main" id="{E495AA9C-7035-C28D-4C03-4DA3327C533D}"/>
              </a:ext>
            </a:extLst>
          </p:cNvPr>
          <p:cNvSpPr/>
          <p:nvPr/>
        </p:nvSpPr>
        <p:spPr>
          <a:xfrm>
            <a:off x="6844109" y="6578769"/>
            <a:ext cx="57547" cy="57547"/>
          </a:xfrm>
          <a:prstGeom prst="ellipse">
            <a:avLst/>
          </a:prstGeom>
          <a:solidFill>
            <a:schemeClr val="bg2">
              <a:lumMod val="75000"/>
              <a:alpha val="70000"/>
            </a:schemeClr>
          </a:solidFill>
          <a:ln/>
        </p:spPr>
        <p:txBody>
          <a:bodyPr wrap="none" rtlCol="0" anchor="t"/>
          <a:lstStyle/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8" name="Text 43">
            <a:extLst>
              <a:ext uri="{FF2B5EF4-FFF2-40B4-BE49-F238E27FC236}">
                <a16:creationId xmlns:a16="http://schemas.microsoft.com/office/drawing/2014/main" id="{746A1B37-80D4-2D42-E945-1E3462B9A7E9}"/>
              </a:ext>
            </a:extLst>
          </p:cNvPr>
          <p:cNvSpPr/>
          <p:nvPr/>
        </p:nvSpPr>
        <p:spPr>
          <a:xfrm>
            <a:off x="9235167" y="6504980"/>
            <a:ext cx="2451952" cy="13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ts val="1460"/>
              </a:lnSpc>
            </a:pPr>
            <a:r>
              <a:rPr lang="en-US" sz="973" kern="0" spc="49" dirty="0">
                <a:solidFill>
                  <a:schemeClr val="bg1">
                    <a:lumMod val="50000"/>
                  </a:scheme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Prepared by Younggi Kim </a:t>
            </a:r>
            <a:endParaRPr lang="en-US" sz="973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10" name="Image 3" descr="preencoded.png">
            <a:extLst>
              <a:ext uri="{FF2B5EF4-FFF2-40B4-BE49-F238E27FC236}">
                <a16:creationId xmlns:a16="http://schemas.microsoft.com/office/drawing/2014/main" id="{3CAFF08D-2E69-F347-7B8E-3239B84365AD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5088" y="6519150"/>
            <a:ext cx="176784" cy="176784"/>
          </a:xfrm>
          <a:prstGeom prst="rect">
            <a:avLst/>
          </a:prstGeom>
        </p:spPr>
      </p:pic>
      <p:sp>
        <p:nvSpPr>
          <p:cNvPr id="112" name="Text 16">
            <a:extLst>
              <a:ext uri="{FF2B5EF4-FFF2-40B4-BE49-F238E27FC236}">
                <a16:creationId xmlns:a16="http://schemas.microsoft.com/office/drawing/2014/main" id="{16021645-5DF6-63D5-96A5-B5D525D6494F}"/>
              </a:ext>
            </a:extLst>
          </p:cNvPr>
          <p:cNvSpPr/>
          <p:nvPr/>
        </p:nvSpPr>
        <p:spPr>
          <a:xfrm>
            <a:off x="892831" y="6519150"/>
            <a:ext cx="4319349" cy="172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360"/>
              </a:lnSpc>
            </a:pPr>
            <a:r>
              <a:rPr lang="en-US" sz="907" dirty="0">
                <a:solidFill>
                  <a:srgbClr val="6E8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CYCLISTIC BIKE-SHARE · GOOGLE DATA ANALYTICS CAPSTONE</a:t>
            </a:r>
            <a:endParaRPr lang="en-US" sz="907" dirty="0">
              <a:solidFill>
                <a:srgbClr val="6E809F"/>
              </a:solidFill>
            </a:endParaRPr>
          </a:p>
        </p:txBody>
      </p:sp>
      <p:sp>
        <p:nvSpPr>
          <p:cNvPr id="53" name="Text 0">
            <a:extLst>
              <a:ext uri="{FF2B5EF4-FFF2-40B4-BE49-F238E27FC236}">
                <a16:creationId xmlns:a16="http://schemas.microsoft.com/office/drawing/2014/main" id="{8E452233-E414-DBAB-5406-4FEB0F338F4B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E4002B">
              <a:alpha val="87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633</TotalTime>
  <Words>2194</Words>
  <Application>Microsoft Office PowerPoint</Application>
  <PresentationFormat>Widescreen</PresentationFormat>
  <Paragraphs>328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Younggi Kim</dc:creator>
  <cp:lastModifiedBy>Younggi Kim</cp:lastModifiedBy>
  <cp:revision>8</cp:revision>
  <dcterms:created xsi:type="dcterms:W3CDTF">2026-09-08T05:19:32Z</dcterms:created>
  <dcterms:modified xsi:type="dcterms:W3CDTF">2026-09-10T03:57:26Z</dcterms:modified>
</cp:coreProperties>
</file>